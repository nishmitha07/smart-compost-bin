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72" r:id="rId1"/>
  </p:sldMasterIdLst>
  <p:notesMasterIdLst>
    <p:notesMasterId r:id="rId30"/>
  </p:notesMasterIdLst>
  <p:sldIdLst>
    <p:sldId id="386" r:id="rId2"/>
    <p:sldId id="345" r:id="rId3"/>
    <p:sldId id="394" r:id="rId4"/>
    <p:sldId id="376" r:id="rId5"/>
    <p:sldId id="395" r:id="rId6"/>
    <p:sldId id="404" r:id="rId7"/>
    <p:sldId id="406" r:id="rId8"/>
    <p:sldId id="400" r:id="rId9"/>
    <p:sldId id="405" r:id="rId10"/>
    <p:sldId id="407" r:id="rId11"/>
    <p:sldId id="408" r:id="rId12"/>
    <p:sldId id="403" r:id="rId13"/>
    <p:sldId id="401" r:id="rId14"/>
    <p:sldId id="402" r:id="rId15"/>
    <p:sldId id="387" r:id="rId16"/>
    <p:sldId id="391" r:id="rId17"/>
    <p:sldId id="388" r:id="rId18"/>
    <p:sldId id="409" r:id="rId19"/>
    <p:sldId id="390" r:id="rId20"/>
    <p:sldId id="410" r:id="rId21"/>
    <p:sldId id="389" r:id="rId22"/>
    <p:sldId id="392" r:id="rId23"/>
    <p:sldId id="393" r:id="rId24"/>
    <p:sldId id="399" r:id="rId25"/>
    <p:sldId id="396" r:id="rId26"/>
    <p:sldId id="397" r:id="rId27"/>
    <p:sldId id="398" r:id="rId28"/>
    <p:sldId id="350" r:id="rId29"/>
  </p:sldIdLst>
  <p:sldSz cx="13560425" cy="6858000"/>
  <p:notesSz cx="6858000" cy="9144000"/>
  <p:embeddedFontLst>
    <p:embeddedFont>
      <p:font typeface="Open Sans" panose="020B0606030504020204" pitchFamily="34" charset="0"/>
      <p:regular r:id="rId31"/>
      <p:bold r:id="rId32"/>
      <p:italic r:id="rId33"/>
      <p:boldItalic r:id="rId34"/>
    </p:embeddedFont>
    <p:embeddedFont>
      <p:font typeface="Roboto" panose="02000000000000000000" pitchFamily="2" charset="0"/>
      <p:regular r:id="rId35"/>
      <p:bold r:id="rId36"/>
      <p:italic r:id="rId37"/>
      <p:boldItalic r:id="rId3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3120">
          <p15:clr>
            <a:srgbClr val="000000"/>
          </p15:clr>
        </p15:guide>
        <p15:guide id="3" pos="4271">
          <p15:clr>
            <a:srgbClr val="A4A3A4"/>
          </p15:clr>
        </p15:guide>
      </p15:sldGuideLst>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76" roundtripDataSignature="AMtx7miveuHBFKmXJcO+wwhDDjYaXn7Nk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94AC2"/>
    <a:srgbClr val="FFFF66"/>
    <a:srgbClr val="CC3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E6086C3E-E73E-4E3C-A617-1C878CAA0F28}">
  <a:tblStyle styleId="{E6086C3E-E73E-4E3C-A617-1C878CAA0F28}" styleName="Table_0">
    <a:wholeTbl>
      <a:tcTxStyle b="off" i="off">
        <a:font>
          <a:latin typeface="Arial"/>
          <a:ea typeface="Arial"/>
          <a:cs typeface="Arial"/>
        </a:font>
        <a:srgbClr val="000000"/>
      </a:tcTxStyle>
      <a:tcStyle>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 styleId="{0168EE16-DD1A-4498-B528-CCE0B4F218F9}" styleName="Table_1">
    <a:wholeTbl>
      <a:tcTxStyle b="off" i="off">
        <a:font>
          <a:latin typeface="Arial"/>
          <a:ea typeface="Arial"/>
          <a:cs typeface="Arial"/>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8ECF4"/>
          </a:solidFill>
        </a:fill>
      </a:tcStyle>
    </a:wholeTbl>
    <a:band1H>
      <a:tcTxStyle/>
      <a:tcStyle>
        <a:tcBdr/>
        <a:fill>
          <a:solidFill>
            <a:srgbClr val="CFD7E7"/>
          </a:solidFill>
        </a:fill>
      </a:tcStyle>
    </a:band1H>
    <a:band2H>
      <a:tcTxStyle/>
      <a:tcStyle>
        <a:tcBdr/>
      </a:tcStyle>
    </a:band2H>
    <a:band1V>
      <a:tcTxStyle/>
      <a:tcStyle>
        <a:tcBdr/>
        <a:fill>
          <a:solidFill>
            <a:srgbClr val="CFD7E7"/>
          </a:solidFill>
        </a:fill>
      </a:tcStyle>
    </a:band1V>
    <a:band2V>
      <a:tcTxStyle/>
      <a:tcStyle>
        <a:tcBdr/>
      </a:tcStyle>
    </a:band2V>
    <a:lastCol>
      <a:tcTxStyle b="on" i="off">
        <a:font>
          <a:latin typeface="Arial"/>
          <a:ea typeface="Arial"/>
          <a:cs typeface="Arial"/>
        </a:font>
        <a:schemeClr val="lt1"/>
      </a:tcTxStyle>
      <a:tcStyle>
        <a:tcBdr/>
        <a:fill>
          <a:solidFill>
            <a:schemeClr val="accent1"/>
          </a:solidFill>
        </a:fill>
      </a:tcStyle>
    </a:lastCol>
    <a:firstCol>
      <a:tcTxStyle b="on" i="off">
        <a:font>
          <a:latin typeface="Arial"/>
          <a:ea typeface="Arial"/>
          <a:cs typeface="Arial"/>
        </a:font>
        <a:schemeClr val="lt1"/>
      </a:tcTxStyle>
      <a:tcStyle>
        <a:tcBdr/>
        <a:fill>
          <a:solidFill>
            <a:schemeClr val="accent1"/>
          </a:solidFill>
        </a:fill>
      </a:tcStyle>
    </a:firstCol>
    <a:lastRow>
      <a:tcTxStyle b="on" i="off">
        <a:font>
          <a:latin typeface="Arial"/>
          <a:ea typeface="Arial"/>
          <a:cs typeface="Arial"/>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Arial"/>
          <a:ea typeface="Arial"/>
          <a:cs typeface="Arial"/>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 styleId="{904BD5BA-A88C-44C8-A8D7-378E0152A1AF}" styleName="Table_2">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7426" autoAdjust="0"/>
    <p:restoredTop sz="94840" autoAdjust="0"/>
  </p:normalViewPr>
  <p:slideViewPr>
    <p:cSldViewPr snapToGrid="0">
      <p:cViewPr varScale="1">
        <p:scale>
          <a:sx n="78" d="100"/>
          <a:sy n="78" d="100"/>
        </p:scale>
        <p:origin x="893" y="67"/>
      </p:cViewPr>
      <p:guideLst>
        <p:guide orient="horz" pos="2160"/>
        <p:guide pos="3120"/>
        <p:guide pos="4271"/>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font" Target="fonts/font4.fntdata"/><Relationship Id="rId76" Type="http://customschemas.google.com/relationships/presentationmetadata" Target="meta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2.fntdata"/><Relationship Id="rId37" Type="http://schemas.openxmlformats.org/officeDocument/2006/relationships/font" Target="fonts/font7.fntdata"/><Relationship Id="rId79"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6.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1.fntdata"/><Relationship Id="rId78"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35" Type="http://schemas.openxmlformats.org/officeDocument/2006/relationships/font" Target="fonts/font5.fntdata"/><Relationship Id="rId77" Type="http://schemas.openxmlformats.org/officeDocument/2006/relationships/presProps" Target="presProps.xml"/><Relationship Id="rId8" Type="http://schemas.openxmlformats.org/officeDocument/2006/relationships/slide" Target="slides/slide7.xml"/><Relationship Id="rId80"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3.fntdata"/><Relationship Id="rId38" Type="http://schemas.openxmlformats.org/officeDocument/2006/relationships/font" Target="fonts/font8.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7200"/>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39688" y="685800"/>
            <a:ext cx="6778625"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244561766"/>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9" name="Google Shape;89;p1:notes"/>
          <p:cNvSpPr>
            <a:spLocks noGrp="1" noRot="1" noChangeAspect="1"/>
          </p:cNvSpPr>
          <p:nvPr>
            <p:ph type="sldImg" idx="2"/>
          </p:nvPr>
        </p:nvSpPr>
        <p:spPr>
          <a:xfrm>
            <a:off x="39688" y="685800"/>
            <a:ext cx="6778625"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idx="10"/>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chemeClr val="dk1"/>
                </a:solidFill>
                <a:latin typeface="Calibri"/>
                <a:ea typeface="Calibri"/>
                <a:cs typeface="Calibri"/>
                <a:sym typeface="Calibri"/>
              </a:rPr>
              <a:t>5</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73065540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idx="10"/>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chemeClr val="dk1"/>
                </a:solidFill>
                <a:latin typeface="Calibri"/>
                <a:ea typeface="Calibri"/>
                <a:cs typeface="Calibri"/>
                <a:sym typeface="Calibri"/>
              </a:rPr>
              <a:t>6</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09546250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Slide">
    <p:spTree>
      <p:nvGrpSpPr>
        <p:cNvPr id="1" name="Shape 17"/>
        <p:cNvGrpSpPr/>
        <p:nvPr/>
      </p:nvGrpSpPr>
      <p:grpSpPr>
        <a:xfrm>
          <a:off x="0" y="0"/>
          <a:ext cx="0" cy="0"/>
          <a:chOff x="0" y="0"/>
          <a:chExt cx="0" cy="0"/>
        </a:xfrm>
      </p:grpSpPr>
      <p:sp>
        <p:nvSpPr>
          <p:cNvPr id="18" name="Google Shape;18;p14"/>
          <p:cNvSpPr txBox="1">
            <a:spLocks noGrp="1"/>
          </p:cNvSpPr>
          <p:nvPr>
            <p:ph type="ctrTitle"/>
          </p:nvPr>
        </p:nvSpPr>
        <p:spPr>
          <a:xfrm>
            <a:off x="1017032" y="2130427"/>
            <a:ext cx="11526361" cy="14700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14"/>
          <p:cNvSpPr txBox="1">
            <a:spLocks noGrp="1"/>
          </p:cNvSpPr>
          <p:nvPr>
            <p:ph type="subTitle" idx="1"/>
          </p:nvPr>
        </p:nvSpPr>
        <p:spPr>
          <a:xfrm>
            <a:off x="2034064" y="3886200"/>
            <a:ext cx="9492298" cy="1752600"/>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20" name="Google Shape;20;p14"/>
          <p:cNvSpPr txBox="1">
            <a:spLocks noGrp="1"/>
          </p:cNvSpPr>
          <p:nvPr>
            <p:ph type="dt" idx="10"/>
          </p:nvPr>
        </p:nvSpPr>
        <p:spPr>
          <a:xfrm>
            <a:off x="678021" y="6356352"/>
            <a:ext cx="3164099"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b="1">
                <a:solidFill>
                  <a:srgbClr val="C00000"/>
                </a:solidFill>
                <a:latin typeface="Open Sans"/>
                <a:ea typeface="Open Sans"/>
                <a:cs typeface="Open Sans"/>
                <a:sym typeface="Open Sans"/>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fld id="{B989BBA7-92B9-4568-9575-5385D68D9863}" type="datetime1">
              <a:rPr lang="en-US" smtClean="0"/>
              <a:t>12/3/2025</a:t>
            </a:fld>
            <a:endParaRPr/>
          </a:p>
        </p:txBody>
      </p:sp>
      <p:sp>
        <p:nvSpPr>
          <p:cNvPr id="21" name="Google Shape;21;p14"/>
          <p:cNvSpPr txBox="1">
            <a:spLocks noGrp="1"/>
          </p:cNvSpPr>
          <p:nvPr>
            <p:ph type="ftr" idx="11"/>
          </p:nvPr>
        </p:nvSpPr>
        <p:spPr>
          <a:xfrm>
            <a:off x="4633145" y="6356352"/>
            <a:ext cx="4294135"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b="1">
                <a:solidFill>
                  <a:srgbClr val="C00000"/>
                </a:solidFill>
                <a:latin typeface="Open Sans"/>
                <a:ea typeface="Open Sans"/>
                <a:cs typeface="Open Sans"/>
                <a:sym typeface="Open Sans"/>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14"/>
          <p:cNvSpPr txBox="1">
            <a:spLocks noGrp="1"/>
          </p:cNvSpPr>
          <p:nvPr>
            <p:ph type="sldNum" idx="12"/>
          </p:nvPr>
        </p:nvSpPr>
        <p:spPr>
          <a:xfrm>
            <a:off x="9718305" y="6356352"/>
            <a:ext cx="3164099"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b="1" i="0" u="none" strike="noStrike" cap="none">
                <a:solidFill>
                  <a:srgbClr val="C00000"/>
                </a:solidFill>
                <a:latin typeface="Open Sans"/>
                <a:ea typeface="Open Sans"/>
                <a:cs typeface="Open Sans"/>
                <a:sym typeface="Open Sans"/>
              </a:defRPr>
            </a:lvl1pPr>
            <a:lvl2pPr marL="0" lvl="1" indent="0" algn="r">
              <a:spcBef>
                <a:spcPts val="0"/>
              </a:spcBef>
              <a:buNone/>
              <a:defRPr sz="1200" b="1" i="0" u="none" strike="noStrike" cap="none">
                <a:solidFill>
                  <a:srgbClr val="C00000"/>
                </a:solidFill>
                <a:latin typeface="Open Sans"/>
                <a:ea typeface="Open Sans"/>
                <a:cs typeface="Open Sans"/>
                <a:sym typeface="Open Sans"/>
              </a:defRPr>
            </a:lvl2pPr>
            <a:lvl3pPr marL="0" lvl="2" indent="0" algn="r">
              <a:spcBef>
                <a:spcPts val="0"/>
              </a:spcBef>
              <a:buNone/>
              <a:defRPr sz="1200" b="1" i="0" u="none" strike="noStrike" cap="none">
                <a:solidFill>
                  <a:srgbClr val="C00000"/>
                </a:solidFill>
                <a:latin typeface="Open Sans"/>
                <a:ea typeface="Open Sans"/>
                <a:cs typeface="Open Sans"/>
                <a:sym typeface="Open Sans"/>
              </a:defRPr>
            </a:lvl3pPr>
            <a:lvl4pPr marL="0" lvl="3" indent="0" algn="r">
              <a:spcBef>
                <a:spcPts val="0"/>
              </a:spcBef>
              <a:buNone/>
              <a:defRPr sz="1200" b="1" i="0" u="none" strike="noStrike" cap="none">
                <a:solidFill>
                  <a:srgbClr val="C00000"/>
                </a:solidFill>
                <a:latin typeface="Open Sans"/>
                <a:ea typeface="Open Sans"/>
                <a:cs typeface="Open Sans"/>
                <a:sym typeface="Open Sans"/>
              </a:defRPr>
            </a:lvl4pPr>
            <a:lvl5pPr marL="0" lvl="4" indent="0" algn="r">
              <a:spcBef>
                <a:spcPts val="0"/>
              </a:spcBef>
              <a:buNone/>
              <a:defRPr sz="1200" b="1" i="0" u="none" strike="noStrike" cap="none">
                <a:solidFill>
                  <a:srgbClr val="C00000"/>
                </a:solidFill>
                <a:latin typeface="Open Sans"/>
                <a:ea typeface="Open Sans"/>
                <a:cs typeface="Open Sans"/>
                <a:sym typeface="Open Sans"/>
              </a:defRPr>
            </a:lvl5pPr>
            <a:lvl6pPr marL="0" lvl="5" indent="0" algn="r">
              <a:spcBef>
                <a:spcPts val="0"/>
              </a:spcBef>
              <a:buNone/>
              <a:defRPr sz="1200" b="1" i="0" u="none" strike="noStrike" cap="none">
                <a:solidFill>
                  <a:srgbClr val="C00000"/>
                </a:solidFill>
                <a:latin typeface="Open Sans"/>
                <a:ea typeface="Open Sans"/>
                <a:cs typeface="Open Sans"/>
                <a:sym typeface="Open Sans"/>
              </a:defRPr>
            </a:lvl6pPr>
            <a:lvl7pPr marL="0" lvl="6" indent="0" algn="r">
              <a:spcBef>
                <a:spcPts val="0"/>
              </a:spcBef>
              <a:buNone/>
              <a:defRPr sz="1200" b="1" i="0" u="none" strike="noStrike" cap="none">
                <a:solidFill>
                  <a:srgbClr val="C00000"/>
                </a:solidFill>
                <a:latin typeface="Open Sans"/>
                <a:ea typeface="Open Sans"/>
                <a:cs typeface="Open Sans"/>
                <a:sym typeface="Open Sans"/>
              </a:defRPr>
            </a:lvl7pPr>
            <a:lvl8pPr marL="0" lvl="7" indent="0" algn="r">
              <a:spcBef>
                <a:spcPts val="0"/>
              </a:spcBef>
              <a:buNone/>
              <a:defRPr sz="1200" b="1" i="0" u="none" strike="noStrike" cap="none">
                <a:solidFill>
                  <a:srgbClr val="C00000"/>
                </a:solidFill>
                <a:latin typeface="Open Sans"/>
                <a:ea typeface="Open Sans"/>
                <a:cs typeface="Open Sans"/>
                <a:sym typeface="Open Sans"/>
              </a:defRPr>
            </a:lvl8pPr>
            <a:lvl9pPr marL="0" lvl="8" indent="0" algn="r">
              <a:spcBef>
                <a:spcPts val="0"/>
              </a:spcBef>
              <a:buNone/>
              <a:defRPr sz="1200" b="1" i="0" u="none" strike="noStrike" cap="none">
                <a:solidFill>
                  <a:srgbClr val="C00000"/>
                </a:solidFill>
                <a:latin typeface="Open Sans"/>
                <a:ea typeface="Open Sans"/>
                <a:cs typeface="Open Sans"/>
                <a:sym typeface="Open Sans"/>
              </a:defRPr>
            </a:lvl9pPr>
          </a:lstStyle>
          <a:p>
            <a:fld id="{00000000-1234-1234-1234-123412341234}" type="slidenum">
              <a:rPr lang="en-US"/>
              <a:pPr/>
              <a:t>‹#›</a:t>
            </a:fld>
            <a:endParaRPr/>
          </a:p>
        </p:txBody>
      </p:sp>
      <p:pic>
        <p:nvPicPr>
          <p:cNvPr id="23" name="Google Shape;23;p14" descr="C:\Users\Suma\Downloads\logo_for office use (1)_page-0001.jpg"/>
          <p:cNvPicPr preferRelativeResize="0"/>
          <p:nvPr/>
        </p:nvPicPr>
        <p:blipFill rotWithShape="1">
          <a:blip r:embed="rId2">
            <a:alphaModFix/>
          </a:blip>
          <a:srcRect/>
          <a:stretch/>
        </p:blipFill>
        <p:spPr>
          <a:xfrm>
            <a:off x="12120934" y="228600"/>
            <a:ext cx="1126558" cy="822960"/>
          </a:xfrm>
          <a:prstGeom prst="rect">
            <a:avLst/>
          </a:prstGeom>
          <a:noFill/>
          <a:ln>
            <a:noFill/>
          </a:ln>
        </p:spPr>
      </p:pic>
    </p:spTree>
    <p:extLst>
      <p:ext uri="{BB962C8B-B14F-4D97-AF65-F5344CB8AC3E}">
        <p14:creationId xmlns:p14="http://schemas.microsoft.com/office/powerpoint/2010/main" val="362587952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Title and Content">
    <p:spTree>
      <p:nvGrpSpPr>
        <p:cNvPr id="1" name="Shape 24"/>
        <p:cNvGrpSpPr/>
        <p:nvPr/>
      </p:nvGrpSpPr>
      <p:grpSpPr>
        <a:xfrm>
          <a:off x="0" y="0"/>
          <a:ext cx="0" cy="0"/>
          <a:chOff x="0" y="0"/>
          <a:chExt cx="0" cy="0"/>
        </a:xfrm>
      </p:grpSpPr>
      <p:sp>
        <p:nvSpPr>
          <p:cNvPr id="25" name="Google Shape;25;p15"/>
          <p:cNvSpPr txBox="1">
            <a:spLocks noGrp="1"/>
          </p:cNvSpPr>
          <p:nvPr>
            <p:ph type="title"/>
          </p:nvPr>
        </p:nvSpPr>
        <p:spPr>
          <a:xfrm>
            <a:off x="312933" y="274638"/>
            <a:ext cx="12934559" cy="411162"/>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Clr>
                <a:srgbClr val="C00000"/>
              </a:buClr>
              <a:buSzPts val="3200"/>
              <a:buFont typeface="Roboto"/>
              <a:buNone/>
              <a:defRPr sz="3200">
                <a:solidFill>
                  <a:srgbClr val="C00000"/>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6" name="Google Shape;26;p15"/>
          <p:cNvSpPr txBox="1">
            <a:spLocks noGrp="1"/>
          </p:cNvSpPr>
          <p:nvPr>
            <p:ph type="body" idx="1"/>
          </p:nvPr>
        </p:nvSpPr>
        <p:spPr>
          <a:xfrm>
            <a:off x="417244" y="1066802"/>
            <a:ext cx="12725937" cy="5029199"/>
          </a:xfrm>
          <a:prstGeom prst="rect">
            <a:avLst/>
          </a:prstGeom>
          <a:noFill/>
          <a:ln>
            <a:noFill/>
          </a:ln>
        </p:spPr>
        <p:txBody>
          <a:bodyPr spcFirstLastPara="1" wrap="square" lIns="91425" tIns="45700" rIns="91425" bIns="45700" anchor="t" anchorCtr="0">
            <a:normAutofit/>
          </a:bodyPr>
          <a:lstStyle>
            <a:lvl1pPr marL="457200" lvl="0" indent="-228600" algn="l">
              <a:spcBef>
                <a:spcPts val="560"/>
              </a:spcBef>
              <a:spcAft>
                <a:spcPts val="0"/>
              </a:spcAft>
              <a:buClr>
                <a:srgbClr val="0033CC"/>
              </a:buClr>
              <a:buSzPts val="2800"/>
              <a:buNone/>
              <a:defRPr sz="2800" b="0">
                <a:solidFill>
                  <a:srgbClr val="0033CC"/>
                </a:solidFill>
              </a:defRPr>
            </a:lvl1pPr>
            <a:lvl2pPr marL="914400" lvl="1" indent="-228600" algn="l">
              <a:spcBef>
                <a:spcPts val="560"/>
              </a:spcBef>
              <a:spcAft>
                <a:spcPts val="0"/>
              </a:spcAft>
              <a:buClr>
                <a:schemeClr val="dk1"/>
              </a:buClr>
              <a:buSzPts val="2800"/>
              <a:buNone/>
              <a:defRPr sz="2800"/>
            </a:lvl2pPr>
            <a:lvl3pPr marL="1371600" lvl="2" indent="-228600" algn="l">
              <a:spcBef>
                <a:spcPts val="560"/>
              </a:spcBef>
              <a:spcAft>
                <a:spcPts val="0"/>
              </a:spcAft>
              <a:buClr>
                <a:schemeClr val="dk1"/>
              </a:buClr>
              <a:buSzPts val="2800"/>
              <a:buNone/>
              <a:defRPr sz="2800"/>
            </a:lvl3pPr>
            <a:lvl4pPr marL="1828800" lvl="3" indent="-228600" algn="l">
              <a:spcBef>
                <a:spcPts val="560"/>
              </a:spcBef>
              <a:spcAft>
                <a:spcPts val="0"/>
              </a:spcAft>
              <a:buClr>
                <a:schemeClr val="dk1"/>
              </a:buClr>
              <a:buSzPts val="2800"/>
              <a:buNone/>
              <a:defRPr sz="2800"/>
            </a:lvl4pPr>
            <a:lvl5pPr marL="2286000" lvl="4" indent="-228600" algn="l">
              <a:spcBef>
                <a:spcPts val="560"/>
              </a:spcBef>
              <a:spcAft>
                <a:spcPts val="0"/>
              </a:spcAft>
              <a:buClr>
                <a:schemeClr val="dk1"/>
              </a:buClr>
              <a:buSzPts val="2800"/>
              <a:buNone/>
              <a:defRPr sz="2800"/>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7" name="Google Shape;27;p15"/>
          <p:cNvSpPr txBox="1">
            <a:spLocks noGrp="1"/>
          </p:cNvSpPr>
          <p:nvPr>
            <p:ph type="dt" idx="10"/>
          </p:nvPr>
        </p:nvSpPr>
        <p:spPr>
          <a:xfrm>
            <a:off x="678021" y="6356352"/>
            <a:ext cx="3164099"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fld id="{8C40D647-A976-43C8-A81F-5B89B1FE8A84}" type="datetime1">
              <a:rPr lang="en-US" smtClean="0"/>
              <a:t>12/3/2025</a:t>
            </a:fld>
            <a:endParaRPr/>
          </a:p>
        </p:txBody>
      </p:sp>
      <p:sp>
        <p:nvSpPr>
          <p:cNvPr id="28" name="Google Shape;28;p15"/>
          <p:cNvSpPr txBox="1">
            <a:spLocks noGrp="1"/>
          </p:cNvSpPr>
          <p:nvPr>
            <p:ph type="sldNum" idx="12"/>
          </p:nvPr>
        </p:nvSpPr>
        <p:spPr>
          <a:xfrm>
            <a:off x="9718305" y="6356352"/>
            <a:ext cx="3164099"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a:pPr/>
              <a:t>‹#›</a:t>
            </a:fld>
            <a:endParaRPr/>
          </a:p>
        </p:txBody>
      </p:sp>
      <p:pic>
        <p:nvPicPr>
          <p:cNvPr id="29" name="Google Shape;29;p15" descr="C:\Users\Suma\Downloads\logo_for office use (1)_page-0001.jpg"/>
          <p:cNvPicPr preferRelativeResize="0"/>
          <p:nvPr/>
        </p:nvPicPr>
        <p:blipFill rotWithShape="1">
          <a:blip r:embed="rId2">
            <a:alphaModFix/>
          </a:blip>
          <a:srcRect/>
          <a:stretch/>
        </p:blipFill>
        <p:spPr>
          <a:xfrm>
            <a:off x="12120934" y="228600"/>
            <a:ext cx="1126558" cy="822960"/>
          </a:xfrm>
          <a:prstGeom prst="rect">
            <a:avLst/>
          </a:prstGeom>
          <a:noFill/>
          <a:ln>
            <a:noFill/>
          </a:ln>
        </p:spPr>
      </p:pic>
    </p:spTree>
    <p:extLst>
      <p:ext uri="{BB962C8B-B14F-4D97-AF65-F5344CB8AC3E}">
        <p14:creationId xmlns:p14="http://schemas.microsoft.com/office/powerpoint/2010/main" val="104868278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 Content">
    <p:spTree>
      <p:nvGrpSpPr>
        <p:cNvPr id="1" name="Shape 36"/>
        <p:cNvGrpSpPr/>
        <p:nvPr/>
      </p:nvGrpSpPr>
      <p:grpSpPr>
        <a:xfrm>
          <a:off x="0" y="0"/>
          <a:ext cx="0" cy="0"/>
          <a:chOff x="0" y="0"/>
          <a:chExt cx="0" cy="0"/>
        </a:xfrm>
      </p:grpSpPr>
      <p:sp>
        <p:nvSpPr>
          <p:cNvPr id="37" name="Google Shape;37;p17"/>
          <p:cNvSpPr txBox="1">
            <a:spLocks noGrp="1"/>
          </p:cNvSpPr>
          <p:nvPr>
            <p:ph type="title"/>
          </p:nvPr>
        </p:nvSpPr>
        <p:spPr>
          <a:xfrm>
            <a:off x="678021" y="274638"/>
            <a:ext cx="12204383"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17"/>
          <p:cNvSpPr txBox="1">
            <a:spLocks noGrp="1"/>
          </p:cNvSpPr>
          <p:nvPr>
            <p:ph type="body" idx="1"/>
          </p:nvPr>
        </p:nvSpPr>
        <p:spPr>
          <a:xfrm>
            <a:off x="678021" y="1600202"/>
            <a:ext cx="5989188"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9" name="Google Shape;39;p17"/>
          <p:cNvSpPr txBox="1">
            <a:spLocks noGrp="1"/>
          </p:cNvSpPr>
          <p:nvPr>
            <p:ph type="body" idx="2"/>
          </p:nvPr>
        </p:nvSpPr>
        <p:spPr>
          <a:xfrm>
            <a:off x="6893216" y="1600202"/>
            <a:ext cx="5989188"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40" name="Google Shape;40;p17"/>
          <p:cNvSpPr txBox="1">
            <a:spLocks noGrp="1"/>
          </p:cNvSpPr>
          <p:nvPr>
            <p:ph type="dt" idx="10"/>
          </p:nvPr>
        </p:nvSpPr>
        <p:spPr>
          <a:xfrm>
            <a:off x="678021" y="6356352"/>
            <a:ext cx="3164099"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fld id="{D7D637E7-45EC-4457-9A4C-B58BE457B58B}" type="datetime1">
              <a:rPr lang="en-US" smtClean="0"/>
              <a:t>12/3/2025</a:t>
            </a:fld>
            <a:endParaRPr/>
          </a:p>
        </p:txBody>
      </p:sp>
      <p:sp>
        <p:nvSpPr>
          <p:cNvPr id="41" name="Google Shape;41;p17"/>
          <p:cNvSpPr txBox="1">
            <a:spLocks noGrp="1"/>
          </p:cNvSpPr>
          <p:nvPr>
            <p:ph type="ftr" idx="11"/>
          </p:nvPr>
        </p:nvSpPr>
        <p:spPr>
          <a:xfrm>
            <a:off x="4633145" y="6356352"/>
            <a:ext cx="4294135"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2" name="Google Shape;42;p17"/>
          <p:cNvSpPr txBox="1">
            <a:spLocks noGrp="1"/>
          </p:cNvSpPr>
          <p:nvPr>
            <p:ph type="sldNum" idx="12"/>
          </p:nvPr>
        </p:nvSpPr>
        <p:spPr>
          <a:xfrm>
            <a:off x="9718305" y="6356352"/>
            <a:ext cx="3164099"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a:pPr/>
              <a:t>‹#›</a:t>
            </a:fld>
            <a:endParaRPr/>
          </a:p>
        </p:txBody>
      </p:sp>
    </p:spTree>
    <p:extLst>
      <p:ext uri="{BB962C8B-B14F-4D97-AF65-F5344CB8AC3E}">
        <p14:creationId xmlns:p14="http://schemas.microsoft.com/office/powerpoint/2010/main" val="7909055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Comparison">
    <p:spTree>
      <p:nvGrpSpPr>
        <p:cNvPr id="1" name="Shape 43"/>
        <p:cNvGrpSpPr/>
        <p:nvPr/>
      </p:nvGrpSpPr>
      <p:grpSpPr>
        <a:xfrm>
          <a:off x="0" y="0"/>
          <a:ext cx="0" cy="0"/>
          <a:chOff x="0" y="0"/>
          <a:chExt cx="0" cy="0"/>
        </a:xfrm>
      </p:grpSpPr>
      <p:sp>
        <p:nvSpPr>
          <p:cNvPr id="44" name="Google Shape;44;p18"/>
          <p:cNvSpPr txBox="1">
            <a:spLocks noGrp="1"/>
          </p:cNvSpPr>
          <p:nvPr>
            <p:ph type="title"/>
          </p:nvPr>
        </p:nvSpPr>
        <p:spPr>
          <a:xfrm>
            <a:off x="678021" y="274638"/>
            <a:ext cx="12204383"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Roboto"/>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5" name="Google Shape;45;p18"/>
          <p:cNvSpPr txBox="1">
            <a:spLocks noGrp="1"/>
          </p:cNvSpPr>
          <p:nvPr>
            <p:ph type="body" idx="1"/>
          </p:nvPr>
        </p:nvSpPr>
        <p:spPr>
          <a:xfrm>
            <a:off x="678021" y="1535113"/>
            <a:ext cx="5991542"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6" name="Google Shape;46;p18"/>
          <p:cNvSpPr txBox="1">
            <a:spLocks noGrp="1"/>
          </p:cNvSpPr>
          <p:nvPr>
            <p:ph type="body" idx="2"/>
          </p:nvPr>
        </p:nvSpPr>
        <p:spPr>
          <a:xfrm>
            <a:off x="678021" y="2174875"/>
            <a:ext cx="5991542"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7" name="Google Shape;47;p18"/>
          <p:cNvSpPr txBox="1">
            <a:spLocks noGrp="1"/>
          </p:cNvSpPr>
          <p:nvPr>
            <p:ph type="body" idx="3"/>
          </p:nvPr>
        </p:nvSpPr>
        <p:spPr>
          <a:xfrm>
            <a:off x="6888508" y="1535113"/>
            <a:ext cx="5993897"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8" name="Google Shape;48;p18"/>
          <p:cNvSpPr txBox="1">
            <a:spLocks noGrp="1"/>
          </p:cNvSpPr>
          <p:nvPr>
            <p:ph type="body" idx="4"/>
          </p:nvPr>
        </p:nvSpPr>
        <p:spPr>
          <a:xfrm>
            <a:off x="6888508" y="2174875"/>
            <a:ext cx="5993897"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9" name="Google Shape;49;p18"/>
          <p:cNvSpPr txBox="1">
            <a:spLocks noGrp="1"/>
          </p:cNvSpPr>
          <p:nvPr>
            <p:ph type="dt" idx="10"/>
          </p:nvPr>
        </p:nvSpPr>
        <p:spPr>
          <a:xfrm>
            <a:off x="678021" y="6356352"/>
            <a:ext cx="3164099"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fld id="{B00D5DB6-3834-4FF5-B573-1251225226BC}" type="datetime1">
              <a:rPr lang="en-US" smtClean="0"/>
              <a:t>12/3/2025</a:t>
            </a:fld>
            <a:endParaRPr/>
          </a:p>
        </p:txBody>
      </p:sp>
      <p:sp>
        <p:nvSpPr>
          <p:cNvPr id="50" name="Google Shape;50;p18"/>
          <p:cNvSpPr txBox="1">
            <a:spLocks noGrp="1"/>
          </p:cNvSpPr>
          <p:nvPr>
            <p:ph type="ftr" idx="11"/>
          </p:nvPr>
        </p:nvSpPr>
        <p:spPr>
          <a:xfrm>
            <a:off x="4633145" y="6356352"/>
            <a:ext cx="4294135"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1" name="Google Shape;51;p18"/>
          <p:cNvSpPr txBox="1">
            <a:spLocks noGrp="1"/>
          </p:cNvSpPr>
          <p:nvPr>
            <p:ph type="sldNum" idx="12"/>
          </p:nvPr>
        </p:nvSpPr>
        <p:spPr>
          <a:xfrm>
            <a:off x="9718305" y="6356352"/>
            <a:ext cx="3164099"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a:pPr/>
              <a:t>‹#›</a:t>
            </a:fld>
            <a:endParaRPr/>
          </a:p>
        </p:txBody>
      </p:sp>
    </p:spTree>
    <p:extLst>
      <p:ext uri="{BB962C8B-B14F-4D97-AF65-F5344CB8AC3E}">
        <p14:creationId xmlns:p14="http://schemas.microsoft.com/office/powerpoint/2010/main" val="5649716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 Only">
    <p:spTree>
      <p:nvGrpSpPr>
        <p:cNvPr id="1" name="Shape 52"/>
        <p:cNvGrpSpPr/>
        <p:nvPr/>
      </p:nvGrpSpPr>
      <p:grpSpPr>
        <a:xfrm>
          <a:off x="0" y="0"/>
          <a:ext cx="0" cy="0"/>
          <a:chOff x="0" y="0"/>
          <a:chExt cx="0" cy="0"/>
        </a:xfrm>
      </p:grpSpPr>
      <p:sp>
        <p:nvSpPr>
          <p:cNvPr id="53" name="Google Shape;53;p19"/>
          <p:cNvSpPr txBox="1">
            <a:spLocks noGrp="1"/>
          </p:cNvSpPr>
          <p:nvPr>
            <p:ph type="title"/>
          </p:nvPr>
        </p:nvSpPr>
        <p:spPr>
          <a:xfrm>
            <a:off x="678021" y="274638"/>
            <a:ext cx="12204383"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4" name="Google Shape;54;p19"/>
          <p:cNvSpPr txBox="1">
            <a:spLocks noGrp="1"/>
          </p:cNvSpPr>
          <p:nvPr>
            <p:ph type="dt" idx="10"/>
          </p:nvPr>
        </p:nvSpPr>
        <p:spPr>
          <a:xfrm>
            <a:off x="678021" y="6356352"/>
            <a:ext cx="3164099"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fld id="{6709276D-3240-4859-90DB-6D5903F764A5}" type="datetime1">
              <a:rPr lang="en-US" smtClean="0"/>
              <a:t>12/3/2025</a:t>
            </a:fld>
            <a:endParaRPr/>
          </a:p>
        </p:txBody>
      </p:sp>
      <p:sp>
        <p:nvSpPr>
          <p:cNvPr id="55" name="Google Shape;55;p19"/>
          <p:cNvSpPr txBox="1">
            <a:spLocks noGrp="1"/>
          </p:cNvSpPr>
          <p:nvPr>
            <p:ph type="ftr" idx="11"/>
          </p:nvPr>
        </p:nvSpPr>
        <p:spPr>
          <a:xfrm>
            <a:off x="4633145" y="6356352"/>
            <a:ext cx="4294135"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 name="Google Shape;56;p19"/>
          <p:cNvSpPr txBox="1">
            <a:spLocks noGrp="1"/>
          </p:cNvSpPr>
          <p:nvPr>
            <p:ph type="sldNum" idx="12"/>
          </p:nvPr>
        </p:nvSpPr>
        <p:spPr>
          <a:xfrm>
            <a:off x="9718305" y="6356352"/>
            <a:ext cx="3164099"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a:pPr/>
              <a:t>‹#›</a:t>
            </a:fld>
            <a:endParaRPr/>
          </a:p>
        </p:txBody>
      </p:sp>
    </p:spTree>
    <p:extLst>
      <p:ext uri="{BB962C8B-B14F-4D97-AF65-F5344CB8AC3E}">
        <p14:creationId xmlns:p14="http://schemas.microsoft.com/office/powerpoint/2010/main" val="2374373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ntent with Caption" type="objTx">
  <p:cSld name="Content with Caption">
    <p:spTree>
      <p:nvGrpSpPr>
        <p:cNvPr id="1" name="Shape 61"/>
        <p:cNvGrpSpPr/>
        <p:nvPr/>
      </p:nvGrpSpPr>
      <p:grpSpPr>
        <a:xfrm>
          <a:off x="0" y="0"/>
          <a:ext cx="0" cy="0"/>
          <a:chOff x="0" y="0"/>
          <a:chExt cx="0" cy="0"/>
        </a:xfrm>
      </p:grpSpPr>
      <p:sp>
        <p:nvSpPr>
          <p:cNvPr id="62" name="Google Shape;62;p21"/>
          <p:cNvSpPr txBox="1">
            <a:spLocks noGrp="1"/>
          </p:cNvSpPr>
          <p:nvPr>
            <p:ph type="title"/>
          </p:nvPr>
        </p:nvSpPr>
        <p:spPr>
          <a:xfrm>
            <a:off x="678021" y="273050"/>
            <a:ext cx="4461287"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Roboto"/>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21"/>
          <p:cNvSpPr txBox="1">
            <a:spLocks noGrp="1"/>
          </p:cNvSpPr>
          <p:nvPr>
            <p:ph type="body" idx="1"/>
          </p:nvPr>
        </p:nvSpPr>
        <p:spPr>
          <a:xfrm>
            <a:off x="5301750" y="273052"/>
            <a:ext cx="7580654"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64" name="Google Shape;64;p21"/>
          <p:cNvSpPr txBox="1">
            <a:spLocks noGrp="1"/>
          </p:cNvSpPr>
          <p:nvPr>
            <p:ph type="body" idx="2"/>
          </p:nvPr>
        </p:nvSpPr>
        <p:spPr>
          <a:xfrm>
            <a:off x="678021" y="1435102"/>
            <a:ext cx="4461287"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5" name="Google Shape;65;p21"/>
          <p:cNvSpPr txBox="1">
            <a:spLocks noGrp="1"/>
          </p:cNvSpPr>
          <p:nvPr>
            <p:ph type="dt" idx="10"/>
          </p:nvPr>
        </p:nvSpPr>
        <p:spPr>
          <a:xfrm>
            <a:off x="678021" y="6356352"/>
            <a:ext cx="3164099"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fld id="{6B95D2E8-0052-4013-88E3-D3EAFE4B85E9}" type="datetime1">
              <a:rPr lang="en-US" smtClean="0"/>
              <a:t>12/3/2025</a:t>
            </a:fld>
            <a:endParaRPr/>
          </a:p>
        </p:txBody>
      </p:sp>
      <p:sp>
        <p:nvSpPr>
          <p:cNvPr id="66" name="Google Shape;66;p21"/>
          <p:cNvSpPr txBox="1">
            <a:spLocks noGrp="1"/>
          </p:cNvSpPr>
          <p:nvPr>
            <p:ph type="ftr" idx="11"/>
          </p:nvPr>
        </p:nvSpPr>
        <p:spPr>
          <a:xfrm>
            <a:off x="4633145" y="6356352"/>
            <a:ext cx="4294135"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21"/>
          <p:cNvSpPr txBox="1">
            <a:spLocks noGrp="1"/>
          </p:cNvSpPr>
          <p:nvPr>
            <p:ph type="sldNum" idx="12"/>
          </p:nvPr>
        </p:nvSpPr>
        <p:spPr>
          <a:xfrm>
            <a:off x="9718305" y="6356352"/>
            <a:ext cx="3164099"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a:pPr/>
              <a:t>‹#›</a:t>
            </a:fld>
            <a:endParaRPr/>
          </a:p>
        </p:txBody>
      </p:sp>
    </p:spTree>
    <p:extLst>
      <p:ext uri="{BB962C8B-B14F-4D97-AF65-F5344CB8AC3E}">
        <p14:creationId xmlns:p14="http://schemas.microsoft.com/office/powerpoint/2010/main" val="31558270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Picture with Caption" type="picTx">
  <p:cSld name="Picture with Caption">
    <p:spTree>
      <p:nvGrpSpPr>
        <p:cNvPr id="1" name="Shape 68"/>
        <p:cNvGrpSpPr/>
        <p:nvPr/>
      </p:nvGrpSpPr>
      <p:grpSpPr>
        <a:xfrm>
          <a:off x="0" y="0"/>
          <a:ext cx="0" cy="0"/>
          <a:chOff x="0" y="0"/>
          <a:chExt cx="0" cy="0"/>
        </a:xfrm>
      </p:grpSpPr>
      <p:sp>
        <p:nvSpPr>
          <p:cNvPr id="69" name="Google Shape;69;p22"/>
          <p:cNvSpPr txBox="1">
            <a:spLocks noGrp="1"/>
          </p:cNvSpPr>
          <p:nvPr>
            <p:ph type="title"/>
          </p:nvPr>
        </p:nvSpPr>
        <p:spPr>
          <a:xfrm>
            <a:off x="2657938" y="4800600"/>
            <a:ext cx="8136255"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Roboto"/>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22"/>
          <p:cNvSpPr>
            <a:spLocks noGrp="1"/>
          </p:cNvSpPr>
          <p:nvPr>
            <p:ph type="pic" idx="2"/>
          </p:nvPr>
        </p:nvSpPr>
        <p:spPr>
          <a:xfrm>
            <a:off x="2657938" y="612775"/>
            <a:ext cx="8136255" cy="4114800"/>
          </a:xfrm>
          <a:prstGeom prst="rect">
            <a:avLst/>
          </a:prstGeom>
          <a:noFill/>
          <a:ln>
            <a:noFill/>
          </a:ln>
        </p:spPr>
        <p:txBody>
          <a:bodyPr/>
          <a:lstStyle/>
          <a:p>
            <a:endParaRPr lang="en-IN"/>
          </a:p>
        </p:txBody>
      </p:sp>
      <p:sp>
        <p:nvSpPr>
          <p:cNvPr id="71" name="Google Shape;71;p22"/>
          <p:cNvSpPr txBox="1">
            <a:spLocks noGrp="1"/>
          </p:cNvSpPr>
          <p:nvPr>
            <p:ph type="body" idx="1"/>
          </p:nvPr>
        </p:nvSpPr>
        <p:spPr>
          <a:xfrm>
            <a:off x="2657938" y="5367338"/>
            <a:ext cx="8136255"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72" name="Google Shape;72;p22"/>
          <p:cNvSpPr txBox="1">
            <a:spLocks noGrp="1"/>
          </p:cNvSpPr>
          <p:nvPr>
            <p:ph type="dt" idx="10"/>
          </p:nvPr>
        </p:nvSpPr>
        <p:spPr>
          <a:xfrm>
            <a:off x="678021" y="6356352"/>
            <a:ext cx="3164099"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fld id="{3B59B677-AB88-4BD9-AA05-618E981C5D52}" type="datetime1">
              <a:rPr lang="en-US" smtClean="0"/>
              <a:t>12/3/2025</a:t>
            </a:fld>
            <a:endParaRPr/>
          </a:p>
        </p:txBody>
      </p:sp>
      <p:sp>
        <p:nvSpPr>
          <p:cNvPr id="73" name="Google Shape;73;p22"/>
          <p:cNvSpPr txBox="1">
            <a:spLocks noGrp="1"/>
          </p:cNvSpPr>
          <p:nvPr>
            <p:ph type="ftr" idx="11"/>
          </p:nvPr>
        </p:nvSpPr>
        <p:spPr>
          <a:xfrm>
            <a:off x="4633145" y="6356352"/>
            <a:ext cx="4294135"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4" name="Google Shape;74;p22"/>
          <p:cNvSpPr txBox="1">
            <a:spLocks noGrp="1"/>
          </p:cNvSpPr>
          <p:nvPr>
            <p:ph type="sldNum" idx="12"/>
          </p:nvPr>
        </p:nvSpPr>
        <p:spPr>
          <a:xfrm>
            <a:off x="9718305" y="6356352"/>
            <a:ext cx="3164099"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a:pPr/>
              <a:t>‹#›</a:t>
            </a:fld>
            <a:endParaRPr/>
          </a:p>
        </p:txBody>
      </p:sp>
    </p:spTree>
    <p:extLst>
      <p:ext uri="{BB962C8B-B14F-4D97-AF65-F5344CB8AC3E}">
        <p14:creationId xmlns:p14="http://schemas.microsoft.com/office/powerpoint/2010/main" val="68344071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and Vertical Text" type="vertTx">
  <p:cSld name="Title and Vertical Text">
    <p:spTree>
      <p:nvGrpSpPr>
        <p:cNvPr id="1" name="Shape 75"/>
        <p:cNvGrpSpPr/>
        <p:nvPr/>
      </p:nvGrpSpPr>
      <p:grpSpPr>
        <a:xfrm>
          <a:off x="0" y="0"/>
          <a:ext cx="0" cy="0"/>
          <a:chOff x="0" y="0"/>
          <a:chExt cx="0" cy="0"/>
        </a:xfrm>
      </p:grpSpPr>
      <p:sp>
        <p:nvSpPr>
          <p:cNvPr id="76" name="Google Shape;76;p23"/>
          <p:cNvSpPr txBox="1">
            <a:spLocks noGrp="1"/>
          </p:cNvSpPr>
          <p:nvPr>
            <p:ph type="title"/>
          </p:nvPr>
        </p:nvSpPr>
        <p:spPr>
          <a:xfrm>
            <a:off x="678021" y="274638"/>
            <a:ext cx="12204383"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7" name="Google Shape;77;p23"/>
          <p:cNvSpPr txBox="1">
            <a:spLocks noGrp="1"/>
          </p:cNvSpPr>
          <p:nvPr>
            <p:ph type="body" idx="1"/>
          </p:nvPr>
        </p:nvSpPr>
        <p:spPr>
          <a:xfrm rot="5400000">
            <a:off x="4517232" y="-2239010"/>
            <a:ext cx="4525963" cy="1220438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8" name="Google Shape;78;p23"/>
          <p:cNvSpPr txBox="1">
            <a:spLocks noGrp="1"/>
          </p:cNvSpPr>
          <p:nvPr>
            <p:ph type="dt" idx="10"/>
          </p:nvPr>
        </p:nvSpPr>
        <p:spPr>
          <a:xfrm>
            <a:off x="678021" y="6356352"/>
            <a:ext cx="3164099"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fld id="{039500D0-F69D-4019-9C89-E982E2B16BDE}" type="datetime1">
              <a:rPr lang="en-US" smtClean="0"/>
              <a:t>12/3/2025</a:t>
            </a:fld>
            <a:endParaRPr/>
          </a:p>
        </p:txBody>
      </p:sp>
      <p:sp>
        <p:nvSpPr>
          <p:cNvPr id="79" name="Google Shape;79;p23"/>
          <p:cNvSpPr txBox="1">
            <a:spLocks noGrp="1"/>
          </p:cNvSpPr>
          <p:nvPr>
            <p:ph type="ftr" idx="11"/>
          </p:nvPr>
        </p:nvSpPr>
        <p:spPr>
          <a:xfrm>
            <a:off x="4633145" y="6356352"/>
            <a:ext cx="4294135"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0" name="Google Shape;80;p23"/>
          <p:cNvSpPr txBox="1">
            <a:spLocks noGrp="1"/>
          </p:cNvSpPr>
          <p:nvPr>
            <p:ph type="sldNum" idx="12"/>
          </p:nvPr>
        </p:nvSpPr>
        <p:spPr>
          <a:xfrm>
            <a:off x="9718305" y="6356352"/>
            <a:ext cx="3164099"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a:pPr/>
              <a:t>‹#›</a:t>
            </a:fld>
            <a:endParaRPr/>
          </a:p>
        </p:txBody>
      </p:sp>
    </p:spTree>
    <p:extLst>
      <p:ext uri="{BB962C8B-B14F-4D97-AF65-F5344CB8AC3E}">
        <p14:creationId xmlns:p14="http://schemas.microsoft.com/office/powerpoint/2010/main" val="360750464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 Title and Text">
    <p:spTree>
      <p:nvGrpSpPr>
        <p:cNvPr id="1" name="Shape 81"/>
        <p:cNvGrpSpPr/>
        <p:nvPr/>
      </p:nvGrpSpPr>
      <p:grpSpPr>
        <a:xfrm>
          <a:off x="0" y="0"/>
          <a:ext cx="0" cy="0"/>
          <a:chOff x="0" y="0"/>
          <a:chExt cx="0" cy="0"/>
        </a:xfrm>
      </p:grpSpPr>
      <p:sp>
        <p:nvSpPr>
          <p:cNvPr id="82" name="Google Shape;82;p24"/>
          <p:cNvSpPr txBox="1">
            <a:spLocks noGrp="1"/>
          </p:cNvSpPr>
          <p:nvPr>
            <p:ph type="title"/>
          </p:nvPr>
        </p:nvSpPr>
        <p:spPr>
          <a:xfrm rot="5400000">
            <a:off x="8431095" y="1674854"/>
            <a:ext cx="5851525" cy="3051096"/>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3" name="Google Shape;83;p24"/>
          <p:cNvSpPr txBox="1">
            <a:spLocks noGrp="1"/>
          </p:cNvSpPr>
          <p:nvPr>
            <p:ph type="body" idx="1"/>
          </p:nvPr>
        </p:nvSpPr>
        <p:spPr>
          <a:xfrm rot="5400000">
            <a:off x="2215900" y="-1263239"/>
            <a:ext cx="5851525" cy="892728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84" name="Google Shape;84;p24"/>
          <p:cNvSpPr txBox="1">
            <a:spLocks noGrp="1"/>
          </p:cNvSpPr>
          <p:nvPr>
            <p:ph type="dt" idx="10"/>
          </p:nvPr>
        </p:nvSpPr>
        <p:spPr>
          <a:xfrm>
            <a:off x="678021" y="6356352"/>
            <a:ext cx="3164099"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fld id="{3B110D7B-B5A5-40CF-903C-0D62A97485FF}" type="datetime1">
              <a:rPr lang="en-US" smtClean="0"/>
              <a:t>12/3/2025</a:t>
            </a:fld>
            <a:endParaRPr/>
          </a:p>
        </p:txBody>
      </p:sp>
      <p:sp>
        <p:nvSpPr>
          <p:cNvPr id="85" name="Google Shape;85;p24"/>
          <p:cNvSpPr txBox="1">
            <a:spLocks noGrp="1"/>
          </p:cNvSpPr>
          <p:nvPr>
            <p:ph type="ftr" idx="11"/>
          </p:nvPr>
        </p:nvSpPr>
        <p:spPr>
          <a:xfrm>
            <a:off x="4633145" y="6356352"/>
            <a:ext cx="4294135"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6" name="Google Shape;86;p24"/>
          <p:cNvSpPr txBox="1">
            <a:spLocks noGrp="1"/>
          </p:cNvSpPr>
          <p:nvPr>
            <p:ph type="sldNum" idx="12"/>
          </p:nvPr>
        </p:nvSpPr>
        <p:spPr>
          <a:xfrm>
            <a:off x="9718305" y="6356352"/>
            <a:ext cx="3164099"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a:pPr/>
              <a:t>‹#›</a:t>
            </a:fld>
            <a:endParaRPr/>
          </a:p>
        </p:txBody>
      </p:sp>
    </p:spTree>
    <p:extLst>
      <p:ext uri="{BB962C8B-B14F-4D97-AF65-F5344CB8AC3E}">
        <p14:creationId xmlns:p14="http://schemas.microsoft.com/office/powerpoint/2010/main" val="389695991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1.png"/><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pic>
        <p:nvPicPr>
          <p:cNvPr id="10" name="Google Shape;10;p13" descr="C:\Users\user\Desktop\Untitled.png"/>
          <p:cNvPicPr preferRelativeResize="0"/>
          <p:nvPr/>
        </p:nvPicPr>
        <p:blipFill rotWithShape="1">
          <a:blip r:embed="rId11">
            <a:alphaModFix/>
          </a:blip>
          <a:srcRect/>
          <a:stretch/>
        </p:blipFill>
        <p:spPr>
          <a:xfrm>
            <a:off x="158205" y="701642"/>
            <a:ext cx="13153612" cy="6003958"/>
          </a:xfrm>
          <a:prstGeom prst="rect">
            <a:avLst/>
          </a:prstGeom>
          <a:noFill/>
          <a:ln>
            <a:noFill/>
          </a:ln>
        </p:spPr>
      </p:pic>
      <p:sp>
        <p:nvSpPr>
          <p:cNvPr id="11" name="Google Shape;11;p13"/>
          <p:cNvSpPr txBox="1">
            <a:spLocks noGrp="1"/>
          </p:cNvSpPr>
          <p:nvPr>
            <p:ph type="title"/>
          </p:nvPr>
        </p:nvSpPr>
        <p:spPr>
          <a:xfrm>
            <a:off x="678021" y="274638"/>
            <a:ext cx="12204383"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Roboto"/>
              <a:buNone/>
              <a:defRPr sz="4400" b="0" i="0" u="none" strike="noStrike" cap="none">
                <a:solidFill>
                  <a:schemeClr val="dk1"/>
                </a:solidFill>
                <a:latin typeface="Roboto"/>
                <a:ea typeface="Roboto"/>
                <a:cs typeface="Roboto"/>
                <a:sym typeface="Roboto"/>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2" name="Google Shape;12;p13"/>
          <p:cNvSpPr txBox="1">
            <a:spLocks noGrp="1"/>
          </p:cNvSpPr>
          <p:nvPr>
            <p:ph type="body" idx="1"/>
          </p:nvPr>
        </p:nvSpPr>
        <p:spPr>
          <a:xfrm>
            <a:off x="678021" y="1600202"/>
            <a:ext cx="12204383"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1" i="0" u="none" strike="noStrike" cap="none">
                <a:solidFill>
                  <a:schemeClr val="dk1"/>
                </a:solidFill>
                <a:latin typeface="Open Sans"/>
                <a:ea typeface="Open Sans"/>
                <a:cs typeface="Open Sans"/>
                <a:sym typeface="Open Sans"/>
              </a:defRPr>
            </a:lvl1pPr>
            <a:lvl2pPr marL="914400" marR="0" lvl="1" indent="-406400" algn="l" rtl="0">
              <a:spcBef>
                <a:spcPts val="560"/>
              </a:spcBef>
              <a:spcAft>
                <a:spcPts val="0"/>
              </a:spcAft>
              <a:buClr>
                <a:schemeClr val="dk1"/>
              </a:buClr>
              <a:buSzPts val="2800"/>
              <a:buFont typeface="Arial"/>
              <a:buChar char="–"/>
              <a:defRPr sz="2800" b="1" i="0" u="none" strike="noStrike" cap="none">
                <a:solidFill>
                  <a:schemeClr val="dk1"/>
                </a:solidFill>
                <a:latin typeface="Open Sans"/>
                <a:ea typeface="Open Sans"/>
                <a:cs typeface="Open Sans"/>
                <a:sym typeface="Open Sans"/>
              </a:defRPr>
            </a:lvl2pPr>
            <a:lvl3pPr marL="1371600" marR="0" lvl="2" indent="-381000" algn="l" rtl="0">
              <a:spcBef>
                <a:spcPts val="480"/>
              </a:spcBef>
              <a:spcAft>
                <a:spcPts val="0"/>
              </a:spcAft>
              <a:buClr>
                <a:schemeClr val="dk1"/>
              </a:buClr>
              <a:buSzPts val="2400"/>
              <a:buFont typeface="Arial"/>
              <a:buChar char="•"/>
              <a:defRPr sz="2400" b="1" i="0" u="none" strike="noStrike" cap="none">
                <a:solidFill>
                  <a:schemeClr val="dk1"/>
                </a:solidFill>
                <a:latin typeface="Open Sans"/>
                <a:ea typeface="Open Sans"/>
                <a:cs typeface="Open Sans"/>
                <a:sym typeface="Open Sans"/>
              </a:defRPr>
            </a:lvl3pPr>
            <a:lvl4pPr marL="1828800" marR="0" lvl="3" indent="-355600" algn="l" rtl="0">
              <a:spcBef>
                <a:spcPts val="400"/>
              </a:spcBef>
              <a:spcAft>
                <a:spcPts val="0"/>
              </a:spcAft>
              <a:buClr>
                <a:schemeClr val="dk1"/>
              </a:buClr>
              <a:buSzPts val="2000"/>
              <a:buFont typeface="Arial"/>
              <a:buChar char="–"/>
              <a:defRPr sz="2000" b="1" i="0" u="none" strike="noStrike" cap="none">
                <a:solidFill>
                  <a:schemeClr val="dk1"/>
                </a:solidFill>
                <a:latin typeface="Open Sans"/>
                <a:ea typeface="Open Sans"/>
                <a:cs typeface="Open Sans"/>
                <a:sym typeface="Open Sans"/>
              </a:defRPr>
            </a:lvl4pPr>
            <a:lvl5pPr marL="2286000" marR="0" lvl="4" indent="-355600" algn="l" rtl="0">
              <a:spcBef>
                <a:spcPts val="400"/>
              </a:spcBef>
              <a:spcAft>
                <a:spcPts val="0"/>
              </a:spcAft>
              <a:buClr>
                <a:schemeClr val="dk1"/>
              </a:buClr>
              <a:buSzPts val="2000"/>
              <a:buFont typeface="Arial"/>
              <a:buChar char="»"/>
              <a:defRPr sz="2000" b="1" i="0" u="none" strike="noStrike" cap="none">
                <a:solidFill>
                  <a:schemeClr val="dk1"/>
                </a:solidFill>
                <a:latin typeface="Open Sans"/>
                <a:ea typeface="Open Sans"/>
                <a:cs typeface="Open Sans"/>
                <a:sym typeface="Open Sans"/>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3" name="Google Shape;13;p13"/>
          <p:cNvSpPr txBox="1">
            <a:spLocks noGrp="1"/>
          </p:cNvSpPr>
          <p:nvPr>
            <p:ph type="dt" idx="10"/>
          </p:nvPr>
        </p:nvSpPr>
        <p:spPr>
          <a:xfrm>
            <a:off x="678021" y="6356352"/>
            <a:ext cx="3164099"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1" i="0" u="none" strike="noStrike" cap="none">
                <a:solidFill>
                  <a:srgbClr val="C00000"/>
                </a:solidFill>
                <a:latin typeface="Open Sans"/>
                <a:ea typeface="Open Sans"/>
                <a:cs typeface="Open Sans"/>
                <a:sym typeface="Open Sans"/>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fld id="{3DC0196A-E3F7-45AC-80EC-609787829A49}" type="datetime1">
              <a:rPr lang="en-US" smtClean="0"/>
              <a:t>12/3/2025</a:t>
            </a:fld>
            <a:endParaRPr/>
          </a:p>
        </p:txBody>
      </p:sp>
      <p:sp>
        <p:nvSpPr>
          <p:cNvPr id="14" name="Google Shape;14;p13"/>
          <p:cNvSpPr txBox="1">
            <a:spLocks noGrp="1"/>
          </p:cNvSpPr>
          <p:nvPr>
            <p:ph type="ftr" idx="11"/>
          </p:nvPr>
        </p:nvSpPr>
        <p:spPr>
          <a:xfrm>
            <a:off x="4633145" y="6356352"/>
            <a:ext cx="4294135"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1" i="0" u="none" strike="noStrike" cap="none">
                <a:solidFill>
                  <a:srgbClr val="C00000"/>
                </a:solidFill>
                <a:latin typeface="Open Sans"/>
                <a:ea typeface="Open Sans"/>
                <a:cs typeface="Open Sans"/>
                <a:sym typeface="Open Sans"/>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5" name="Google Shape;15;p13"/>
          <p:cNvSpPr txBox="1">
            <a:spLocks noGrp="1"/>
          </p:cNvSpPr>
          <p:nvPr>
            <p:ph type="sldNum" idx="12"/>
          </p:nvPr>
        </p:nvSpPr>
        <p:spPr>
          <a:xfrm>
            <a:off x="9718305" y="6356352"/>
            <a:ext cx="3164099"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1" i="0" u="none" strike="noStrike" cap="none">
                <a:solidFill>
                  <a:srgbClr val="C00000"/>
                </a:solidFill>
                <a:latin typeface="Open Sans"/>
                <a:ea typeface="Open Sans"/>
                <a:cs typeface="Open Sans"/>
                <a:sym typeface="Open Sans"/>
              </a:defRPr>
            </a:lvl1pPr>
            <a:lvl2pPr marL="0" marR="0" lvl="1" indent="0" algn="r" rtl="0">
              <a:spcBef>
                <a:spcPts val="0"/>
              </a:spcBef>
              <a:buNone/>
              <a:defRPr sz="1200" b="1" i="0" u="none" strike="noStrike" cap="none">
                <a:solidFill>
                  <a:srgbClr val="C00000"/>
                </a:solidFill>
                <a:latin typeface="Open Sans"/>
                <a:ea typeface="Open Sans"/>
                <a:cs typeface="Open Sans"/>
                <a:sym typeface="Open Sans"/>
              </a:defRPr>
            </a:lvl2pPr>
            <a:lvl3pPr marL="0" marR="0" lvl="2" indent="0" algn="r" rtl="0">
              <a:spcBef>
                <a:spcPts val="0"/>
              </a:spcBef>
              <a:buNone/>
              <a:defRPr sz="1200" b="1" i="0" u="none" strike="noStrike" cap="none">
                <a:solidFill>
                  <a:srgbClr val="C00000"/>
                </a:solidFill>
                <a:latin typeface="Open Sans"/>
                <a:ea typeface="Open Sans"/>
                <a:cs typeface="Open Sans"/>
                <a:sym typeface="Open Sans"/>
              </a:defRPr>
            </a:lvl3pPr>
            <a:lvl4pPr marL="0" marR="0" lvl="3" indent="0" algn="r" rtl="0">
              <a:spcBef>
                <a:spcPts val="0"/>
              </a:spcBef>
              <a:buNone/>
              <a:defRPr sz="1200" b="1" i="0" u="none" strike="noStrike" cap="none">
                <a:solidFill>
                  <a:srgbClr val="C00000"/>
                </a:solidFill>
                <a:latin typeface="Open Sans"/>
                <a:ea typeface="Open Sans"/>
                <a:cs typeface="Open Sans"/>
                <a:sym typeface="Open Sans"/>
              </a:defRPr>
            </a:lvl4pPr>
            <a:lvl5pPr marL="0" marR="0" lvl="4" indent="0" algn="r" rtl="0">
              <a:spcBef>
                <a:spcPts val="0"/>
              </a:spcBef>
              <a:buNone/>
              <a:defRPr sz="1200" b="1" i="0" u="none" strike="noStrike" cap="none">
                <a:solidFill>
                  <a:srgbClr val="C00000"/>
                </a:solidFill>
                <a:latin typeface="Open Sans"/>
                <a:ea typeface="Open Sans"/>
                <a:cs typeface="Open Sans"/>
                <a:sym typeface="Open Sans"/>
              </a:defRPr>
            </a:lvl5pPr>
            <a:lvl6pPr marL="0" marR="0" lvl="5" indent="0" algn="r" rtl="0">
              <a:spcBef>
                <a:spcPts val="0"/>
              </a:spcBef>
              <a:buNone/>
              <a:defRPr sz="1200" b="1" i="0" u="none" strike="noStrike" cap="none">
                <a:solidFill>
                  <a:srgbClr val="C00000"/>
                </a:solidFill>
                <a:latin typeface="Open Sans"/>
                <a:ea typeface="Open Sans"/>
                <a:cs typeface="Open Sans"/>
                <a:sym typeface="Open Sans"/>
              </a:defRPr>
            </a:lvl6pPr>
            <a:lvl7pPr marL="0" marR="0" lvl="6" indent="0" algn="r" rtl="0">
              <a:spcBef>
                <a:spcPts val="0"/>
              </a:spcBef>
              <a:buNone/>
              <a:defRPr sz="1200" b="1" i="0" u="none" strike="noStrike" cap="none">
                <a:solidFill>
                  <a:srgbClr val="C00000"/>
                </a:solidFill>
                <a:latin typeface="Open Sans"/>
                <a:ea typeface="Open Sans"/>
                <a:cs typeface="Open Sans"/>
                <a:sym typeface="Open Sans"/>
              </a:defRPr>
            </a:lvl7pPr>
            <a:lvl8pPr marL="0" marR="0" lvl="7" indent="0" algn="r" rtl="0">
              <a:spcBef>
                <a:spcPts val="0"/>
              </a:spcBef>
              <a:buNone/>
              <a:defRPr sz="1200" b="1" i="0" u="none" strike="noStrike" cap="none">
                <a:solidFill>
                  <a:srgbClr val="C00000"/>
                </a:solidFill>
                <a:latin typeface="Open Sans"/>
                <a:ea typeface="Open Sans"/>
                <a:cs typeface="Open Sans"/>
                <a:sym typeface="Open Sans"/>
              </a:defRPr>
            </a:lvl8pPr>
            <a:lvl9pPr marL="0" marR="0" lvl="8" indent="0" algn="r" rtl="0">
              <a:spcBef>
                <a:spcPts val="0"/>
              </a:spcBef>
              <a:buNone/>
              <a:defRPr sz="1200" b="1" i="0" u="none" strike="noStrike" cap="none">
                <a:solidFill>
                  <a:srgbClr val="C00000"/>
                </a:solidFill>
                <a:latin typeface="Open Sans"/>
                <a:ea typeface="Open Sans"/>
                <a:cs typeface="Open Sans"/>
                <a:sym typeface="Open Sans"/>
              </a:defRPr>
            </a:lvl9pPr>
          </a:lstStyle>
          <a:p>
            <a:fld id="{00000000-1234-1234-1234-123412341234}" type="slidenum">
              <a:rPr lang="en-US"/>
              <a:pPr/>
              <a:t>‹#›</a:t>
            </a:fld>
            <a:endParaRPr/>
          </a:p>
        </p:txBody>
      </p:sp>
      <p:sp>
        <p:nvSpPr>
          <p:cNvPr id="16" name="Google Shape;16;p13"/>
          <p:cNvSpPr/>
          <p:nvPr/>
        </p:nvSpPr>
        <p:spPr>
          <a:xfrm>
            <a:off x="158205" y="152400"/>
            <a:ext cx="13153612" cy="6613558"/>
          </a:xfrm>
          <a:prstGeom prst="rect">
            <a:avLst/>
          </a:prstGeom>
          <a:noFill/>
          <a:ln w="25400" cap="flat" cmpd="sng">
            <a:solidFill>
              <a:srgbClr val="C00000"/>
            </a:solidFill>
            <a:prstDash val="solid"/>
            <a:round/>
            <a:headEnd type="none" w="sm" len="sm"/>
            <a:tailEnd type="none" w="sm" len="sm"/>
          </a:ln>
        </p:spPr>
        <p:txBody>
          <a:bodyPr spcFirstLastPara="1" wrap="square" lIns="91425" tIns="45700" rIns="91425" bIns="45700" anchor="ctr" anchorCtr="0">
            <a:noAutofit/>
          </a:bodyPr>
          <a:lstStyle/>
          <a:p>
            <a:pPr algn="ctr"/>
            <a:endParaRPr sz="1800">
              <a:solidFill>
                <a:srgbClr val="FFFFFF"/>
              </a:solidFill>
              <a:latin typeface="Calibri"/>
              <a:ea typeface="Calibri"/>
              <a:cs typeface="Calibri"/>
              <a:sym typeface="Calibri"/>
            </a:endParaRPr>
          </a:p>
        </p:txBody>
      </p:sp>
    </p:spTree>
    <p:extLst>
      <p:ext uri="{BB962C8B-B14F-4D97-AF65-F5344CB8AC3E}">
        <p14:creationId xmlns:p14="http://schemas.microsoft.com/office/powerpoint/2010/main" val="1507622780"/>
      </p:ext>
    </p:extLst>
  </p:cSld>
  <p:clrMap bg1="lt1" tx1="dk1" bg2="dk2" tx2="lt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9" r:id="rId6"/>
    <p:sldLayoutId id="2147483680" r:id="rId7"/>
    <p:sldLayoutId id="2147483681" r:id="rId8"/>
    <p:sldLayoutId id="2147483682" r:id="rId9"/>
  </p:sldLayoutIdLst>
  <p:hf hdr="0" ftr="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hyperlink" Target="https://ieeexplore.ieee.org/document/9298219" TargetMode="External"/><Relationship Id="rId2" Type="http://schemas.openxmlformats.org/officeDocument/2006/relationships/hyperlink" Target="https://ieeexplore.ieee.org/document/8976623" TargetMode="Externa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hyperlink" Target="https://ieeexplore.ieee.org/document/9404692" TargetMode="Externa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hyperlink" Target="https://www.researchgate.net/publication/356372138_Fallen_leaves_are_superior_to_tree_pruning_as_bulking_agents_in_aerobic_composting_disposing_kitchen_waste" TargetMode="External"/><Relationship Id="rId2" Type="http://schemas.openxmlformats.org/officeDocument/2006/relationships/hyperlink" Target="https://ieeexplore.ieee.org/document/9596173" TargetMode="Externa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hyperlink" Target="https://ieeexplore.ieee.org/document/10991026" TargetMode="External"/><Relationship Id="rId2" Type="http://schemas.openxmlformats.org/officeDocument/2006/relationships/hyperlink" Target="https://ieeexplore.ieee.org/abstract/document/10326656" TargetMode="Externa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hyperlink" Target="https://www.ijert.org/smart-compost-guardian-an-iot-based-real-time-compost-monitoring-and-alert-system" TargetMode="External"/><Relationship Id="rId2" Type="http://schemas.openxmlformats.org/officeDocument/2006/relationships/hyperlink" Target="https://xplorestaging.ieee.org/document/11132135" TargetMode="Externa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1" name="Google Shape;91;p1"/>
          <p:cNvSpPr txBox="1">
            <a:spLocks noGrp="1"/>
          </p:cNvSpPr>
          <p:nvPr>
            <p:ph type="ctrTitle"/>
          </p:nvPr>
        </p:nvSpPr>
        <p:spPr>
          <a:xfrm>
            <a:off x="537882" y="609600"/>
            <a:ext cx="12659503" cy="1806054"/>
          </a:xfrm>
          <a:prstGeom prst="rect">
            <a:avLst/>
          </a:prstGeom>
          <a:noFill/>
          <a:ln>
            <a:noFill/>
          </a:ln>
        </p:spPr>
        <p:txBody>
          <a:bodyPr spcFirstLastPara="1" wrap="square" lIns="91425" tIns="45700" rIns="91425" bIns="45700" anchor="ctr" anchorCtr="0">
            <a:normAutofit fontScale="90000"/>
          </a:bodyPr>
          <a:lstStyle/>
          <a:p>
            <a:pPr algn="l">
              <a:buClr>
                <a:srgbClr val="C00000"/>
              </a:buClr>
              <a:buSzPts val="3600"/>
            </a:pPr>
            <a:br>
              <a:rPr lang="en-US" sz="3600" b="1" dirty="0">
                <a:solidFill>
                  <a:srgbClr val="C00000"/>
                </a:solidFill>
              </a:rPr>
            </a:br>
            <a:br>
              <a:rPr lang="en-US" sz="3600" b="1" dirty="0">
                <a:solidFill>
                  <a:srgbClr val="C00000"/>
                </a:solidFill>
              </a:rPr>
            </a:br>
            <a:br>
              <a:rPr lang="en-US" sz="3600" b="1" dirty="0">
                <a:solidFill>
                  <a:srgbClr val="C00000"/>
                </a:solidFill>
              </a:rPr>
            </a:br>
            <a:br>
              <a:rPr lang="en-US" sz="3600" b="1" dirty="0">
                <a:solidFill>
                  <a:srgbClr val="C00000"/>
                </a:solidFill>
              </a:rPr>
            </a:br>
            <a:br>
              <a:rPr lang="en-US" sz="3600" b="1" dirty="0">
                <a:solidFill>
                  <a:srgbClr val="C00000"/>
                </a:solidFill>
              </a:rPr>
            </a:br>
            <a:br>
              <a:rPr lang="en-US" sz="3600" b="1" dirty="0">
                <a:solidFill>
                  <a:srgbClr val="C00000"/>
                </a:solidFill>
              </a:rPr>
            </a:br>
            <a:br>
              <a:rPr lang="en-US" sz="3600" b="1" dirty="0">
                <a:solidFill>
                  <a:srgbClr val="C00000"/>
                </a:solidFill>
              </a:rPr>
            </a:br>
            <a:br>
              <a:rPr lang="en-US" sz="3600" b="1" dirty="0">
                <a:solidFill>
                  <a:srgbClr val="C00000"/>
                </a:solidFill>
              </a:rPr>
            </a:br>
            <a:br>
              <a:rPr lang="en-US" sz="3600" b="1" dirty="0">
                <a:solidFill>
                  <a:srgbClr val="C00000"/>
                </a:solidFill>
              </a:rPr>
            </a:br>
            <a:r>
              <a:rPr lang="en-US" sz="3600" b="1" dirty="0">
                <a:solidFill>
                  <a:srgbClr val="C00000"/>
                </a:solidFill>
                <a:latin typeface="Times New Roman" panose="02020603050405020304" pitchFamily="18" charset="0"/>
                <a:cs typeface="Times New Roman" panose="02020603050405020304" pitchFamily="18" charset="0"/>
              </a:rPr>
              <a:t>               </a:t>
            </a:r>
            <a:r>
              <a:rPr lang="en-US" sz="3600" b="1" dirty="0">
                <a:solidFill>
                  <a:srgbClr val="C00000"/>
                </a:solidFill>
                <a:latin typeface="Times New Roman" panose="02020603050405020304" pitchFamily="18" charset="0"/>
                <a:ea typeface="Roboto" panose="02000000000000000000" pitchFamily="2" charset="0"/>
                <a:cs typeface="Times New Roman" panose="02020603050405020304" pitchFamily="18" charset="0"/>
              </a:rPr>
              <a:t>Shri Madhwa Vadiraja Institute of Technology </a:t>
            </a:r>
            <a:br>
              <a:rPr lang="en-US" sz="3600" b="1" dirty="0">
                <a:solidFill>
                  <a:srgbClr val="C00000"/>
                </a:solidFill>
                <a:latin typeface="Times New Roman" panose="02020603050405020304" pitchFamily="18" charset="0"/>
                <a:ea typeface="Roboto" panose="02000000000000000000" pitchFamily="2" charset="0"/>
                <a:cs typeface="Times New Roman" panose="02020603050405020304" pitchFamily="18" charset="0"/>
              </a:rPr>
            </a:br>
            <a:r>
              <a:rPr lang="en-US" sz="3600" b="1" dirty="0">
                <a:solidFill>
                  <a:srgbClr val="C00000"/>
                </a:solidFill>
                <a:latin typeface="Times New Roman" panose="02020603050405020304" pitchFamily="18" charset="0"/>
                <a:ea typeface="Roboto" panose="02000000000000000000" pitchFamily="2" charset="0"/>
                <a:cs typeface="Times New Roman" panose="02020603050405020304" pitchFamily="18" charset="0"/>
              </a:rPr>
              <a:t>                           and Management, Bantakal</a:t>
            </a:r>
            <a:br>
              <a:rPr lang="en-US" sz="3600" b="1" dirty="0">
                <a:solidFill>
                  <a:srgbClr val="C00000"/>
                </a:solidFill>
                <a:latin typeface="Times New Roman" panose="02020603050405020304" pitchFamily="18" charset="0"/>
                <a:ea typeface="Roboto" panose="02000000000000000000" pitchFamily="2" charset="0"/>
                <a:cs typeface="Times New Roman" panose="02020603050405020304" pitchFamily="18" charset="0"/>
              </a:rPr>
            </a:br>
            <a:br>
              <a:rPr lang="en-US" sz="3600" b="1" dirty="0">
                <a:solidFill>
                  <a:srgbClr val="C00000"/>
                </a:solidFill>
                <a:latin typeface="Times New Roman" panose="02020603050405020304" pitchFamily="18" charset="0"/>
                <a:ea typeface="Roboto" panose="02000000000000000000" pitchFamily="2" charset="0"/>
                <a:cs typeface="Times New Roman" panose="02020603050405020304" pitchFamily="18" charset="0"/>
              </a:rPr>
            </a:br>
            <a:r>
              <a:rPr lang="en-US" sz="3600" b="1" dirty="0">
                <a:solidFill>
                  <a:srgbClr val="C00000"/>
                </a:solidFill>
                <a:latin typeface="Times New Roman" panose="02020603050405020304" pitchFamily="18" charset="0"/>
                <a:ea typeface="Roboto" panose="02000000000000000000" pitchFamily="2" charset="0"/>
                <a:cs typeface="Times New Roman" panose="02020603050405020304" pitchFamily="18" charset="0"/>
              </a:rPr>
              <a:t>                         AUTOMATIC COMPOST BIN</a:t>
            </a:r>
            <a:br>
              <a:rPr lang="en-US" sz="3600" b="1" dirty="0">
                <a:solidFill>
                  <a:srgbClr val="0033CC"/>
                </a:solidFill>
                <a:latin typeface="Times New Roman" panose="02020603050405020304" pitchFamily="18" charset="0"/>
                <a:ea typeface="Roboto" panose="02000000000000000000" pitchFamily="2" charset="0"/>
                <a:cs typeface="Times New Roman" panose="02020603050405020304" pitchFamily="18" charset="0"/>
              </a:rPr>
            </a:br>
            <a:br>
              <a:rPr lang="en-US" sz="3600" b="1" dirty="0">
                <a:solidFill>
                  <a:srgbClr val="0033CC"/>
                </a:solidFill>
                <a:latin typeface="Times New Roman" panose="02020603050405020304" pitchFamily="18" charset="0"/>
                <a:ea typeface="Roboto" panose="02000000000000000000" pitchFamily="2" charset="0"/>
                <a:cs typeface="Times New Roman" panose="02020603050405020304" pitchFamily="18" charset="0"/>
              </a:rPr>
            </a:br>
            <a:r>
              <a:rPr lang="en-US" sz="3100" b="1" dirty="0">
                <a:solidFill>
                  <a:srgbClr val="0033CC"/>
                </a:solidFill>
                <a:latin typeface="Times New Roman" panose="02020603050405020304" pitchFamily="18" charset="0"/>
                <a:ea typeface="Roboto" panose="02000000000000000000" pitchFamily="2" charset="0"/>
                <a:cs typeface="Times New Roman" panose="02020603050405020304" pitchFamily="18" charset="0"/>
              </a:rPr>
              <a:t>                    </a:t>
            </a:r>
            <a:r>
              <a:rPr lang="en-US" sz="3100" b="1" dirty="0">
                <a:latin typeface="Times New Roman" panose="02020603050405020304" pitchFamily="18" charset="0"/>
                <a:ea typeface="Roboto" panose="02000000000000000000" pitchFamily="2" charset="0"/>
                <a:cs typeface="Times New Roman" panose="02020603050405020304" pitchFamily="18" charset="0"/>
                <a:sym typeface="Open Sans"/>
              </a:rPr>
              <a:t>PRESENTED BY:</a:t>
            </a:r>
            <a:br>
              <a:rPr lang="en-US" sz="3100" b="1" dirty="0">
                <a:solidFill>
                  <a:srgbClr val="0033CC"/>
                </a:solidFill>
                <a:latin typeface="Times New Roman" panose="02020603050405020304" pitchFamily="18" charset="0"/>
                <a:ea typeface="Roboto" panose="02000000000000000000" pitchFamily="2" charset="0"/>
                <a:cs typeface="Times New Roman" panose="02020603050405020304" pitchFamily="18" charset="0"/>
              </a:rPr>
            </a:br>
            <a:r>
              <a:rPr lang="en-US" sz="3100" b="1" dirty="0">
                <a:solidFill>
                  <a:srgbClr val="0033CC"/>
                </a:solidFill>
                <a:latin typeface="Times New Roman" panose="02020603050405020304" pitchFamily="18" charset="0"/>
                <a:ea typeface="Roboto" panose="02000000000000000000" pitchFamily="2" charset="0"/>
                <a:cs typeface="Times New Roman" panose="02020603050405020304" pitchFamily="18" charset="0"/>
              </a:rPr>
              <a:t>                                               </a:t>
            </a:r>
            <a:r>
              <a:rPr lang="en-US" sz="2700" b="1" dirty="0">
                <a:solidFill>
                  <a:srgbClr val="002060"/>
                </a:solidFill>
                <a:latin typeface="Times New Roman" panose="02020603050405020304" pitchFamily="18" charset="0"/>
                <a:ea typeface="Roboto" panose="02000000000000000000" pitchFamily="2" charset="0"/>
                <a:cs typeface="Times New Roman" panose="02020603050405020304" pitchFamily="18" charset="0"/>
              </a:rPr>
              <a:t>Pratiksha :4MW23EC038</a:t>
            </a:r>
            <a:br>
              <a:rPr lang="en-US" sz="2700" b="1" dirty="0">
                <a:solidFill>
                  <a:srgbClr val="002060"/>
                </a:solidFill>
                <a:latin typeface="Times New Roman" panose="02020603050405020304" pitchFamily="18" charset="0"/>
                <a:ea typeface="Roboto" panose="02000000000000000000" pitchFamily="2" charset="0"/>
                <a:cs typeface="Times New Roman" panose="02020603050405020304" pitchFamily="18" charset="0"/>
              </a:rPr>
            </a:br>
            <a:r>
              <a:rPr lang="en-US" sz="2700" b="1" dirty="0">
                <a:solidFill>
                  <a:srgbClr val="002060"/>
                </a:solidFill>
                <a:latin typeface="Times New Roman" panose="02020603050405020304" pitchFamily="18" charset="0"/>
                <a:ea typeface="Roboto" panose="02000000000000000000" pitchFamily="2" charset="0"/>
                <a:cs typeface="Times New Roman" panose="02020603050405020304" pitchFamily="18" charset="0"/>
              </a:rPr>
              <a:t>                                                       Nishmitha:4MW23EC039</a:t>
            </a:r>
            <a:br>
              <a:rPr lang="en-US" sz="2700" b="1" dirty="0">
                <a:solidFill>
                  <a:srgbClr val="002060"/>
                </a:solidFill>
                <a:latin typeface="Times New Roman" panose="02020603050405020304" pitchFamily="18" charset="0"/>
                <a:ea typeface="Roboto" panose="02000000000000000000" pitchFamily="2" charset="0"/>
                <a:cs typeface="Times New Roman" panose="02020603050405020304" pitchFamily="18" charset="0"/>
              </a:rPr>
            </a:br>
            <a:r>
              <a:rPr lang="en-US" sz="2700" b="1" dirty="0">
                <a:solidFill>
                  <a:srgbClr val="002060"/>
                </a:solidFill>
                <a:latin typeface="Times New Roman" panose="02020603050405020304" pitchFamily="18" charset="0"/>
                <a:ea typeface="Roboto" panose="02000000000000000000" pitchFamily="2" charset="0"/>
                <a:cs typeface="Times New Roman" panose="02020603050405020304" pitchFamily="18" charset="0"/>
              </a:rPr>
              <a:t>                                                       Prerana    :4MW23EC051</a:t>
            </a:r>
            <a:br>
              <a:rPr lang="en-US" sz="2700" b="1" dirty="0">
                <a:solidFill>
                  <a:srgbClr val="002060"/>
                </a:solidFill>
                <a:latin typeface="Times New Roman" panose="02020603050405020304" pitchFamily="18" charset="0"/>
                <a:ea typeface="Roboto" panose="02000000000000000000" pitchFamily="2" charset="0"/>
                <a:cs typeface="Times New Roman" panose="02020603050405020304" pitchFamily="18" charset="0"/>
              </a:rPr>
            </a:br>
            <a:br>
              <a:rPr lang="en-US" sz="2700" b="1" dirty="0">
                <a:solidFill>
                  <a:srgbClr val="002060"/>
                </a:solidFill>
                <a:latin typeface="Times New Roman" panose="02020603050405020304" pitchFamily="18" charset="0"/>
                <a:ea typeface="Roboto" panose="02000000000000000000" pitchFamily="2" charset="0"/>
                <a:cs typeface="Times New Roman" panose="02020603050405020304" pitchFamily="18" charset="0"/>
              </a:rPr>
            </a:br>
            <a:r>
              <a:rPr lang="en-US" sz="2200" b="1" dirty="0">
                <a:solidFill>
                  <a:srgbClr val="002060"/>
                </a:solidFill>
                <a:latin typeface="Times New Roman" panose="02020603050405020304" pitchFamily="18" charset="0"/>
                <a:ea typeface="Roboto" panose="02000000000000000000" pitchFamily="2" charset="0"/>
                <a:cs typeface="Times New Roman" panose="02020603050405020304" pitchFamily="18" charset="0"/>
              </a:rPr>
              <a:t>UNDER THE GUIDANCE OF - Mr. Ganesh Shetty</a:t>
            </a:r>
            <a:br>
              <a:rPr lang="en-US" sz="2200" b="1" dirty="0">
                <a:solidFill>
                  <a:srgbClr val="002060"/>
                </a:solidFill>
                <a:latin typeface="Times New Roman" panose="02020603050405020304" pitchFamily="18" charset="0"/>
                <a:ea typeface="Roboto" panose="02000000000000000000" pitchFamily="2" charset="0"/>
                <a:cs typeface="Times New Roman" panose="02020603050405020304" pitchFamily="18" charset="0"/>
              </a:rPr>
            </a:br>
            <a:r>
              <a:rPr lang="en-US" sz="2200" b="1" dirty="0">
                <a:solidFill>
                  <a:schemeClr val="bg2">
                    <a:lumMod val="75000"/>
                  </a:schemeClr>
                </a:solidFill>
                <a:latin typeface="Times New Roman" panose="02020603050405020304" pitchFamily="18" charset="0"/>
                <a:ea typeface="Roboto" panose="02000000000000000000" pitchFamily="2" charset="0"/>
                <a:cs typeface="Times New Roman" panose="02020603050405020304" pitchFamily="18" charset="0"/>
                <a:sym typeface="Open Sans"/>
              </a:rPr>
              <a:t>UNDER THE EVALUATION OF - Mr. Sachin Prabhu</a:t>
            </a:r>
            <a:br>
              <a:rPr lang="en-US" sz="3600" b="1" dirty="0">
                <a:latin typeface="Times New Roman" panose="02020603050405020304" pitchFamily="18" charset="0"/>
                <a:ea typeface="Roboto" panose="02000000000000000000" pitchFamily="2" charset="0"/>
                <a:cs typeface="Times New Roman" panose="02020603050405020304" pitchFamily="18" charset="0"/>
                <a:sym typeface="Open Sans"/>
              </a:rPr>
            </a:br>
            <a:r>
              <a:rPr lang="en-US" sz="2700" b="1" dirty="0">
                <a:latin typeface="Times New Roman" panose="02020603050405020304" pitchFamily="18" charset="0"/>
                <a:ea typeface="Roboto" panose="02000000000000000000" pitchFamily="2" charset="0"/>
                <a:cs typeface="Times New Roman" panose="02020603050405020304" pitchFamily="18" charset="0"/>
                <a:sym typeface="Open Sans"/>
              </a:rPr>
              <a:t>Date</a:t>
            </a:r>
            <a:r>
              <a:rPr lang="en-US" sz="2700" b="1" dirty="0">
                <a:solidFill>
                  <a:srgbClr val="002060"/>
                </a:solidFill>
                <a:latin typeface="Times New Roman" panose="02020603050405020304" pitchFamily="18" charset="0"/>
                <a:ea typeface="Roboto" panose="02000000000000000000" pitchFamily="2" charset="0"/>
                <a:cs typeface="Times New Roman" panose="02020603050405020304" pitchFamily="18" charset="0"/>
              </a:rPr>
              <a:t> :03/12/2025</a:t>
            </a:r>
            <a:r>
              <a:rPr lang="en-US" sz="3600" b="1" dirty="0">
                <a:solidFill>
                  <a:srgbClr val="002060"/>
                </a:solidFill>
                <a:latin typeface="Times New Roman" panose="02020603050405020304" pitchFamily="18" charset="0"/>
                <a:ea typeface="Roboto" panose="02000000000000000000" pitchFamily="2" charset="0"/>
                <a:cs typeface="Times New Roman" panose="02020603050405020304" pitchFamily="18" charset="0"/>
              </a:rPr>
              <a:t>                  </a:t>
            </a:r>
            <a:endParaRPr sz="3600" b="1" dirty="0">
              <a:solidFill>
                <a:srgbClr val="002060"/>
              </a:solidFill>
              <a:latin typeface="Times New Roman" panose="02020603050405020304" pitchFamily="18" charset="0"/>
              <a:ea typeface="Roboto" panose="02000000000000000000" pitchFamily="2" charset="0"/>
              <a:cs typeface="Times New Roman" panose="02020603050405020304" pitchFamily="18" charset="0"/>
            </a:endParaRPr>
          </a:p>
        </p:txBody>
      </p:sp>
    </p:spTree>
    <p:extLst>
      <p:ext uri="{BB962C8B-B14F-4D97-AF65-F5344CB8AC3E}">
        <p14:creationId xmlns:p14="http://schemas.microsoft.com/office/powerpoint/2010/main" val="298424583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75713" y="455657"/>
            <a:ext cx="6550926" cy="411162"/>
          </a:xfrm>
        </p:spPr>
        <p:txBody>
          <a:bodyPr>
            <a:noAutofit/>
          </a:bodyPr>
          <a:lstStyle/>
          <a:p>
            <a:r>
              <a:rPr lang="en-US" sz="3400" b="1" dirty="0">
                <a:solidFill>
                  <a:srgbClr val="C00000"/>
                </a:solidFill>
                <a:latin typeface="Times New Roman" panose="02020603050405020304" pitchFamily="18" charset="0"/>
                <a:ea typeface="Roboto" panose="02000000000000000000" pitchFamily="2" charset="0"/>
                <a:cs typeface="Times New Roman" panose="02020603050405020304" pitchFamily="18" charset="0"/>
                <a:sym typeface="Arial"/>
              </a:rPr>
              <a:t>OUTLINE</a:t>
            </a:r>
            <a:endParaRPr lang="en-GB" sz="3400" b="1" dirty="0">
              <a:solidFill>
                <a:srgbClr val="C00000"/>
              </a:solidFill>
              <a:latin typeface="Times New Roman" panose="02020603050405020304" pitchFamily="18" charset="0"/>
              <a:ea typeface="Roboto" panose="02000000000000000000" pitchFamily="2" charset="0"/>
              <a:cs typeface="Times New Roman" panose="02020603050405020304" pitchFamily="18" charset="0"/>
              <a:sym typeface="Arial"/>
            </a:endParaRPr>
          </a:p>
        </p:txBody>
      </p:sp>
      <p:sp>
        <p:nvSpPr>
          <p:cNvPr id="3" name="Text Placeholder 2"/>
          <p:cNvSpPr>
            <a:spLocks noGrp="1"/>
          </p:cNvSpPr>
          <p:nvPr>
            <p:ph type="body" idx="1"/>
          </p:nvPr>
        </p:nvSpPr>
        <p:spPr/>
        <p:txBody>
          <a:bodyPr>
            <a:normAutofit lnSpcReduction="10000"/>
          </a:bodyPr>
          <a:lstStyle/>
          <a:p>
            <a:r>
              <a:rPr lang="en-IN" dirty="0">
                <a:solidFill>
                  <a:schemeClr val="tx1"/>
                </a:solidFill>
                <a:latin typeface="Times New Roman" panose="02020603050405020304" pitchFamily="18" charset="0"/>
                <a:cs typeface="Times New Roman" panose="02020603050405020304" pitchFamily="18" charset="0"/>
              </a:rPr>
              <a:t>• ABSTRACT</a:t>
            </a:r>
          </a:p>
          <a:p>
            <a:r>
              <a:rPr lang="en-IN" dirty="0">
                <a:solidFill>
                  <a:schemeClr val="tx1"/>
                </a:solidFill>
                <a:latin typeface="Times New Roman" panose="02020603050405020304" pitchFamily="18" charset="0"/>
                <a:cs typeface="Times New Roman" panose="02020603050405020304" pitchFamily="18" charset="0"/>
              </a:rPr>
              <a:t>• INTRODUCTION</a:t>
            </a:r>
          </a:p>
          <a:p>
            <a:r>
              <a:rPr lang="en-IN" dirty="0">
                <a:solidFill>
                  <a:schemeClr val="tx1"/>
                </a:solidFill>
                <a:latin typeface="Times New Roman" panose="02020603050405020304" pitchFamily="18" charset="0"/>
                <a:cs typeface="Times New Roman" panose="02020603050405020304" pitchFamily="18" charset="0"/>
              </a:rPr>
              <a:t>• LITERATURE REVIEW</a:t>
            </a:r>
          </a:p>
          <a:p>
            <a:r>
              <a:rPr lang="en-IN" dirty="0">
                <a:solidFill>
                  <a:schemeClr val="tx1"/>
                </a:solidFill>
                <a:latin typeface="Times New Roman" panose="02020603050405020304" pitchFamily="18" charset="0"/>
                <a:cs typeface="Times New Roman" panose="02020603050405020304" pitchFamily="18" charset="0"/>
              </a:rPr>
              <a:t>• PROBLEM STATEMENT</a:t>
            </a:r>
          </a:p>
          <a:p>
            <a:r>
              <a:rPr lang="en-IN" dirty="0">
                <a:solidFill>
                  <a:schemeClr val="tx1"/>
                </a:solidFill>
                <a:latin typeface="Times New Roman" panose="02020603050405020304" pitchFamily="18" charset="0"/>
                <a:cs typeface="Times New Roman" panose="02020603050405020304" pitchFamily="18" charset="0"/>
              </a:rPr>
              <a:t>• OBJECTIVES</a:t>
            </a:r>
          </a:p>
          <a:p>
            <a:r>
              <a:rPr lang="en-IN" dirty="0">
                <a:solidFill>
                  <a:schemeClr val="tx1"/>
                </a:solidFill>
                <a:latin typeface="Times New Roman" panose="02020603050405020304" pitchFamily="18" charset="0"/>
                <a:cs typeface="Times New Roman" panose="02020603050405020304" pitchFamily="18" charset="0"/>
              </a:rPr>
              <a:t>• PROPOSED METHODOLOGY</a:t>
            </a:r>
          </a:p>
          <a:p>
            <a:r>
              <a:rPr lang="en-IN" dirty="0">
                <a:solidFill>
                  <a:schemeClr val="tx1"/>
                </a:solidFill>
                <a:latin typeface="Times New Roman" panose="02020603050405020304" pitchFamily="18" charset="0"/>
                <a:cs typeface="Times New Roman" panose="02020603050405020304" pitchFamily="18" charset="0"/>
              </a:rPr>
              <a:t>• THE EXPECTED OUTCOME</a:t>
            </a:r>
          </a:p>
          <a:p>
            <a:r>
              <a:rPr lang="en-IN" dirty="0">
                <a:solidFill>
                  <a:schemeClr val="tx1"/>
                </a:solidFill>
                <a:latin typeface="Times New Roman" panose="02020603050405020304" pitchFamily="18" charset="0"/>
                <a:cs typeface="Times New Roman" panose="02020603050405020304" pitchFamily="18" charset="0"/>
              </a:rPr>
              <a:t>• BUDGET ANALYSIS REPORT / RESOURCES</a:t>
            </a:r>
          </a:p>
          <a:p>
            <a:r>
              <a:rPr lang="en-IN" dirty="0">
                <a:solidFill>
                  <a:schemeClr val="tx1"/>
                </a:solidFill>
                <a:latin typeface="Times New Roman" panose="02020603050405020304" pitchFamily="18" charset="0"/>
                <a:cs typeface="Times New Roman" panose="02020603050405020304" pitchFamily="18" charset="0"/>
              </a:rPr>
              <a:t>• CONCLUSION/FUTURE SCOPE</a:t>
            </a:r>
          </a:p>
          <a:p>
            <a:r>
              <a:rPr lang="en-IN" dirty="0">
                <a:solidFill>
                  <a:schemeClr val="tx1"/>
                </a:solidFill>
                <a:latin typeface="Times New Roman" panose="02020603050405020304" pitchFamily="18" charset="0"/>
                <a:cs typeface="Times New Roman" panose="02020603050405020304" pitchFamily="18" charset="0"/>
              </a:rPr>
              <a:t>• REFERENCES</a:t>
            </a:r>
          </a:p>
        </p:txBody>
      </p:sp>
      <p:sp>
        <p:nvSpPr>
          <p:cNvPr id="11" name="Date Placeholder 10"/>
          <p:cNvSpPr>
            <a:spLocks noGrp="1"/>
          </p:cNvSpPr>
          <p:nvPr>
            <p:ph type="dt" idx="10"/>
          </p:nvPr>
        </p:nvSpPr>
        <p:spPr/>
        <p:txBody>
          <a:bodyPr/>
          <a:lstStyle/>
          <a:p>
            <a:r>
              <a:rPr lang="en-US" dirty="0"/>
              <a:t>03/12/2025</a:t>
            </a:r>
          </a:p>
        </p:txBody>
      </p:sp>
      <p:sp>
        <p:nvSpPr>
          <p:cNvPr id="10" name="Slide Number Placeholder 9"/>
          <p:cNvSpPr>
            <a:spLocks noGrp="1"/>
          </p:cNvSpPr>
          <p:nvPr>
            <p:ph type="sldNum" idx="12"/>
          </p:nvPr>
        </p:nvSpPr>
        <p:spPr/>
        <p:txBody>
          <a:bodyPr/>
          <a:lstStyle/>
          <a:p>
            <a:fld id="{00000000-1234-1234-1234-123412341234}" type="slidenum">
              <a:rPr lang="en-US" smtClean="0"/>
              <a:pPr/>
              <a:t>2</a:t>
            </a:fld>
            <a:endParaRPr lang="en-US"/>
          </a:p>
        </p:txBody>
      </p:sp>
    </p:spTree>
    <p:extLst>
      <p:ext uri="{BB962C8B-B14F-4D97-AF65-F5344CB8AC3E}">
        <p14:creationId xmlns:p14="http://schemas.microsoft.com/office/powerpoint/2010/main" val="300820805"/>
      </p:ext>
    </p:extLst>
  </p:cSld>
  <p:clrMapOvr>
    <a:masterClrMapping/>
  </p:clrMapOvr>
  <p:transition spd="slow">
    <p:wip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18F7D2-1D74-10D1-2D5D-276B98248ABE}"/>
              </a:ext>
            </a:extLst>
          </p:cNvPr>
          <p:cNvSpPr>
            <a:spLocks noGrp="1"/>
          </p:cNvSpPr>
          <p:nvPr>
            <p:ph type="title"/>
          </p:nvPr>
        </p:nvSpPr>
        <p:spPr>
          <a:xfrm>
            <a:off x="312933" y="274637"/>
            <a:ext cx="12934559" cy="1141411"/>
          </a:xfrm>
        </p:spPr>
        <p:txBody>
          <a:bodyPr/>
          <a:lstStyle/>
          <a:p>
            <a:r>
              <a:rPr lang="en-IN" b="1" dirty="0">
                <a:latin typeface="Times New Roman" panose="02020603050405020304" pitchFamily="18" charset="0"/>
                <a:cs typeface="Times New Roman" panose="02020603050405020304" pitchFamily="18" charset="0"/>
              </a:rPr>
              <a:t>ABSTRACT</a:t>
            </a:r>
          </a:p>
        </p:txBody>
      </p:sp>
      <p:sp>
        <p:nvSpPr>
          <p:cNvPr id="3" name="Text Placeholder 2">
            <a:extLst>
              <a:ext uri="{FF2B5EF4-FFF2-40B4-BE49-F238E27FC236}">
                <a16:creationId xmlns:a16="http://schemas.microsoft.com/office/drawing/2014/main" id="{6572F247-7BF8-BD58-1053-D3190111EEA0}"/>
              </a:ext>
            </a:extLst>
          </p:cNvPr>
          <p:cNvSpPr>
            <a:spLocks noGrp="1"/>
          </p:cNvSpPr>
          <p:nvPr>
            <p:ph type="body" idx="1"/>
          </p:nvPr>
        </p:nvSpPr>
        <p:spPr>
          <a:xfrm>
            <a:off x="312934" y="1092200"/>
            <a:ext cx="12934558" cy="5629277"/>
          </a:xfrm>
        </p:spPr>
        <p:txBody>
          <a:bodyPr>
            <a:normAutofit/>
          </a:bodyPr>
          <a:lstStyle/>
          <a:p>
            <a:pPr marL="228600" indent="0"/>
            <a:r>
              <a:rPr lang="en-US" dirty="0">
                <a:solidFill>
                  <a:schemeClr val="tx1"/>
                </a:solidFill>
                <a:latin typeface="Times New Roman" panose="02020603050405020304" pitchFamily="18" charset="0"/>
                <a:cs typeface="Times New Roman" panose="02020603050405020304" pitchFamily="18" charset="0"/>
              </a:rPr>
              <a:t>This project focuses on the development of an "Automatic Compost Bin" designed to streamline organic waste management in small-scale institutional settings. The system integrates mechanical and electronic components to automate compost mixing, aeration and monitoring. Key features include a motorized blade system, sensor-based feedback control and IoT-enabled remote monitoring via the Blynk app. The goal is to reduce composting time, minimize manual effort and produce nutrient-rich compost efficiently. </a:t>
            </a:r>
            <a:endParaRPr lang="en-IN" dirty="0">
              <a:solidFill>
                <a:schemeClr val="tx1"/>
              </a:solidFill>
            </a:endParaRPr>
          </a:p>
        </p:txBody>
      </p:sp>
      <p:sp>
        <p:nvSpPr>
          <p:cNvPr id="4" name="Date Placeholder 3">
            <a:extLst>
              <a:ext uri="{FF2B5EF4-FFF2-40B4-BE49-F238E27FC236}">
                <a16:creationId xmlns:a16="http://schemas.microsoft.com/office/drawing/2014/main" id="{C11DD538-B35E-02CB-7DAE-8C14D1ECC6FD}"/>
              </a:ext>
            </a:extLst>
          </p:cNvPr>
          <p:cNvSpPr>
            <a:spLocks noGrp="1"/>
          </p:cNvSpPr>
          <p:nvPr>
            <p:ph type="dt" idx="10"/>
          </p:nvPr>
        </p:nvSpPr>
        <p:spPr/>
        <p:txBody>
          <a:bodyPr/>
          <a:lstStyle/>
          <a:p>
            <a:r>
              <a:rPr lang="en-US" dirty="0"/>
              <a:t>03/12/2025</a:t>
            </a:r>
          </a:p>
        </p:txBody>
      </p:sp>
      <p:sp>
        <p:nvSpPr>
          <p:cNvPr id="5" name="Slide Number Placeholder 4">
            <a:extLst>
              <a:ext uri="{FF2B5EF4-FFF2-40B4-BE49-F238E27FC236}">
                <a16:creationId xmlns:a16="http://schemas.microsoft.com/office/drawing/2014/main" id="{31E6A51D-109E-A327-7E87-620DB014C5AA}"/>
              </a:ext>
            </a:extLst>
          </p:cNvPr>
          <p:cNvSpPr>
            <a:spLocks noGrp="1"/>
          </p:cNvSpPr>
          <p:nvPr>
            <p:ph type="sldNum" idx="12"/>
          </p:nvPr>
        </p:nvSpPr>
        <p:spPr/>
        <p:txBody>
          <a:bodyPr/>
          <a:lstStyle/>
          <a:p>
            <a:fld id="{00000000-1234-1234-1234-123412341234}" type="slidenum">
              <a:rPr lang="en-US" smtClean="0"/>
              <a:pPr/>
              <a:t>3</a:t>
            </a:fld>
            <a:endParaRPr lang="en-US"/>
          </a:p>
        </p:txBody>
      </p:sp>
    </p:spTree>
    <p:extLst>
      <p:ext uri="{BB962C8B-B14F-4D97-AF65-F5344CB8AC3E}">
        <p14:creationId xmlns:p14="http://schemas.microsoft.com/office/powerpoint/2010/main" val="29666902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65278" y="136478"/>
            <a:ext cx="8952931" cy="804096"/>
          </a:xfrm>
        </p:spPr>
        <p:txBody>
          <a:bodyPr>
            <a:normAutofit/>
          </a:bodyPr>
          <a:lstStyle/>
          <a:p>
            <a:r>
              <a:rPr lang="en-GB" sz="3400" b="1" dirty="0">
                <a:solidFill>
                  <a:srgbClr val="C00000"/>
                </a:solidFill>
                <a:latin typeface="Times New Roman" panose="02020603050405020304" pitchFamily="18" charset="0"/>
                <a:cs typeface="Times New Roman" panose="02020603050405020304" pitchFamily="18" charset="0"/>
              </a:rPr>
              <a:t>INTRODUCTION</a:t>
            </a:r>
          </a:p>
        </p:txBody>
      </p:sp>
      <p:sp>
        <p:nvSpPr>
          <p:cNvPr id="3" name="Text Placeholder 2"/>
          <p:cNvSpPr>
            <a:spLocks noGrp="1"/>
          </p:cNvSpPr>
          <p:nvPr>
            <p:ph type="body" idx="1"/>
          </p:nvPr>
        </p:nvSpPr>
        <p:spPr>
          <a:xfrm>
            <a:off x="417244" y="940574"/>
            <a:ext cx="12725937" cy="4736326"/>
          </a:xfrm>
        </p:spPr>
        <p:txBody>
          <a:bodyPr>
            <a:normAutofit fontScale="92500"/>
          </a:bodyPr>
          <a:lstStyle/>
          <a:p>
            <a:pPr marL="685800" indent="-457200">
              <a:lnSpc>
                <a:spcPct val="150000"/>
              </a:lnSpc>
              <a:buFont typeface="Arial" panose="020B0604020202020204" pitchFamily="34" charset="0"/>
              <a:buChar char="•"/>
            </a:pPr>
            <a:r>
              <a:rPr lang="en-US" dirty="0">
                <a:solidFill>
                  <a:schemeClr val="tx1"/>
                </a:solidFill>
                <a:latin typeface="Times New Roman" panose="02020603050405020304" pitchFamily="18" charset="0"/>
                <a:cs typeface="Times New Roman" panose="02020603050405020304" pitchFamily="18" charset="0"/>
              </a:rPr>
              <a:t>Organic waste accumulation is a growing concern in urban and semi-urban environments.</a:t>
            </a:r>
          </a:p>
          <a:p>
            <a:pPr marL="685800" indent="-457200">
              <a:lnSpc>
                <a:spcPct val="150000"/>
              </a:lnSpc>
              <a:buFont typeface="Arial" panose="020B0604020202020204" pitchFamily="34" charset="0"/>
              <a:buChar char="•"/>
            </a:pPr>
            <a:r>
              <a:rPr lang="en-US" dirty="0">
                <a:solidFill>
                  <a:schemeClr val="tx1"/>
                </a:solidFill>
                <a:latin typeface="Times New Roman" panose="02020603050405020304" pitchFamily="18" charset="0"/>
                <a:cs typeface="Times New Roman" panose="02020603050405020304" pitchFamily="18" charset="0"/>
              </a:rPr>
              <a:t> Traditional composting methods are time-consuming and require constant human intervention. </a:t>
            </a:r>
          </a:p>
          <a:p>
            <a:pPr marL="685800" indent="-457200">
              <a:lnSpc>
                <a:spcPct val="150000"/>
              </a:lnSpc>
              <a:buFont typeface="Arial" panose="020B0604020202020204" pitchFamily="34" charset="0"/>
              <a:buChar char="•"/>
            </a:pPr>
            <a:r>
              <a:rPr lang="en-US" dirty="0">
                <a:solidFill>
                  <a:schemeClr val="tx1"/>
                </a:solidFill>
                <a:latin typeface="Times New Roman" panose="02020603050405020304" pitchFamily="18" charset="0"/>
                <a:cs typeface="Times New Roman" panose="02020603050405020304" pitchFamily="18" charset="0"/>
              </a:rPr>
              <a:t>The Automatic Compost Bin aims to address these challenges by automating the composting process. </a:t>
            </a:r>
          </a:p>
          <a:p>
            <a:pPr marL="685800" indent="-457200">
              <a:lnSpc>
                <a:spcPct val="150000"/>
              </a:lnSpc>
              <a:buFont typeface="Arial" panose="020B0604020202020204" pitchFamily="34" charset="0"/>
              <a:buChar char="•"/>
            </a:pPr>
            <a:r>
              <a:rPr lang="en-US" dirty="0">
                <a:solidFill>
                  <a:schemeClr val="tx1"/>
                </a:solidFill>
                <a:latin typeface="Times New Roman" panose="02020603050405020304" pitchFamily="18" charset="0"/>
                <a:cs typeface="Times New Roman" panose="02020603050405020304" pitchFamily="18" charset="0"/>
              </a:rPr>
              <a:t>With integrated sensors, motorized mixing and remote monitoring, the system offers a smart, efficient and eco-friendly solution for decentralized waste management.</a:t>
            </a:r>
            <a:endParaRPr lang="en-GB" b="1" dirty="0">
              <a:solidFill>
                <a:schemeClr val="tx1"/>
              </a:solidFill>
              <a:latin typeface="Times New Roman" panose="02020603050405020304" pitchFamily="18" charset="0"/>
              <a:ea typeface="Open Sans" pitchFamily="34" charset="0"/>
              <a:cs typeface="Times New Roman" panose="02020603050405020304" pitchFamily="18" charset="0"/>
            </a:endParaRPr>
          </a:p>
        </p:txBody>
      </p:sp>
      <p:sp>
        <p:nvSpPr>
          <p:cNvPr id="11" name="Date Placeholder 10"/>
          <p:cNvSpPr>
            <a:spLocks noGrp="1"/>
          </p:cNvSpPr>
          <p:nvPr>
            <p:ph type="dt" idx="10"/>
          </p:nvPr>
        </p:nvSpPr>
        <p:spPr/>
        <p:txBody>
          <a:bodyPr/>
          <a:lstStyle/>
          <a:p>
            <a:r>
              <a:rPr lang="en-US" dirty="0"/>
              <a:t>03/12/2025</a:t>
            </a:r>
          </a:p>
        </p:txBody>
      </p:sp>
      <p:sp>
        <p:nvSpPr>
          <p:cNvPr id="10" name="Slide Number Placeholder 9"/>
          <p:cNvSpPr>
            <a:spLocks noGrp="1"/>
          </p:cNvSpPr>
          <p:nvPr>
            <p:ph type="sldNum" idx="12"/>
          </p:nvPr>
        </p:nvSpPr>
        <p:spPr/>
        <p:txBody>
          <a:bodyPr/>
          <a:lstStyle/>
          <a:p>
            <a:fld id="{00000000-1234-1234-1234-123412341234}" type="slidenum">
              <a:rPr lang="en-US" smtClean="0"/>
              <a:pPr/>
              <a:t>4</a:t>
            </a:fld>
            <a:endParaRPr lang="en-US"/>
          </a:p>
        </p:txBody>
      </p:sp>
    </p:spTree>
    <p:extLst>
      <p:ext uri="{BB962C8B-B14F-4D97-AF65-F5344CB8AC3E}">
        <p14:creationId xmlns:p14="http://schemas.microsoft.com/office/powerpoint/2010/main" val="3866264258"/>
      </p:ext>
    </p:extLst>
  </p:cSld>
  <p:clrMapOvr>
    <a:masterClrMapping/>
  </p:clrMapOvr>
  <p:transition spd="slow">
    <p:wip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600173-4632-B5DA-B47B-71AC391AF05C}"/>
              </a:ext>
            </a:extLst>
          </p:cNvPr>
          <p:cNvSpPr>
            <a:spLocks noGrp="1"/>
          </p:cNvSpPr>
          <p:nvPr>
            <p:ph type="title"/>
          </p:nvPr>
        </p:nvSpPr>
        <p:spPr>
          <a:xfrm>
            <a:off x="312933" y="274637"/>
            <a:ext cx="12934559" cy="977219"/>
          </a:xfrm>
        </p:spPr>
        <p:txBody>
          <a:bodyPr/>
          <a:lstStyle/>
          <a:p>
            <a:r>
              <a:rPr lang="en-IN" b="1" dirty="0">
                <a:latin typeface="Times New Roman" panose="02020603050405020304" pitchFamily="18" charset="0"/>
                <a:cs typeface="Times New Roman" panose="02020603050405020304" pitchFamily="18" charset="0"/>
              </a:rPr>
              <a:t>LITERATURE REVIEW</a:t>
            </a:r>
          </a:p>
        </p:txBody>
      </p:sp>
      <p:sp>
        <p:nvSpPr>
          <p:cNvPr id="4" name="Date Placeholder 3">
            <a:extLst>
              <a:ext uri="{FF2B5EF4-FFF2-40B4-BE49-F238E27FC236}">
                <a16:creationId xmlns:a16="http://schemas.microsoft.com/office/drawing/2014/main" id="{833BA6B0-CCC6-7E74-79C7-D5D880099C53}"/>
              </a:ext>
            </a:extLst>
          </p:cNvPr>
          <p:cNvSpPr>
            <a:spLocks noGrp="1"/>
          </p:cNvSpPr>
          <p:nvPr>
            <p:ph type="dt" idx="10"/>
          </p:nvPr>
        </p:nvSpPr>
        <p:spPr/>
        <p:txBody>
          <a:bodyPr/>
          <a:lstStyle/>
          <a:p>
            <a:r>
              <a:rPr lang="en-US" dirty="0"/>
              <a:t>03/12/2025</a:t>
            </a:r>
          </a:p>
        </p:txBody>
      </p:sp>
      <p:sp>
        <p:nvSpPr>
          <p:cNvPr id="5" name="Slide Number Placeholder 4">
            <a:extLst>
              <a:ext uri="{FF2B5EF4-FFF2-40B4-BE49-F238E27FC236}">
                <a16:creationId xmlns:a16="http://schemas.microsoft.com/office/drawing/2014/main" id="{73F3BA83-2EA7-6C6B-8C04-A036291037ED}"/>
              </a:ext>
            </a:extLst>
          </p:cNvPr>
          <p:cNvSpPr>
            <a:spLocks noGrp="1"/>
          </p:cNvSpPr>
          <p:nvPr>
            <p:ph type="sldNum" idx="12"/>
          </p:nvPr>
        </p:nvSpPr>
        <p:spPr/>
        <p:txBody>
          <a:bodyPr/>
          <a:lstStyle/>
          <a:p>
            <a:fld id="{00000000-1234-1234-1234-123412341234}" type="slidenum">
              <a:rPr lang="en-US" smtClean="0"/>
              <a:pPr/>
              <a:t>5</a:t>
            </a:fld>
            <a:endParaRPr lang="en-US"/>
          </a:p>
        </p:txBody>
      </p:sp>
      <p:graphicFrame>
        <p:nvGraphicFramePr>
          <p:cNvPr id="6" name="Table 5">
            <a:extLst>
              <a:ext uri="{FF2B5EF4-FFF2-40B4-BE49-F238E27FC236}">
                <a16:creationId xmlns:a16="http://schemas.microsoft.com/office/drawing/2014/main" id="{B59F58C7-487A-C73C-5E26-0AE8C1564252}"/>
              </a:ext>
            </a:extLst>
          </p:cNvPr>
          <p:cNvGraphicFramePr>
            <a:graphicFrameLocks noGrp="1"/>
          </p:cNvGraphicFramePr>
          <p:nvPr>
            <p:extLst>
              <p:ext uri="{D42A27DB-BD31-4B8C-83A1-F6EECF244321}">
                <p14:modId xmlns:p14="http://schemas.microsoft.com/office/powerpoint/2010/main" val="411275506"/>
              </p:ext>
            </p:extLst>
          </p:nvPr>
        </p:nvGraphicFramePr>
        <p:xfrm>
          <a:off x="895349" y="1314450"/>
          <a:ext cx="11612336" cy="4778994"/>
        </p:xfrm>
        <a:graphic>
          <a:graphicData uri="http://schemas.openxmlformats.org/drawingml/2006/table">
            <a:tbl>
              <a:tblPr firstRow="1" firstCol="1" bandRow="1"/>
              <a:tblGrid>
                <a:gridCol w="615525">
                  <a:extLst>
                    <a:ext uri="{9D8B030D-6E8A-4147-A177-3AD203B41FA5}">
                      <a16:colId xmlns:a16="http://schemas.microsoft.com/office/drawing/2014/main" val="2965436257"/>
                    </a:ext>
                  </a:extLst>
                </a:gridCol>
                <a:gridCol w="1451064">
                  <a:extLst>
                    <a:ext uri="{9D8B030D-6E8A-4147-A177-3AD203B41FA5}">
                      <a16:colId xmlns:a16="http://schemas.microsoft.com/office/drawing/2014/main" val="742294268"/>
                    </a:ext>
                  </a:extLst>
                </a:gridCol>
                <a:gridCol w="895312">
                  <a:extLst>
                    <a:ext uri="{9D8B030D-6E8A-4147-A177-3AD203B41FA5}">
                      <a16:colId xmlns:a16="http://schemas.microsoft.com/office/drawing/2014/main" val="625641553"/>
                    </a:ext>
                  </a:extLst>
                </a:gridCol>
                <a:gridCol w="2039884">
                  <a:extLst>
                    <a:ext uri="{9D8B030D-6E8A-4147-A177-3AD203B41FA5}">
                      <a16:colId xmlns:a16="http://schemas.microsoft.com/office/drawing/2014/main" val="2273655462"/>
                    </a:ext>
                  </a:extLst>
                </a:gridCol>
                <a:gridCol w="2212842">
                  <a:extLst>
                    <a:ext uri="{9D8B030D-6E8A-4147-A177-3AD203B41FA5}">
                      <a16:colId xmlns:a16="http://schemas.microsoft.com/office/drawing/2014/main" val="4193832418"/>
                    </a:ext>
                  </a:extLst>
                </a:gridCol>
                <a:gridCol w="2477368">
                  <a:extLst>
                    <a:ext uri="{9D8B030D-6E8A-4147-A177-3AD203B41FA5}">
                      <a16:colId xmlns:a16="http://schemas.microsoft.com/office/drawing/2014/main" val="216676152"/>
                    </a:ext>
                  </a:extLst>
                </a:gridCol>
                <a:gridCol w="1920341">
                  <a:extLst>
                    <a:ext uri="{9D8B030D-6E8A-4147-A177-3AD203B41FA5}">
                      <a16:colId xmlns:a16="http://schemas.microsoft.com/office/drawing/2014/main" val="1726290608"/>
                    </a:ext>
                  </a:extLst>
                </a:gridCol>
              </a:tblGrid>
              <a:tr h="995077">
                <a:tc>
                  <a:txBody>
                    <a:bodyPr/>
                    <a:lstStyle/>
                    <a:p>
                      <a:pPr algn="ctr">
                        <a:lnSpc>
                          <a:spcPct val="115000"/>
                        </a:lnSpc>
                        <a:spcAft>
                          <a:spcPts val="1000"/>
                        </a:spcAft>
                        <a:buNone/>
                      </a:pPr>
                      <a:r>
                        <a:rPr lang="en-US" sz="1800" dirty="0">
                          <a:effectLst/>
                          <a:latin typeface="Times New Roman" panose="02020603050405020304" pitchFamily="18" charset="0"/>
                          <a:ea typeface="MS Mincho" panose="02020609040205080304" pitchFamily="49" charset="-128"/>
                          <a:cs typeface="Times New Roman" panose="02020603050405020304" pitchFamily="18" charset="0"/>
                        </a:rPr>
                        <a:t>Sr. No</a:t>
                      </a:r>
                      <a:endParaRPr lang="en-IN" sz="18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1000"/>
                        </a:spcAft>
                        <a:buNone/>
                      </a:pPr>
                      <a:r>
                        <a:rPr lang="en-US" sz="1800" dirty="0">
                          <a:effectLst/>
                          <a:latin typeface="Times New Roman" panose="02020603050405020304" pitchFamily="18" charset="0"/>
                          <a:ea typeface="MS Mincho" panose="02020609040205080304" pitchFamily="49" charset="-128"/>
                          <a:cs typeface="Times New Roman" panose="02020603050405020304" pitchFamily="18" charset="0"/>
                        </a:rPr>
                        <a:t>Author(s)</a:t>
                      </a:r>
                      <a:endParaRPr lang="en-IN" sz="18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1000"/>
                        </a:spcAft>
                        <a:buNone/>
                      </a:pPr>
                      <a:r>
                        <a:rPr lang="en-US" sz="1800" dirty="0">
                          <a:effectLst/>
                          <a:latin typeface="Times New Roman" panose="02020603050405020304" pitchFamily="18" charset="0"/>
                          <a:ea typeface="MS Mincho" panose="02020609040205080304" pitchFamily="49" charset="-128"/>
                          <a:cs typeface="Times New Roman" panose="02020603050405020304" pitchFamily="18" charset="0"/>
                        </a:rPr>
                        <a:t>Year</a:t>
                      </a:r>
                      <a:endParaRPr lang="en-IN" sz="18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1000"/>
                        </a:spcAft>
                        <a:buNone/>
                      </a:pPr>
                      <a:r>
                        <a:rPr lang="en-US" sz="1800" dirty="0">
                          <a:effectLst/>
                          <a:latin typeface="Times New Roman" panose="02020603050405020304" pitchFamily="18" charset="0"/>
                          <a:ea typeface="MS Mincho" panose="02020609040205080304" pitchFamily="49" charset="-128"/>
                          <a:cs typeface="Times New Roman" panose="02020603050405020304" pitchFamily="18" charset="0"/>
                        </a:rPr>
                        <a:t>Title</a:t>
                      </a:r>
                      <a:endParaRPr lang="en-IN" sz="18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1000"/>
                        </a:spcAft>
                        <a:buNone/>
                      </a:pPr>
                      <a:r>
                        <a:rPr lang="en-US" sz="1800" b="0" dirty="0">
                          <a:effectLst/>
                          <a:latin typeface="Times New Roman" panose="02020603050405020304" pitchFamily="18" charset="0"/>
                          <a:ea typeface="MS Mincho" panose="02020609040205080304" pitchFamily="49" charset="-128"/>
                          <a:cs typeface="Times New Roman" panose="02020603050405020304" pitchFamily="18" charset="0"/>
                        </a:rPr>
                        <a:t>Source</a:t>
                      </a:r>
                      <a:endParaRPr lang="en-IN" sz="1800" b="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1000"/>
                        </a:spcAft>
                        <a:buNone/>
                      </a:pPr>
                      <a:r>
                        <a:rPr lang="en-US" sz="1800" dirty="0">
                          <a:effectLst/>
                          <a:latin typeface="Times New Roman" panose="02020603050405020304" pitchFamily="18" charset="0"/>
                          <a:ea typeface="MS Mincho" panose="02020609040205080304" pitchFamily="49" charset="-128"/>
                          <a:cs typeface="Times New Roman" panose="02020603050405020304" pitchFamily="18" charset="0"/>
                        </a:rPr>
                        <a:t>Method / Findings</a:t>
                      </a:r>
                      <a:endParaRPr lang="en-IN" sz="18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1000"/>
                        </a:spcAft>
                        <a:buNone/>
                      </a:pPr>
                      <a:r>
                        <a:rPr lang="en-US" sz="1800" dirty="0">
                          <a:effectLst/>
                          <a:latin typeface="Times New Roman" panose="02020603050405020304" pitchFamily="18" charset="0"/>
                          <a:ea typeface="MS Mincho" panose="02020609040205080304" pitchFamily="49" charset="-128"/>
                          <a:cs typeface="Times New Roman" panose="02020603050405020304" pitchFamily="18" charset="0"/>
                        </a:rPr>
                        <a:t>Contribution to Present Work</a:t>
                      </a:r>
                      <a:endParaRPr lang="en-IN" sz="18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773917291"/>
                  </a:ext>
                </a:extLst>
              </a:tr>
              <a:tr h="3783917">
                <a:tc>
                  <a:txBody>
                    <a:bodyPr/>
                    <a:lstStyle/>
                    <a:p>
                      <a:pPr>
                        <a:lnSpc>
                          <a:spcPct val="115000"/>
                        </a:lnSpc>
                        <a:spcAft>
                          <a:spcPts val="1000"/>
                        </a:spcAft>
                        <a:buNone/>
                      </a:pPr>
                      <a:r>
                        <a:rPr lang="en-US" sz="1800" dirty="0">
                          <a:effectLst/>
                          <a:latin typeface="Times New Roman" panose="02020603050405020304" pitchFamily="18" charset="0"/>
                          <a:ea typeface="MS Mincho" panose="02020609040205080304" pitchFamily="49" charset="-128"/>
                          <a:cs typeface="Times New Roman" panose="02020603050405020304" pitchFamily="18" charset="0"/>
                        </a:rPr>
                        <a:t>1</a:t>
                      </a:r>
                      <a:endParaRPr lang="en-IN" sz="18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buNone/>
                      </a:pPr>
                      <a:r>
                        <a:rPr lang="en-US" sz="1800" kern="50" dirty="0">
                          <a:effectLst/>
                          <a:latin typeface="Times New Roman" panose="02020603050405020304" pitchFamily="18" charset="0"/>
                          <a:ea typeface="DejaVu Sans"/>
                          <a:cs typeface="Times New Roman" panose="02020603050405020304" pitchFamily="18" charset="0"/>
                        </a:rPr>
                        <a:t>Jay Singh, Shiva Pujan Jaiswal, Vikas Singh Bhadoria, Niharika Varshney, Monika Jain</a:t>
                      </a:r>
                      <a:endParaRPr lang="en-IN" sz="1800" kern="50" dirty="0">
                        <a:effectLst/>
                        <a:latin typeface="Times New Roman" panose="02020603050405020304" pitchFamily="18" charset="0"/>
                        <a:ea typeface="DejaVu Sans"/>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1000"/>
                        </a:spcAft>
                        <a:buNone/>
                      </a:pPr>
                      <a:r>
                        <a:rPr lang="en-US" sz="1800" dirty="0">
                          <a:effectLst/>
                          <a:latin typeface="Times New Roman" panose="02020603050405020304" pitchFamily="18" charset="0"/>
                          <a:ea typeface="MS Mincho" panose="02020609040205080304" pitchFamily="49" charset="-128"/>
                          <a:cs typeface="Times New Roman" panose="02020603050405020304" pitchFamily="18" charset="0"/>
                        </a:rPr>
                        <a:t>2019</a:t>
                      </a:r>
                      <a:endParaRPr lang="en-IN" sz="18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buNone/>
                      </a:pPr>
                      <a:r>
                        <a:rPr lang="en-IN" sz="1800" kern="50" dirty="0">
                          <a:effectLst/>
                          <a:latin typeface="Times New Roman" panose="02020603050405020304" pitchFamily="18" charset="0"/>
                          <a:ea typeface="DejaVu Sans"/>
                          <a:cs typeface="Times New Roman" panose="02020603050405020304" pitchFamily="18" charset="0"/>
                        </a:rPr>
                        <a:t>Production of Bio-Gas and Organic Fertilizer Using Canteen and Kitchen Waste</a:t>
                      </a:r>
                    </a:p>
                    <a:p>
                      <a:pPr>
                        <a:buNone/>
                      </a:pPr>
                      <a:r>
                        <a:rPr lang="en-US" sz="2000" kern="50" dirty="0">
                          <a:effectLst/>
                          <a:latin typeface="Times New Roman" panose="02020603050405020304" pitchFamily="18" charset="0"/>
                          <a:ea typeface="DejaVu Sans"/>
                          <a:cs typeface="Times New Roman" panose="02020603050405020304" pitchFamily="18" charset="0"/>
                        </a:rPr>
                        <a:t> </a:t>
                      </a:r>
                      <a:endParaRPr lang="en-IN" sz="2000" kern="50" dirty="0">
                        <a:effectLst/>
                        <a:latin typeface="Times New Roman" panose="02020603050405020304" pitchFamily="18" charset="0"/>
                        <a:ea typeface="DejaVu Sans"/>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1000"/>
                        </a:spcAft>
                        <a:buNone/>
                      </a:pPr>
                      <a:r>
                        <a:rPr lang="en-US" sz="1800" b="0" dirty="0">
                          <a:latin typeface="Times New Roman" panose="02020603050405020304" pitchFamily="18" charset="0"/>
                          <a:cs typeface="Times New Roman" panose="02020603050405020304" pitchFamily="18" charset="0"/>
                        </a:rPr>
                        <a:t>2019 2nd International Conference on Power Energy, Environment and Intelligent Control (PEEIC), 2019.</a:t>
                      </a:r>
                      <a:endParaRPr lang="en-IN" sz="1800" b="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1000"/>
                        </a:spcAft>
                        <a:buNone/>
                      </a:pPr>
                      <a:r>
                        <a:rPr lang="en-US" sz="1800" dirty="0">
                          <a:latin typeface="Times New Roman" panose="02020603050405020304" pitchFamily="18" charset="0"/>
                          <a:cs typeface="Times New Roman" panose="02020603050405020304" pitchFamily="18" charset="0"/>
                        </a:rPr>
                        <a:t>This paper presents a method that uses canteen and kitchen waste to produce biogas and organic fertilizer. The process involves collecting food waste and converting it into energy and manure through anaerobic digestion.</a:t>
                      </a:r>
                      <a:endParaRPr lang="en-IN" sz="18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1000"/>
                        </a:spcAft>
                        <a:buNone/>
                      </a:pPr>
                      <a:r>
                        <a:rPr lang="en-US" sz="1800" dirty="0">
                          <a:latin typeface="Times New Roman" panose="02020603050405020304" pitchFamily="18" charset="0"/>
                          <a:cs typeface="Times New Roman" panose="02020603050405020304" pitchFamily="18" charset="0"/>
                        </a:rPr>
                        <a:t>It inspired the idea of transforming biodegradable waste into valuable products for a cleaner and more sustainable environment.</a:t>
                      </a:r>
                      <a:endParaRPr lang="en-IN" sz="18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652604048"/>
                  </a:ext>
                </a:extLst>
              </a:tr>
            </a:tbl>
          </a:graphicData>
        </a:graphic>
      </p:graphicFrame>
    </p:spTree>
    <p:extLst>
      <p:ext uri="{BB962C8B-B14F-4D97-AF65-F5344CB8AC3E}">
        <p14:creationId xmlns:p14="http://schemas.microsoft.com/office/powerpoint/2010/main" val="211004743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B64AE2-3DF3-0DD5-5049-92A6DDBE7EB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643C0A2-511E-A9C4-D784-DAC56AC45198}"/>
              </a:ext>
            </a:extLst>
          </p:cNvPr>
          <p:cNvSpPr>
            <a:spLocks noGrp="1"/>
          </p:cNvSpPr>
          <p:nvPr>
            <p:ph type="title"/>
          </p:nvPr>
        </p:nvSpPr>
        <p:spPr>
          <a:xfrm>
            <a:off x="312933" y="274637"/>
            <a:ext cx="12934559" cy="977219"/>
          </a:xfrm>
        </p:spPr>
        <p:txBody>
          <a:bodyPr/>
          <a:lstStyle/>
          <a:p>
            <a:r>
              <a:rPr lang="en-IN" b="1" dirty="0">
                <a:latin typeface="Times New Roman" panose="02020603050405020304" pitchFamily="18" charset="0"/>
                <a:cs typeface="Times New Roman" panose="02020603050405020304" pitchFamily="18" charset="0"/>
              </a:rPr>
              <a:t>LITERATURE REVIEW</a:t>
            </a:r>
          </a:p>
        </p:txBody>
      </p:sp>
      <p:sp>
        <p:nvSpPr>
          <p:cNvPr id="4" name="Date Placeholder 3">
            <a:extLst>
              <a:ext uri="{FF2B5EF4-FFF2-40B4-BE49-F238E27FC236}">
                <a16:creationId xmlns:a16="http://schemas.microsoft.com/office/drawing/2014/main" id="{29B9E95B-B0AB-74AA-4323-B30ADC617514}"/>
              </a:ext>
            </a:extLst>
          </p:cNvPr>
          <p:cNvSpPr>
            <a:spLocks noGrp="1"/>
          </p:cNvSpPr>
          <p:nvPr>
            <p:ph type="dt" idx="10"/>
          </p:nvPr>
        </p:nvSpPr>
        <p:spPr>
          <a:xfrm>
            <a:off x="294335" y="6308853"/>
            <a:ext cx="3164099" cy="365125"/>
          </a:xfrm>
        </p:spPr>
        <p:txBody>
          <a:bodyPr/>
          <a:lstStyle/>
          <a:p>
            <a:r>
              <a:rPr lang="en-US" dirty="0"/>
              <a:t>03/12/2025</a:t>
            </a:r>
          </a:p>
        </p:txBody>
      </p:sp>
      <p:sp>
        <p:nvSpPr>
          <p:cNvPr id="5" name="Slide Number Placeholder 4">
            <a:extLst>
              <a:ext uri="{FF2B5EF4-FFF2-40B4-BE49-F238E27FC236}">
                <a16:creationId xmlns:a16="http://schemas.microsoft.com/office/drawing/2014/main" id="{60C349F9-E00B-27E3-9738-698968ECD108}"/>
              </a:ext>
            </a:extLst>
          </p:cNvPr>
          <p:cNvSpPr>
            <a:spLocks noGrp="1"/>
          </p:cNvSpPr>
          <p:nvPr>
            <p:ph type="sldNum" idx="12"/>
          </p:nvPr>
        </p:nvSpPr>
        <p:spPr/>
        <p:txBody>
          <a:bodyPr/>
          <a:lstStyle/>
          <a:p>
            <a:fld id="{00000000-1234-1234-1234-123412341234}" type="slidenum">
              <a:rPr lang="en-US" smtClean="0"/>
              <a:pPr/>
              <a:t>6</a:t>
            </a:fld>
            <a:endParaRPr lang="en-US"/>
          </a:p>
        </p:txBody>
      </p:sp>
      <p:graphicFrame>
        <p:nvGraphicFramePr>
          <p:cNvPr id="6" name="Table 5">
            <a:extLst>
              <a:ext uri="{FF2B5EF4-FFF2-40B4-BE49-F238E27FC236}">
                <a16:creationId xmlns:a16="http://schemas.microsoft.com/office/drawing/2014/main" id="{06D18B1F-E841-58E3-0496-52B6D497067E}"/>
              </a:ext>
            </a:extLst>
          </p:cNvPr>
          <p:cNvGraphicFramePr>
            <a:graphicFrameLocks noGrp="1"/>
          </p:cNvGraphicFramePr>
          <p:nvPr>
            <p:extLst>
              <p:ext uri="{D42A27DB-BD31-4B8C-83A1-F6EECF244321}">
                <p14:modId xmlns:p14="http://schemas.microsoft.com/office/powerpoint/2010/main" val="1849527023"/>
              </p:ext>
            </p:extLst>
          </p:nvPr>
        </p:nvGraphicFramePr>
        <p:xfrm>
          <a:off x="1034142" y="1236617"/>
          <a:ext cx="11473543" cy="5032623"/>
        </p:xfrm>
        <a:graphic>
          <a:graphicData uri="http://schemas.openxmlformats.org/drawingml/2006/table">
            <a:tbl>
              <a:tblPr firstRow="1" firstCol="1" bandRow="1"/>
              <a:tblGrid>
                <a:gridCol w="608168">
                  <a:extLst>
                    <a:ext uri="{9D8B030D-6E8A-4147-A177-3AD203B41FA5}">
                      <a16:colId xmlns:a16="http://schemas.microsoft.com/office/drawing/2014/main" val="2965436257"/>
                    </a:ext>
                  </a:extLst>
                </a:gridCol>
                <a:gridCol w="1433721">
                  <a:extLst>
                    <a:ext uri="{9D8B030D-6E8A-4147-A177-3AD203B41FA5}">
                      <a16:colId xmlns:a16="http://schemas.microsoft.com/office/drawing/2014/main" val="742294268"/>
                    </a:ext>
                  </a:extLst>
                </a:gridCol>
                <a:gridCol w="884611">
                  <a:extLst>
                    <a:ext uri="{9D8B030D-6E8A-4147-A177-3AD203B41FA5}">
                      <a16:colId xmlns:a16="http://schemas.microsoft.com/office/drawing/2014/main" val="625641553"/>
                    </a:ext>
                  </a:extLst>
                </a:gridCol>
                <a:gridCol w="2015503">
                  <a:extLst>
                    <a:ext uri="{9D8B030D-6E8A-4147-A177-3AD203B41FA5}">
                      <a16:colId xmlns:a16="http://schemas.microsoft.com/office/drawing/2014/main" val="2273655462"/>
                    </a:ext>
                  </a:extLst>
                </a:gridCol>
                <a:gridCol w="2186394">
                  <a:extLst>
                    <a:ext uri="{9D8B030D-6E8A-4147-A177-3AD203B41FA5}">
                      <a16:colId xmlns:a16="http://schemas.microsoft.com/office/drawing/2014/main" val="4193832418"/>
                    </a:ext>
                  </a:extLst>
                </a:gridCol>
                <a:gridCol w="2447758">
                  <a:extLst>
                    <a:ext uri="{9D8B030D-6E8A-4147-A177-3AD203B41FA5}">
                      <a16:colId xmlns:a16="http://schemas.microsoft.com/office/drawing/2014/main" val="216676152"/>
                    </a:ext>
                  </a:extLst>
                </a:gridCol>
                <a:gridCol w="1897388">
                  <a:extLst>
                    <a:ext uri="{9D8B030D-6E8A-4147-A177-3AD203B41FA5}">
                      <a16:colId xmlns:a16="http://schemas.microsoft.com/office/drawing/2014/main" val="1726290608"/>
                    </a:ext>
                  </a:extLst>
                </a:gridCol>
              </a:tblGrid>
              <a:tr h="641344">
                <a:tc>
                  <a:txBody>
                    <a:bodyPr/>
                    <a:lstStyle/>
                    <a:p>
                      <a:pPr algn="ctr">
                        <a:lnSpc>
                          <a:spcPct val="115000"/>
                        </a:lnSpc>
                        <a:spcAft>
                          <a:spcPts val="1000"/>
                        </a:spcAft>
                        <a:buNone/>
                      </a:pPr>
                      <a:r>
                        <a:rPr lang="en-US" sz="1800" b="0" dirty="0">
                          <a:effectLst/>
                          <a:latin typeface="Times New Roman" panose="02020603050405020304" pitchFamily="18" charset="0"/>
                          <a:ea typeface="MS Mincho" panose="02020609040205080304" pitchFamily="49" charset="-128"/>
                          <a:cs typeface="Times New Roman" panose="02020603050405020304" pitchFamily="18" charset="0"/>
                        </a:rPr>
                        <a:t>Sr. No</a:t>
                      </a:r>
                      <a:endParaRPr lang="en-IN" sz="1800" b="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1000"/>
                        </a:spcAft>
                        <a:buNone/>
                      </a:pPr>
                      <a:r>
                        <a:rPr lang="en-US" sz="1800" b="0" dirty="0">
                          <a:effectLst/>
                          <a:latin typeface="Times New Roman" panose="02020603050405020304" pitchFamily="18" charset="0"/>
                          <a:ea typeface="MS Mincho" panose="02020609040205080304" pitchFamily="49" charset="-128"/>
                          <a:cs typeface="Times New Roman" panose="02020603050405020304" pitchFamily="18" charset="0"/>
                        </a:rPr>
                        <a:t>Author(s)</a:t>
                      </a:r>
                      <a:endParaRPr lang="en-IN" sz="1800" b="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1000"/>
                        </a:spcAft>
                        <a:buNone/>
                      </a:pPr>
                      <a:r>
                        <a:rPr lang="en-US" sz="1800" b="0" dirty="0">
                          <a:effectLst/>
                          <a:latin typeface="Times New Roman" panose="02020603050405020304" pitchFamily="18" charset="0"/>
                          <a:ea typeface="MS Mincho" panose="02020609040205080304" pitchFamily="49" charset="-128"/>
                          <a:cs typeface="Times New Roman" panose="02020603050405020304" pitchFamily="18" charset="0"/>
                        </a:rPr>
                        <a:t>Year</a:t>
                      </a:r>
                      <a:endParaRPr lang="en-IN" sz="1800" b="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1000"/>
                        </a:spcAft>
                        <a:buNone/>
                      </a:pPr>
                      <a:r>
                        <a:rPr lang="en-US" sz="1800" b="0" dirty="0">
                          <a:effectLst/>
                          <a:latin typeface="Times New Roman" panose="02020603050405020304" pitchFamily="18" charset="0"/>
                          <a:ea typeface="MS Mincho" panose="02020609040205080304" pitchFamily="49" charset="-128"/>
                          <a:cs typeface="Times New Roman" panose="02020603050405020304" pitchFamily="18" charset="0"/>
                        </a:rPr>
                        <a:t>Title</a:t>
                      </a:r>
                      <a:endParaRPr lang="en-IN" sz="1800" b="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1000"/>
                        </a:spcAft>
                        <a:buNone/>
                      </a:pPr>
                      <a:r>
                        <a:rPr lang="en-US" sz="1800" b="0" dirty="0">
                          <a:effectLst/>
                          <a:latin typeface="Times New Roman" panose="02020603050405020304" pitchFamily="18" charset="0"/>
                          <a:ea typeface="MS Mincho" panose="02020609040205080304" pitchFamily="49" charset="-128"/>
                          <a:cs typeface="Times New Roman" panose="02020603050405020304" pitchFamily="18" charset="0"/>
                        </a:rPr>
                        <a:t>Source</a:t>
                      </a:r>
                      <a:endParaRPr lang="en-IN" sz="1800" b="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1000"/>
                        </a:spcAft>
                        <a:buNone/>
                      </a:pPr>
                      <a:r>
                        <a:rPr lang="en-US" sz="1800" b="0" dirty="0">
                          <a:effectLst/>
                          <a:latin typeface="Times New Roman" panose="02020603050405020304" pitchFamily="18" charset="0"/>
                          <a:ea typeface="MS Mincho" panose="02020609040205080304" pitchFamily="49" charset="-128"/>
                          <a:cs typeface="Times New Roman" panose="02020603050405020304" pitchFamily="18" charset="0"/>
                        </a:rPr>
                        <a:t>Method / Findings</a:t>
                      </a:r>
                      <a:endParaRPr lang="en-IN" sz="1800" b="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1000"/>
                        </a:spcAft>
                        <a:buNone/>
                      </a:pPr>
                      <a:r>
                        <a:rPr lang="en-US" sz="1800" b="0" dirty="0">
                          <a:effectLst/>
                          <a:latin typeface="Times New Roman" panose="02020603050405020304" pitchFamily="18" charset="0"/>
                          <a:ea typeface="MS Mincho" panose="02020609040205080304" pitchFamily="49" charset="-128"/>
                          <a:cs typeface="Times New Roman" panose="02020603050405020304" pitchFamily="18" charset="0"/>
                        </a:rPr>
                        <a:t>Contribution to Present Work</a:t>
                      </a:r>
                      <a:endParaRPr lang="en-IN" sz="1800" b="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773917291"/>
                  </a:ext>
                </a:extLst>
              </a:tr>
              <a:tr h="3845544">
                <a:tc>
                  <a:txBody>
                    <a:bodyPr/>
                    <a:lstStyle/>
                    <a:p>
                      <a:pPr>
                        <a:lnSpc>
                          <a:spcPct val="115000"/>
                        </a:lnSpc>
                        <a:spcAft>
                          <a:spcPts val="1000"/>
                        </a:spcAft>
                        <a:buNone/>
                      </a:pPr>
                      <a:r>
                        <a:rPr lang="en-US" sz="1800" b="0" dirty="0">
                          <a:effectLst/>
                          <a:latin typeface="Times New Roman" panose="02020603050405020304" pitchFamily="18" charset="0"/>
                          <a:ea typeface="MS Mincho" panose="02020609040205080304" pitchFamily="49" charset="-128"/>
                          <a:cs typeface="Times New Roman" panose="02020603050405020304" pitchFamily="18" charset="0"/>
                        </a:rPr>
                        <a:t>2</a:t>
                      </a:r>
                      <a:endParaRPr lang="en-IN" sz="1800" b="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buNone/>
                      </a:pPr>
                      <a:r>
                        <a:rPr lang="en-US" sz="1800" b="0" i="0" u="none" strike="noStrike" cap="none" dirty="0">
                          <a:solidFill>
                            <a:schemeClr val="tx1"/>
                          </a:solidFill>
                          <a:effectLst/>
                          <a:latin typeface="Times New Roman" panose="02020603050405020304" pitchFamily="18" charset="0"/>
                          <a:ea typeface="+mn-ea"/>
                          <a:cs typeface="Times New Roman" panose="02020603050405020304" pitchFamily="18" charset="0"/>
                          <a:sym typeface="Arial"/>
                        </a:rPr>
                        <a:t>Rohit Bhoir, Rasika Thakur, Pooja Tambe, Rakesh Borase, Sushant Pawar.</a:t>
                      </a:r>
                      <a:endParaRPr lang="en-IN" sz="1800" b="0" kern="50" dirty="0">
                        <a:effectLst/>
                        <a:latin typeface="Times New Roman" panose="02020603050405020304" pitchFamily="18" charset="0"/>
                        <a:ea typeface="DejaVu Sans"/>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1000"/>
                        </a:spcAft>
                        <a:buNone/>
                      </a:pPr>
                      <a:r>
                        <a:rPr lang="en-US" sz="1800" b="0" dirty="0">
                          <a:effectLst/>
                          <a:latin typeface="Times New Roman" panose="02020603050405020304" pitchFamily="18" charset="0"/>
                          <a:ea typeface="MS Mincho" panose="02020609040205080304" pitchFamily="49" charset="-128"/>
                          <a:cs typeface="Times New Roman" panose="02020603050405020304" pitchFamily="18" charset="0"/>
                        </a:rPr>
                        <a:t>2020</a:t>
                      </a:r>
                      <a:endParaRPr lang="en-IN" sz="1800" b="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buNone/>
                      </a:pPr>
                      <a:r>
                        <a:rPr lang="en-US" sz="1800" b="0" i="0" u="none" strike="noStrike" cap="none" dirty="0">
                          <a:solidFill>
                            <a:schemeClr val="tx1"/>
                          </a:solidFill>
                          <a:effectLst/>
                          <a:latin typeface="Times New Roman" panose="02020603050405020304" pitchFamily="18" charset="0"/>
                          <a:ea typeface="+mn-ea"/>
                          <a:cs typeface="Times New Roman" panose="02020603050405020304" pitchFamily="18" charset="0"/>
                          <a:sym typeface="Arial"/>
                        </a:rPr>
                        <a:t>Design and Implementation of Smart Compost System Using IOT</a:t>
                      </a:r>
                      <a:r>
                        <a:rPr lang="en-US" sz="1800" b="0" kern="50" dirty="0">
                          <a:effectLst/>
                          <a:latin typeface="Times New Roman" panose="02020603050405020304" pitchFamily="18" charset="0"/>
                          <a:ea typeface="DejaVu Sans"/>
                          <a:cs typeface="Times New Roman" panose="02020603050405020304" pitchFamily="18" charset="0"/>
                        </a:rPr>
                        <a:t> </a:t>
                      </a:r>
                      <a:endParaRPr lang="en-IN" sz="1800" b="0" kern="50" dirty="0">
                        <a:effectLst/>
                        <a:latin typeface="Times New Roman" panose="02020603050405020304" pitchFamily="18" charset="0"/>
                        <a:ea typeface="DejaVu Sans"/>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1000"/>
                        </a:spcAft>
                        <a:buNone/>
                      </a:pPr>
                      <a:r>
                        <a:rPr lang="en-US" sz="1800" b="0" dirty="0">
                          <a:latin typeface="Times New Roman" panose="02020603050405020304" pitchFamily="18" charset="0"/>
                          <a:cs typeface="Times New Roman" panose="02020603050405020304" pitchFamily="18" charset="0"/>
                        </a:rPr>
                        <a:t>2019 2nd International Conference on Power Energy, Environment and Intelligent Control (PEEIC), 2019.</a:t>
                      </a:r>
                      <a:endParaRPr lang="en-IN" sz="1800" b="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1000"/>
                        </a:spcAft>
                        <a:buNone/>
                      </a:pPr>
                      <a:r>
                        <a:rPr lang="en-US" sz="1800" b="0" dirty="0">
                          <a:latin typeface="Times New Roman" panose="02020603050405020304" pitchFamily="18" charset="0"/>
                          <a:cs typeface="Times New Roman" panose="02020603050405020304" pitchFamily="18" charset="0"/>
                        </a:rPr>
                        <a:t>The research paper introduces a smart composting system that uses IoT-based sensors to monitor temperature, moisture</a:t>
                      </a:r>
                      <a:r>
                        <a:rPr lang="en-US" sz="1800" b="0" baseline="0" dirty="0">
                          <a:latin typeface="Times New Roman" panose="02020603050405020304" pitchFamily="18" charset="0"/>
                          <a:cs typeface="Times New Roman" panose="02020603050405020304" pitchFamily="18" charset="0"/>
                        </a:rPr>
                        <a:t> </a:t>
                      </a:r>
                      <a:r>
                        <a:rPr lang="en-US" sz="1800" b="0" dirty="0">
                          <a:latin typeface="Times New Roman" panose="02020603050405020304" pitchFamily="18" charset="0"/>
                          <a:cs typeface="Times New Roman" panose="02020603050405020304" pitchFamily="18" charset="0"/>
                        </a:rPr>
                        <a:t>and aeration inside the compost bin. The system automatically controls these parameters to maintain ideal composting conditions and ensure faster decomposition.</a:t>
                      </a:r>
                      <a:endParaRPr lang="en-IN" sz="1800" b="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1000"/>
                        </a:spcAft>
                        <a:buNone/>
                      </a:pPr>
                      <a:r>
                        <a:rPr lang="en-US" sz="1800" b="0" dirty="0">
                          <a:latin typeface="Times New Roman" panose="02020603050405020304" pitchFamily="18" charset="0"/>
                          <a:cs typeface="Times New Roman" panose="02020603050405020304" pitchFamily="18" charset="0"/>
                        </a:rPr>
                        <a:t>contributes to the present work by showing how IoT technology can be used to automate and improve composting efficiency. It inspired the idea of creating an automatic compost bin that provides real-time monitoring.</a:t>
                      </a:r>
                      <a:endParaRPr lang="en-IN" sz="1800" b="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652604048"/>
                  </a:ext>
                </a:extLst>
              </a:tr>
            </a:tbl>
          </a:graphicData>
        </a:graphic>
      </p:graphicFrame>
    </p:spTree>
    <p:extLst>
      <p:ext uri="{BB962C8B-B14F-4D97-AF65-F5344CB8AC3E}">
        <p14:creationId xmlns:p14="http://schemas.microsoft.com/office/powerpoint/2010/main" val="36082905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D4B4D2-E96C-DAB8-2AF6-C9E695C177C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672E92D-B10B-FE41-9469-2F6DD84D7ABE}"/>
              </a:ext>
            </a:extLst>
          </p:cNvPr>
          <p:cNvSpPr>
            <a:spLocks noGrp="1"/>
          </p:cNvSpPr>
          <p:nvPr>
            <p:ph type="title"/>
          </p:nvPr>
        </p:nvSpPr>
        <p:spPr>
          <a:xfrm>
            <a:off x="312933" y="274637"/>
            <a:ext cx="12934559" cy="977219"/>
          </a:xfrm>
        </p:spPr>
        <p:txBody>
          <a:bodyPr/>
          <a:lstStyle/>
          <a:p>
            <a:r>
              <a:rPr lang="en-IN" b="1" dirty="0">
                <a:latin typeface="Times New Roman" panose="02020603050405020304" pitchFamily="18" charset="0"/>
                <a:cs typeface="Times New Roman" panose="02020603050405020304" pitchFamily="18" charset="0"/>
              </a:rPr>
              <a:t>LITERATURE REVIEW</a:t>
            </a:r>
          </a:p>
        </p:txBody>
      </p:sp>
      <p:sp>
        <p:nvSpPr>
          <p:cNvPr id="4" name="Date Placeholder 3">
            <a:extLst>
              <a:ext uri="{FF2B5EF4-FFF2-40B4-BE49-F238E27FC236}">
                <a16:creationId xmlns:a16="http://schemas.microsoft.com/office/drawing/2014/main" id="{2C4EA22F-55A8-271C-21FC-76C56EACF73B}"/>
              </a:ext>
            </a:extLst>
          </p:cNvPr>
          <p:cNvSpPr>
            <a:spLocks noGrp="1"/>
          </p:cNvSpPr>
          <p:nvPr>
            <p:ph type="dt" idx="10"/>
          </p:nvPr>
        </p:nvSpPr>
        <p:spPr/>
        <p:txBody>
          <a:bodyPr/>
          <a:lstStyle/>
          <a:p>
            <a:r>
              <a:rPr lang="en-US" dirty="0"/>
              <a:t>03/12/2025</a:t>
            </a:r>
          </a:p>
        </p:txBody>
      </p:sp>
      <p:sp>
        <p:nvSpPr>
          <p:cNvPr id="5" name="Slide Number Placeholder 4">
            <a:extLst>
              <a:ext uri="{FF2B5EF4-FFF2-40B4-BE49-F238E27FC236}">
                <a16:creationId xmlns:a16="http://schemas.microsoft.com/office/drawing/2014/main" id="{BBADA48D-7820-9E01-7720-E6B6C4013323}"/>
              </a:ext>
            </a:extLst>
          </p:cNvPr>
          <p:cNvSpPr>
            <a:spLocks noGrp="1"/>
          </p:cNvSpPr>
          <p:nvPr>
            <p:ph type="sldNum" idx="12"/>
          </p:nvPr>
        </p:nvSpPr>
        <p:spPr/>
        <p:txBody>
          <a:bodyPr/>
          <a:lstStyle/>
          <a:p>
            <a:fld id="{00000000-1234-1234-1234-123412341234}" type="slidenum">
              <a:rPr lang="en-US" smtClean="0"/>
              <a:pPr/>
              <a:t>7</a:t>
            </a:fld>
            <a:endParaRPr lang="en-US"/>
          </a:p>
        </p:txBody>
      </p:sp>
      <p:graphicFrame>
        <p:nvGraphicFramePr>
          <p:cNvPr id="6" name="Table 5">
            <a:extLst>
              <a:ext uri="{FF2B5EF4-FFF2-40B4-BE49-F238E27FC236}">
                <a16:creationId xmlns:a16="http://schemas.microsoft.com/office/drawing/2014/main" id="{2592A3DE-751E-43EE-DEA2-7C4D046FCDDB}"/>
              </a:ext>
            </a:extLst>
          </p:cNvPr>
          <p:cNvGraphicFramePr>
            <a:graphicFrameLocks noGrp="1"/>
          </p:cNvGraphicFramePr>
          <p:nvPr>
            <p:extLst>
              <p:ext uri="{D42A27DB-BD31-4B8C-83A1-F6EECF244321}">
                <p14:modId xmlns:p14="http://schemas.microsoft.com/office/powerpoint/2010/main" val="2859958690"/>
              </p:ext>
            </p:extLst>
          </p:nvPr>
        </p:nvGraphicFramePr>
        <p:xfrm>
          <a:off x="1034142" y="1236617"/>
          <a:ext cx="11473543" cy="4832174"/>
        </p:xfrm>
        <a:graphic>
          <a:graphicData uri="http://schemas.openxmlformats.org/drawingml/2006/table">
            <a:tbl>
              <a:tblPr firstRow="1" firstCol="1" bandRow="1"/>
              <a:tblGrid>
                <a:gridCol w="608168">
                  <a:extLst>
                    <a:ext uri="{9D8B030D-6E8A-4147-A177-3AD203B41FA5}">
                      <a16:colId xmlns:a16="http://schemas.microsoft.com/office/drawing/2014/main" val="2965436257"/>
                    </a:ext>
                  </a:extLst>
                </a:gridCol>
                <a:gridCol w="1433721">
                  <a:extLst>
                    <a:ext uri="{9D8B030D-6E8A-4147-A177-3AD203B41FA5}">
                      <a16:colId xmlns:a16="http://schemas.microsoft.com/office/drawing/2014/main" val="742294268"/>
                    </a:ext>
                  </a:extLst>
                </a:gridCol>
                <a:gridCol w="884611">
                  <a:extLst>
                    <a:ext uri="{9D8B030D-6E8A-4147-A177-3AD203B41FA5}">
                      <a16:colId xmlns:a16="http://schemas.microsoft.com/office/drawing/2014/main" val="625641553"/>
                    </a:ext>
                  </a:extLst>
                </a:gridCol>
                <a:gridCol w="2015503">
                  <a:extLst>
                    <a:ext uri="{9D8B030D-6E8A-4147-A177-3AD203B41FA5}">
                      <a16:colId xmlns:a16="http://schemas.microsoft.com/office/drawing/2014/main" val="2273655462"/>
                    </a:ext>
                  </a:extLst>
                </a:gridCol>
                <a:gridCol w="2186394">
                  <a:extLst>
                    <a:ext uri="{9D8B030D-6E8A-4147-A177-3AD203B41FA5}">
                      <a16:colId xmlns:a16="http://schemas.microsoft.com/office/drawing/2014/main" val="4193832418"/>
                    </a:ext>
                  </a:extLst>
                </a:gridCol>
                <a:gridCol w="2447758">
                  <a:extLst>
                    <a:ext uri="{9D8B030D-6E8A-4147-A177-3AD203B41FA5}">
                      <a16:colId xmlns:a16="http://schemas.microsoft.com/office/drawing/2014/main" val="216676152"/>
                    </a:ext>
                  </a:extLst>
                </a:gridCol>
                <a:gridCol w="1897388">
                  <a:extLst>
                    <a:ext uri="{9D8B030D-6E8A-4147-A177-3AD203B41FA5}">
                      <a16:colId xmlns:a16="http://schemas.microsoft.com/office/drawing/2014/main" val="1726290608"/>
                    </a:ext>
                  </a:extLst>
                </a:gridCol>
              </a:tblGrid>
              <a:tr h="986630">
                <a:tc>
                  <a:txBody>
                    <a:bodyPr/>
                    <a:lstStyle/>
                    <a:p>
                      <a:pPr algn="ctr">
                        <a:lnSpc>
                          <a:spcPct val="115000"/>
                        </a:lnSpc>
                        <a:spcAft>
                          <a:spcPts val="1000"/>
                        </a:spcAft>
                        <a:buNone/>
                      </a:pPr>
                      <a:r>
                        <a:rPr lang="en-US" sz="1800" b="0" dirty="0">
                          <a:effectLst/>
                          <a:latin typeface="Times New Roman" panose="02020603050405020304" pitchFamily="18" charset="0"/>
                          <a:ea typeface="MS Mincho" panose="02020609040205080304" pitchFamily="49" charset="-128"/>
                          <a:cs typeface="Times New Roman" panose="02020603050405020304" pitchFamily="18" charset="0"/>
                        </a:rPr>
                        <a:t>Sr. No</a:t>
                      </a:r>
                      <a:endParaRPr lang="en-IN" sz="1800" b="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1000"/>
                        </a:spcAft>
                        <a:buNone/>
                      </a:pPr>
                      <a:r>
                        <a:rPr lang="en-US" sz="1800" b="0" dirty="0">
                          <a:effectLst/>
                          <a:latin typeface="Times New Roman" panose="02020603050405020304" pitchFamily="18" charset="0"/>
                          <a:ea typeface="MS Mincho" panose="02020609040205080304" pitchFamily="49" charset="-128"/>
                          <a:cs typeface="Times New Roman" panose="02020603050405020304" pitchFamily="18" charset="0"/>
                        </a:rPr>
                        <a:t>Author(s)</a:t>
                      </a:r>
                      <a:endParaRPr lang="en-IN" sz="1800" b="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1000"/>
                        </a:spcAft>
                        <a:buNone/>
                      </a:pPr>
                      <a:r>
                        <a:rPr lang="en-US" sz="1800" b="0" dirty="0">
                          <a:effectLst/>
                          <a:latin typeface="Times New Roman" panose="02020603050405020304" pitchFamily="18" charset="0"/>
                          <a:ea typeface="MS Mincho" panose="02020609040205080304" pitchFamily="49" charset="-128"/>
                          <a:cs typeface="Times New Roman" panose="02020603050405020304" pitchFamily="18" charset="0"/>
                        </a:rPr>
                        <a:t>Year</a:t>
                      </a:r>
                      <a:endParaRPr lang="en-IN" sz="1800" b="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1000"/>
                        </a:spcAft>
                        <a:buNone/>
                      </a:pPr>
                      <a:r>
                        <a:rPr lang="en-US" sz="1800" b="0" dirty="0">
                          <a:effectLst/>
                          <a:latin typeface="Times New Roman" panose="02020603050405020304" pitchFamily="18" charset="0"/>
                          <a:ea typeface="MS Mincho" panose="02020609040205080304" pitchFamily="49" charset="-128"/>
                          <a:cs typeface="Times New Roman" panose="02020603050405020304" pitchFamily="18" charset="0"/>
                        </a:rPr>
                        <a:t>Title</a:t>
                      </a:r>
                      <a:endParaRPr lang="en-IN" sz="1800" b="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1000"/>
                        </a:spcAft>
                        <a:buNone/>
                      </a:pPr>
                      <a:r>
                        <a:rPr lang="en-US" sz="1800" b="0" dirty="0">
                          <a:effectLst/>
                          <a:latin typeface="Times New Roman" panose="02020603050405020304" pitchFamily="18" charset="0"/>
                          <a:ea typeface="MS Mincho" panose="02020609040205080304" pitchFamily="49" charset="-128"/>
                          <a:cs typeface="Times New Roman" panose="02020603050405020304" pitchFamily="18" charset="0"/>
                        </a:rPr>
                        <a:t>Source</a:t>
                      </a:r>
                      <a:endParaRPr lang="en-IN" sz="1800" b="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1000"/>
                        </a:spcAft>
                        <a:buNone/>
                      </a:pPr>
                      <a:r>
                        <a:rPr lang="en-US" sz="1800" b="0" dirty="0">
                          <a:effectLst/>
                          <a:latin typeface="Times New Roman" panose="02020603050405020304" pitchFamily="18" charset="0"/>
                          <a:ea typeface="MS Mincho" panose="02020609040205080304" pitchFamily="49" charset="-128"/>
                          <a:cs typeface="Times New Roman" panose="02020603050405020304" pitchFamily="18" charset="0"/>
                        </a:rPr>
                        <a:t>Method / Findings</a:t>
                      </a:r>
                      <a:endParaRPr lang="en-IN" sz="1800" b="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1000"/>
                        </a:spcAft>
                        <a:buNone/>
                      </a:pPr>
                      <a:r>
                        <a:rPr lang="en-US" sz="1800" b="0" dirty="0">
                          <a:effectLst/>
                          <a:latin typeface="Times New Roman" panose="02020603050405020304" pitchFamily="18" charset="0"/>
                          <a:ea typeface="MS Mincho" panose="02020609040205080304" pitchFamily="49" charset="-128"/>
                          <a:cs typeface="Times New Roman" panose="02020603050405020304" pitchFamily="18" charset="0"/>
                        </a:rPr>
                        <a:t>Contribution to Present Work</a:t>
                      </a:r>
                      <a:endParaRPr lang="en-IN" sz="1800" b="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773917291"/>
                  </a:ext>
                </a:extLst>
              </a:tr>
              <a:tr h="3845544">
                <a:tc>
                  <a:txBody>
                    <a:bodyPr/>
                    <a:lstStyle/>
                    <a:p>
                      <a:pPr>
                        <a:lnSpc>
                          <a:spcPct val="115000"/>
                        </a:lnSpc>
                        <a:spcAft>
                          <a:spcPts val="1000"/>
                        </a:spcAft>
                        <a:buNone/>
                      </a:pPr>
                      <a:r>
                        <a:rPr lang="en-US" sz="1800" b="0" dirty="0">
                          <a:effectLst/>
                          <a:latin typeface="Times New Roman" panose="02020603050405020304" pitchFamily="18" charset="0"/>
                          <a:ea typeface="MS Mincho" panose="02020609040205080304" pitchFamily="49" charset="-128"/>
                          <a:cs typeface="Times New Roman" panose="02020603050405020304" pitchFamily="18" charset="0"/>
                        </a:rPr>
                        <a:t>3</a:t>
                      </a:r>
                      <a:endParaRPr lang="en-IN" sz="1800" b="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buNone/>
                      </a:pPr>
                      <a:r>
                        <a:rPr lang="en-US" sz="1800" b="0" i="0" u="none" strike="noStrike" cap="none" dirty="0">
                          <a:solidFill>
                            <a:schemeClr val="tx1"/>
                          </a:solidFill>
                          <a:effectLst/>
                          <a:latin typeface="Times New Roman" panose="02020603050405020304" pitchFamily="18" charset="0"/>
                          <a:ea typeface="+mn-ea"/>
                          <a:cs typeface="Times New Roman" panose="02020603050405020304" pitchFamily="18" charset="0"/>
                          <a:sym typeface="Arial"/>
                        </a:rPr>
                        <a:t>Tahseen Sayara, Rezq Basheer, Fatina Hawamde, Antoni Sánchez</a:t>
                      </a:r>
                      <a:endParaRPr lang="en-IN" sz="1800" b="0" kern="50" dirty="0">
                        <a:effectLst/>
                        <a:latin typeface="Times New Roman" panose="02020603050405020304" pitchFamily="18" charset="0"/>
                        <a:ea typeface="DejaVu Sans"/>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1000"/>
                        </a:spcAft>
                        <a:buNone/>
                      </a:pPr>
                      <a:r>
                        <a:rPr lang="en-US" sz="1800" b="0" dirty="0">
                          <a:effectLst/>
                          <a:latin typeface="Times New Roman" panose="02020603050405020304" pitchFamily="18" charset="0"/>
                          <a:ea typeface="MS Mincho" panose="02020609040205080304" pitchFamily="49" charset="-128"/>
                          <a:cs typeface="Times New Roman" panose="02020603050405020304" pitchFamily="18" charset="0"/>
                        </a:rPr>
                        <a:t>2020</a:t>
                      </a:r>
                      <a:endParaRPr lang="en-IN" sz="1800" b="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r>
                        <a:rPr lang="en-IN" sz="1800" b="0" i="0" u="none" strike="noStrike" cap="none" dirty="0">
                          <a:solidFill>
                            <a:schemeClr val="tx1"/>
                          </a:solidFill>
                          <a:effectLst/>
                          <a:latin typeface="Times New Roman" panose="02020603050405020304" pitchFamily="18" charset="0"/>
                          <a:ea typeface="+mn-ea"/>
                          <a:cs typeface="Times New Roman" panose="02020603050405020304" pitchFamily="18" charset="0"/>
                          <a:sym typeface="Arial"/>
                        </a:rPr>
                        <a:t>Recycling of Organic Wastes through Composting: Process Performance and Compost Application in Agriculture.</a:t>
                      </a:r>
                    </a:p>
                    <a:p>
                      <a:pPr>
                        <a:buNone/>
                      </a:pPr>
                      <a:r>
                        <a:rPr lang="en-US" sz="1800" b="0" kern="50" dirty="0">
                          <a:effectLst/>
                          <a:latin typeface="Times New Roman" panose="02020603050405020304" pitchFamily="18" charset="0"/>
                          <a:ea typeface="DejaVu Sans"/>
                          <a:cs typeface="Times New Roman" panose="02020603050405020304" pitchFamily="18" charset="0"/>
                        </a:rPr>
                        <a:t> </a:t>
                      </a:r>
                      <a:endParaRPr lang="en-IN" sz="1800" b="0" kern="50" dirty="0">
                        <a:effectLst/>
                        <a:latin typeface="Times New Roman" panose="02020603050405020304" pitchFamily="18" charset="0"/>
                        <a:ea typeface="DejaVu Sans"/>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1000"/>
                        </a:spcAft>
                        <a:buNone/>
                      </a:pPr>
                      <a:r>
                        <a:rPr lang="en-IN" sz="1800" b="0" i="0" dirty="0">
                          <a:latin typeface="Times New Roman" panose="02020603050405020304" pitchFamily="18" charset="0"/>
                          <a:cs typeface="Times New Roman" panose="02020603050405020304" pitchFamily="18" charset="0"/>
                        </a:rPr>
                        <a:t>Agronomy</a:t>
                      </a:r>
                      <a:r>
                        <a:rPr lang="en-IN" sz="1800" dirty="0">
                          <a:latin typeface="Times New Roman" panose="02020603050405020304" pitchFamily="18" charset="0"/>
                          <a:cs typeface="Times New Roman" panose="02020603050405020304" pitchFamily="18" charset="0"/>
                        </a:rPr>
                        <a:t>, Vol. 10, No. 11, Article 1838 ,November 2020</a:t>
                      </a:r>
                      <a:endParaRPr lang="en-IN" sz="1800" b="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1000"/>
                        </a:spcAft>
                        <a:buNone/>
                      </a:pPr>
                      <a:r>
                        <a:rPr lang="en-US" sz="1800" dirty="0">
                          <a:latin typeface="Times New Roman" panose="02020603050405020304" pitchFamily="18" charset="0"/>
                          <a:cs typeface="Times New Roman" panose="02020603050405020304" pitchFamily="18" charset="0"/>
                        </a:rPr>
                        <a:t>The paper explores guidelines for applying compost to crops and other agricultural uses, highlighting its effects on soil fertility, disease suppression and potential challenges associated with large-scale compost application.</a:t>
                      </a:r>
                      <a:endParaRPr lang="en-IN" sz="1800" b="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1000"/>
                        </a:spcAft>
                        <a:buNone/>
                      </a:pPr>
                      <a:r>
                        <a:rPr lang="en-US" sz="1800" dirty="0">
                          <a:latin typeface="Times New Roman" panose="02020603050405020304" pitchFamily="18" charset="0"/>
                          <a:cs typeface="Times New Roman" panose="02020603050405020304" pitchFamily="18" charset="0"/>
                        </a:rPr>
                        <a:t>This work contribute to the present work by emphasizing the importance of compost maturity and stability in producing high-quality compost.</a:t>
                      </a:r>
                      <a:endParaRPr lang="en-IN" sz="1800" b="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652604048"/>
                  </a:ext>
                </a:extLst>
              </a:tr>
            </a:tbl>
          </a:graphicData>
        </a:graphic>
      </p:graphicFrame>
    </p:spTree>
    <p:extLst>
      <p:ext uri="{BB962C8B-B14F-4D97-AF65-F5344CB8AC3E}">
        <p14:creationId xmlns:p14="http://schemas.microsoft.com/office/powerpoint/2010/main" val="11796432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76D203-1C7D-D72F-49A1-8B56153270D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C98E4D3-B7C6-4E52-F1C5-48A6DFBA93C9}"/>
              </a:ext>
            </a:extLst>
          </p:cNvPr>
          <p:cNvSpPr>
            <a:spLocks noGrp="1"/>
          </p:cNvSpPr>
          <p:nvPr>
            <p:ph type="title"/>
          </p:nvPr>
        </p:nvSpPr>
        <p:spPr>
          <a:xfrm>
            <a:off x="312933" y="274637"/>
            <a:ext cx="12934559" cy="977219"/>
          </a:xfrm>
        </p:spPr>
        <p:txBody>
          <a:bodyPr/>
          <a:lstStyle/>
          <a:p>
            <a:r>
              <a:rPr lang="en-IN" b="1" dirty="0">
                <a:latin typeface="Times New Roman" panose="02020603050405020304" pitchFamily="18" charset="0"/>
                <a:cs typeface="Times New Roman" panose="02020603050405020304" pitchFamily="18" charset="0"/>
              </a:rPr>
              <a:t>LITERATURE REVIEW</a:t>
            </a:r>
          </a:p>
        </p:txBody>
      </p:sp>
      <p:sp>
        <p:nvSpPr>
          <p:cNvPr id="4" name="Date Placeholder 3">
            <a:extLst>
              <a:ext uri="{FF2B5EF4-FFF2-40B4-BE49-F238E27FC236}">
                <a16:creationId xmlns:a16="http://schemas.microsoft.com/office/drawing/2014/main" id="{316A1C1B-25D5-0383-F6F7-C3DC17604BF6}"/>
              </a:ext>
            </a:extLst>
          </p:cNvPr>
          <p:cNvSpPr>
            <a:spLocks noGrp="1"/>
          </p:cNvSpPr>
          <p:nvPr>
            <p:ph type="dt" idx="10"/>
          </p:nvPr>
        </p:nvSpPr>
        <p:spPr/>
        <p:txBody>
          <a:bodyPr/>
          <a:lstStyle/>
          <a:p>
            <a:r>
              <a:rPr lang="en-US" dirty="0"/>
              <a:t>03/12/2025</a:t>
            </a:r>
          </a:p>
        </p:txBody>
      </p:sp>
      <p:sp>
        <p:nvSpPr>
          <p:cNvPr id="5" name="Slide Number Placeholder 4">
            <a:extLst>
              <a:ext uri="{FF2B5EF4-FFF2-40B4-BE49-F238E27FC236}">
                <a16:creationId xmlns:a16="http://schemas.microsoft.com/office/drawing/2014/main" id="{27B2C7BF-69FF-2866-A6FF-7E251489D1D1}"/>
              </a:ext>
            </a:extLst>
          </p:cNvPr>
          <p:cNvSpPr>
            <a:spLocks noGrp="1"/>
          </p:cNvSpPr>
          <p:nvPr>
            <p:ph type="sldNum" idx="12"/>
          </p:nvPr>
        </p:nvSpPr>
        <p:spPr/>
        <p:txBody>
          <a:bodyPr/>
          <a:lstStyle/>
          <a:p>
            <a:fld id="{00000000-1234-1234-1234-123412341234}" type="slidenum">
              <a:rPr lang="en-US" smtClean="0"/>
              <a:pPr/>
              <a:t>8</a:t>
            </a:fld>
            <a:endParaRPr lang="en-US"/>
          </a:p>
        </p:txBody>
      </p:sp>
      <p:graphicFrame>
        <p:nvGraphicFramePr>
          <p:cNvPr id="6" name="Table 5">
            <a:extLst>
              <a:ext uri="{FF2B5EF4-FFF2-40B4-BE49-F238E27FC236}">
                <a16:creationId xmlns:a16="http://schemas.microsoft.com/office/drawing/2014/main" id="{215B6FA5-501B-C1D6-FB9B-A6688A141526}"/>
              </a:ext>
            </a:extLst>
          </p:cNvPr>
          <p:cNvGraphicFramePr>
            <a:graphicFrameLocks noGrp="1"/>
          </p:cNvGraphicFramePr>
          <p:nvPr>
            <p:extLst>
              <p:ext uri="{D42A27DB-BD31-4B8C-83A1-F6EECF244321}">
                <p14:modId xmlns:p14="http://schemas.microsoft.com/office/powerpoint/2010/main" val="2190312876"/>
              </p:ext>
            </p:extLst>
          </p:nvPr>
        </p:nvGraphicFramePr>
        <p:xfrm>
          <a:off x="1034142" y="1236617"/>
          <a:ext cx="11473543" cy="4832174"/>
        </p:xfrm>
        <a:graphic>
          <a:graphicData uri="http://schemas.openxmlformats.org/drawingml/2006/table">
            <a:tbl>
              <a:tblPr firstRow="1" firstCol="1" bandRow="1"/>
              <a:tblGrid>
                <a:gridCol w="608168">
                  <a:extLst>
                    <a:ext uri="{9D8B030D-6E8A-4147-A177-3AD203B41FA5}">
                      <a16:colId xmlns:a16="http://schemas.microsoft.com/office/drawing/2014/main" val="2965436257"/>
                    </a:ext>
                  </a:extLst>
                </a:gridCol>
                <a:gridCol w="1386640">
                  <a:extLst>
                    <a:ext uri="{9D8B030D-6E8A-4147-A177-3AD203B41FA5}">
                      <a16:colId xmlns:a16="http://schemas.microsoft.com/office/drawing/2014/main" val="742294268"/>
                    </a:ext>
                  </a:extLst>
                </a:gridCol>
                <a:gridCol w="931692">
                  <a:extLst>
                    <a:ext uri="{9D8B030D-6E8A-4147-A177-3AD203B41FA5}">
                      <a16:colId xmlns:a16="http://schemas.microsoft.com/office/drawing/2014/main" val="625641553"/>
                    </a:ext>
                  </a:extLst>
                </a:gridCol>
                <a:gridCol w="2015503">
                  <a:extLst>
                    <a:ext uri="{9D8B030D-6E8A-4147-A177-3AD203B41FA5}">
                      <a16:colId xmlns:a16="http://schemas.microsoft.com/office/drawing/2014/main" val="2273655462"/>
                    </a:ext>
                  </a:extLst>
                </a:gridCol>
                <a:gridCol w="2186394">
                  <a:extLst>
                    <a:ext uri="{9D8B030D-6E8A-4147-A177-3AD203B41FA5}">
                      <a16:colId xmlns:a16="http://schemas.microsoft.com/office/drawing/2014/main" val="4193832418"/>
                    </a:ext>
                  </a:extLst>
                </a:gridCol>
                <a:gridCol w="2447758">
                  <a:extLst>
                    <a:ext uri="{9D8B030D-6E8A-4147-A177-3AD203B41FA5}">
                      <a16:colId xmlns:a16="http://schemas.microsoft.com/office/drawing/2014/main" val="216676152"/>
                    </a:ext>
                  </a:extLst>
                </a:gridCol>
                <a:gridCol w="1897388">
                  <a:extLst>
                    <a:ext uri="{9D8B030D-6E8A-4147-A177-3AD203B41FA5}">
                      <a16:colId xmlns:a16="http://schemas.microsoft.com/office/drawing/2014/main" val="1726290608"/>
                    </a:ext>
                  </a:extLst>
                </a:gridCol>
              </a:tblGrid>
              <a:tr h="986630">
                <a:tc>
                  <a:txBody>
                    <a:bodyPr/>
                    <a:lstStyle/>
                    <a:p>
                      <a:pPr algn="ctr">
                        <a:lnSpc>
                          <a:spcPct val="115000"/>
                        </a:lnSpc>
                        <a:spcAft>
                          <a:spcPts val="1000"/>
                        </a:spcAft>
                        <a:buNone/>
                      </a:pPr>
                      <a:r>
                        <a:rPr lang="en-US" sz="1800" b="0" dirty="0">
                          <a:effectLst/>
                          <a:latin typeface="Times New Roman" panose="02020603050405020304" pitchFamily="18" charset="0"/>
                          <a:ea typeface="MS Mincho" panose="02020609040205080304" pitchFamily="49" charset="-128"/>
                          <a:cs typeface="Times New Roman" panose="02020603050405020304" pitchFamily="18" charset="0"/>
                        </a:rPr>
                        <a:t>Sr. No</a:t>
                      </a:r>
                      <a:endParaRPr lang="en-IN" sz="1800" b="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1000"/>
                        </a:spcAft>
                        <a:buNone/>
                      </a:pPr>
                      <a:r>
                        <a:rPr lang="en-US" sz="1800" b="0" dirty="0">
                          <a:effectLst/>
                          <a:latin typeface="Times New Roman" panose="02020603050405020304" pitchFamily="18" charset="0"/>
                          <a:ea typeface="MS Mincho" panose="02020609040205080304" pitchFamily="49" charset="-128"/>
                          <a:cs typeface="Times New Roman" panose="02020603050405020304" pitchFamily="18" charset="0"/>
                        </a:rPr>
                        <a:t>Author(s)</a:t>
                      </a:r>
                      <a:endParaRPr lang="en-IN" sz="1800" b="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1000"/>
                        </a:spcAft>
                        <a:buNone/>
                      </a:pPr>
                      <a:r>
                        <a:rPr lang="en-US" sz="1800" b="0" dirty="0">
                          <a:effectLst/>
                          <a:latin typeface="Times New Roman" panose="02020603050405020304" pitchFamily="18" charset="0"/>
                          <a:ea typeface="MS Mincho" panose="02020609040205080304" pitchFamily="49" charset="-128"/>
                          <a:cs typeface="Times New Roman" panose="02020603050405020304" pitchFamily="18" charset="0"/>
                        </a:rPr>
                        <a:t>Year</a:t>
                      </a:r>
                      <a:endParaRPr lang="en-IN" sz="1800" b="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1000"/>
                        </a:spcAft>
                        <a:buNone/>
                      </a:pPr>
                      <a:r>
                        <a:rPr lang="en-US" sz="1800" b="0" dirty="0">
                          <a:effectLst/>
                          <a:latin typeface="Times New Roman" panose="02020603050405020304" pitchFamily="18" charset="0"/>
                          <a:ea typeface="MS Mincho" panose="02020609040205080304" pitchFamily="49" charset="-128"/>
                          <a:cs typeface="Times New Roman" panose="02020603050405020304" pitchFamily="18" charset="0"/>
                        </a:rPr>
                        <a:t>Title</a:t>
                      </a:r>
                      <a:endParaRPr lang="en-IN" sz="1800" b="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1000"/>
                        </a:spcAft>
                        <a:buNone/>
                      </a:pPr>
                      <a:r>
                        <a:rPr lang="en-US" sz="1800" b="0" dirty="0">
                          <a:effectLst/>
                          <a:latin typeface="Times New Roman" panose="02020603050405020304" pitchFamily="18" charset="0"/>
                          <a:ea typeface="MS Mincho" panose="02020609040205080304" pitchFamily="49" charset="-128"/>
                          <a:cs typeface="Times New Roman" panose="02020603050405020304" pitchFamily="18" charset="0"/>
                        </a:rPr>
                        <a:t>Source</a:t>
                      </a:r>
                      <a:endParaRPr lang="en-IN" sz="1800" b="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1000"/>
                        </a:spcAft>
                        <a:buNone/>
                      </a:pPr>
                      <a:r>
                        <a:rPr lang="en-US" sz="1800" b="0" dirty="0">
                          <a:effectLst/>
                          <a:latin typeface="Times New Roman" panose="02020603050405020304" pitchFamily="18" charset="0"/>
                          <a:ea typeface="MS Mincho" panose="02020609040205080304" pitchFamily="49" charset="-128"/>
                          <a:cs typeface="Times New Roman" panose="02020603050405020304" pitchFamily="18" charset="0"/>
                        </a:rPr>
                        <a:t>Method / Findings</a:t>
                      </a:r>
                      <a:endParaRPr lang="en-IN" sz="1800" b="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1000"/>
                        </a:spcAft>
                        <a:buNone/>
                      </a:pPr>
                      <a:r>
                        <a:rPr lang="en-US" sz="1800" b="0" dirty="0">
                          <a:effectLst/>
                          <a:latin typeface="Times New Roman" panose="02020603050405020304" pitchFamily="18" charset="0"/>
                          <a:ea typeface="MS Mincho" panose="02020609040205080304" pitchFamily="49" charset="-128"/>
                          <a:cs typeface="Times New Roman" panose="02020603050405020304" pitchFamily="18" charset="0"/>
                        </a:rPr>
                        <a:t>Contribution to Present Work</a:t>
                      </a:r>
                      <a:endParaRPr lang="en-IN" sz="1800" b="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773917291"/>
                  </a:ext>
                </a:extLst>
              </a:tr>
              <a:tr h="3845544">
                <a:tc>
                  <a:txBody>
                    <a:bodyPr/>
                    <a:lstStyle/>
                    <a:p>
                      <a:pPr>
                        <a:lnSpc>
                          <a:spcPct val="115000"/>
                        </a:lnSpc>
                        <a:spcAft>
                          <a:spcPts val="1000"/>
                        </a:spcAft>
                        <a:buNone/>
                      </a:pPr>
                      <a:r>
                        <a:rPr lang="en-US" sz="1800" b="0" dirty="0">
                          <a:effectLst/>
                          <a:latin typeface="Times New Roman" panose="02020603050405020304" pitchFamily="18" charset="0"/>
                          <a:ea typeface="MS Mincho" panose="02020609040205080304" pitchFamily="49" charset="-128"/>
                          <a:cs typeface="Times New Roman" panose="02020603050405020304" pitchFamily="18" charset="0"/>
                        </a:rPr>
                        <a:t>4</a:t>
                      </a:r>
                      <a:endParaRPr lang="en-IN" sz="1800" b="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r>
                        <a:rPr lang="en-US" sz="1800" b="0" i="0" u="none" strike="noStrike" cap="none" dirty="0">
                          <a:solidFill>
                            <a:schemeClr val="tx1"/>
                          </a:solidFill>
                          <a:effectLst/>
                          <a:latin typeface="Times New Roman" panose="02020603050405020304" pitchFamily="18" charset="0"/>
                          <a:ea typeface="+mn-ea"/>
                          <a:cs typeface="Times New Roman" panose="02020603050405020304" pitchFamily="18" charset="0"/>
                          <a:sym typeface="Arial"/>
                        </a:rPr>
                        <a:t>Sumit Badotra,</a:t>
                      </a:r>
                      <a:endParaRPr lang="en-IN" sz="1800" b="0" i="0" u="none" strike="noStrike" cap="none" dirty="0">
                        <a:solidFill>
                          <a:schemeClr val="tx1"/>
                        </a:solidFill>
                        <a:effectLst/>
                        <a:latin typeface="Times New Roman" panose="02020603050405020304" pitchFamily="18" charset="0"/>
                        <a:ea typeface="+mn-ea"/>
                        <a:cs typeface="Times New Roman" panose="02020603050405020304" pitchFamily="18" charset="0"/>
                        <a:sym typeface="Arial"/>
                      </a:endParaRPr>
                    </a:p>
                    <a:p>
                      <a:r>
                        <a:rPr lang="en-US" sz="1800" b="0" i="0" u="none" strike="noStrike" cap="none" dirty="0">
                          <a:solidFill>
                            <a:schemeClr val="tx1"/>
                          </a:solidFill>
                          <a:effectLst/>
                          <a:latin typeface="Times New Roman" panose="02020603050405020304" pitchFamily="18" charset="0"/>
                          <a:ea typeface="+mn-ea"/>
                          <a:cs typeface="Times New Roman" panose="02020603050405020304" pitchFamily="18" charset="0"/>
                          <a:sym typeface="Arial"/>
                        </a:rPr>
                        <a:t>Sarvesh Tanwar,</a:t>
                      </a:r>
                      <a:endParaRPr lang="en-IN" sz="1800" b="0" i="0" u="none" strike="noStrike" cap="none" dirty="0">
                        <a:solidFill>
                          <a:schemeClr val="tx1"/>
                        </a:solidFill>
                        <a:effectLst/>
                        <a:latin typeface="Times New Roman" panose="02020603050405020304" pitchFamily="18" charset="0"/>
                        <a:ea typeface="+mn-ea"/>
                        <a:cs typeface="Times New Roman" panose="02020603050405020304" pitchFamily="18" charset="0"/>
                        <a:sym typeface="Arial"/>
                      </a:endParaRPr>
                    </a:p>
                    <a:p>
                      <a:r>
                        <a:rPr lang="en-US" sz="1800" b="0" i="0" u="none" strike="noStrike" cap="none" dirty="0">
                          <a:solidFill>
                            <a:schemeClr val="tx1"/>
                          </a:solidFill>
                          <a:effectLst/>
                          <a:latin typeface="Times New Roman" panose="02020603050405020304" pitchFamily="18" charset="0"/>
                          <a:ea typeface="+mn-ea"/>
                          <a:cs typeface="Times New Roman" panose="02020603050405020304" pitchFamily="18" charset="0"/>
                          <a:sym typeface="Arial"/>
                        </a:rPr>
                        <a:t>AmitSundas,</a:t>
                      </a:r>
                      <a:endParaRPr lang="en-IN" sz="1800" b="0" i="0" u="none" strike="noStrike" cap="none" dirty="0">
                        <a:solidFill>
                          <a:schemeClr val="tx1"/>
                        </a:solidFill>
                        <a:effectLst/>
                        <a:latin typeface="Times New Roman" panose="02020603050405020304" pitchFamily="18" charset="0"/>
                        <a:ea typeface="+mn-ea"/>
                        <a:cs typeface="Times New Roman" panose="02020603050405020304" pitchFamily="18" charset="0"/>
                        <a:sym typeface="Arial"/>
                      </a:endParaRPr>
                    </a:p>
                    <a:p>
                      <a:r>
                        <a:rPr lang="en-US" sz="1800" b="0" i="0" u="none" strike="noStrike" cap="none" dirty="0">
                          <a:solidFill>
                            <a:schemeClr val="tx1"/>
                          </a:solidFill>
                          <a:effectLst/>
                          <a:latin typeface="Times New Roman" panose="02020603050405020304" pitchFamily="18" charset="0"/>
                          <a:ea typeface="+mn-ea"/>
                          <a:cs typeface="Times New Roman" panose="02020603050405020304" pitchFamily="18" charset="0"/>
                          <a:sym typeface="Arial"/>
                        </a:rPr>
                        <a:t>Pankaj Dhiman.</a:t>
                      </a:r>
                      <a:endParaRPr lang="en-IN" sz="1800" b="0" kern="50" dirty="0">
                        <a:effectLst/>
                        <a:latin typeface="Times New Roman" panose="02020603050405020304" pitchFamily="18" charset="0"/>
                        <a:ea typeface="DejaVu Sans"/>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1000"/>
                        </a:spcAft>
                        <a:buNone/>
                      </a:pPr>
                      <a:r>
                        <a:rPr lang="en-US" sz="1800" b="0" dirty="0">
                          <a:effectLst/>
                          <a:latin typeface="Times New Roman" panose="02020603050405020304" pitchFamily="18" charset="0"/>
                          <a:ea typeface="MS Mincho" panose="02020609040205080304" pitchFamily="49" charset="-128"/>
                          <a:cs typeface="Times New Roman" panose="02020603050405020304" pitchFamily="18" charset="0"/>
                        </a:rPr>
                        <a:t>2021</a:t>
                      </a:r>
                      <a:endParaRPr lang="en-IN" sz="1800" b="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buNone/>
                      </a:pPr>
                      <a:r>
                        <a:rPr lang="en-IN" sz="1800" b="0" i="0" u="none" strike="noStrike" cap="none" dirty="0">
                          <a:solidFill>
                            <a:schemeClr val="tx1"/>
                          </a:solidFill>
                          <a:effectLst/>
                          <a:latin typeface="Times New Roman" panose="02020603050405020304" pitchFamily="18" charset="0"/>
                          <a:ea typeface="+mn-ea"/>
                          <a:cs typeface="Times New Roman" panose="02020603050405020304" pitchFamily="18" charset="0"/>
                          <a:sym typeface="Arial"/>
                        </a:rPr>
                        <a:t>Smart Waste Segregation System Using IoT</a:t>
                      </a:r>
                      <a:br>
                        <a:rPr lang="en-IN" sz="1800" b="0" i="0" u="none" strike="noStrike" cap="none" dirty="0">
                          <a:solidFill>
                            <a:schemeClr val="tx1"/>
                          </a:solidFill>
                          <a:effectLst/>
                          <a:latin typeface="Times New Roman" panose="02020603050405020304" pitchFamily="18" charset="0"/>
                          <a:ea typeface="+mn-ea"/>
                          <a:cs typeface="Times New Roman" panose="02020603050405020304" pitchFamily="18" charset="0"/>
                          <a:sym typeface="Arial"/>
                        </a:rPr>
                      </a:br>
                      <a:r>
                        <a:rPr lang="en-US" sz="1800" b="0" kern="50" dirty="0">
                          <a:effectLst/>
                          <a:latin typeface="Times New Roman" panose="02020603050405020304" pitchFamily="18" charset="0"/>
                          <a:ea typeface="DejaVu Sans"/>
                          <a:cs typeface="Times New Roman" panose="02020603050405020304" pitchFamily="18" charset="0"/>
                        </a:rPr>
                        <a:t> </a:t>
                      </a:r>
                      <a:endParaRPr lang="en-IN" sz="1800" b="0" kern="50" dirty="0">
                        <a:effectLst/>
                        <a:latin typeface="Times New Roman" panose="02020603050405020304" pitchFamily="18" charset="0"/>
                        <a:ea typeface="DejaVu Sans"/>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1000"/>
                        </a:spcAft>
                        <a:buNone/>
                      </a:pPr>
                      <a:r>
                        <a:rPr lang="en-US" sz="1800" b="0" dirty="0">
                          <a:latin typeface="Times New Roman" panose="02020603050405020304" pitchFamily="18" charset="0"/>
                          <a:cs typeface="Times New Roman" panose="02020603050405020304" pitchFamily="18" charset="0"/>
                        </a:rPr>
                        <a:t>2021 IEEE International Conference for Innovation in Technology (INOCON), Bengaluru, India, Nov. 6–8, 2021.</a:t>
                      </a:r>
                      <a:endParaRPr lang="en-IN" sz="1800" b="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1000"/>
                        </a:spcAft>
                        <a:buNone/>
                      </a:pPr>
                      <a:r>
                        <a:rPr lang="en-US" sz="1800" b="0" dirty="0">
                          <a:latin typeface="Times New Roman" panose="02020603050405020304" pitchFamily="18" charset="0"/>
                          <a:cs typeface="Times New Roman" panose="02020603050405020304" pitchFamily="18" charset="0"/>
                        </a:rPr>
                        <a:t>This research focuses on developing a smart compost system using IoT technology. Sensors are used to measure key composting parameters such as temperature, moisture</a:t>
                      </a:r>
                      <a:r>
                        <a:rPr lang="en-US" sz="1800" b="0" baseline="0" dirty="0">
                          <a:latin typeface="Times New Roman" panose="02020603050405020304" pitchFamily="18" charset="0"/>
                          <a:cs typeface="Times New Roman" panose="02020603050405020304" pitchFamily="18" charset="0"/>
                        </a:rPr>
                        <a:t> </a:t>
                      </a:r>
                      <a:r>
                        <a:rPr lang="en-US" sz="1800" b="0" dirty="0">
                          <a:latin typeface="Times New Roman" panose="02020603050405020304" pitchFamily="18" charset="0"/>
                          <a:cs typeface="Times New Roman" panose="02020603050405020304" pitchFamily="18" charset="0"/>
                        </a:rPr>
                        <a:t>and aeration in real time.</a:t>
                      </a:r>
                      <a:endParaRPr lang="en-IN" sz="1800" b="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1000"/>
                        </a:spcAft>
                        <a:buNone/>
                      </a:pPr>
                      <a:r>
                        <a:rPr lang="en-US" sz="1800" b="0" dirty="0">
                          <a:latin typeface="Times New Roman" panose="02020603050405020304" pitchFamily="18" charset="0"/>
                          <a:cs typeface="Times New Roman" panose="02020603050405020304" pitchFamily="18" charset="0"/>
                        </a:rPr>
                        <a:t>The contribution of this work to the present study is the integration of IoT-based monitoring for maintaining ideal composting conditions.</a:t>
                      </a:r>
                      <a:endParaRPr lang="en-IN" sz="1800" b="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652604048"/>
                  </a:ext>
                </a:extLst>
              </a:tr>
            </a:tbl>
          </a:graphicData>
        </a:graphic>
      </p:graphicFrame>
    </p:spTree>
    <p:extLst>
      <p:ext uri="{BB962C8B-B14F-4D97-AF65-F5344CB8AC3E}">
        <p14:creationId xmlns:p14="http://schemas.microsoft.com/office/powerpoint/2010/main" val="148924028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8C272F-EAFE-D568-F71E-B5EAC2B6A14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87BE0BE-34D2-93FE-E58F-B38599D55B16}"/>
              </a:ext>
            </a:extLst>
          </p:cNvPr>
          <p:cNvSpPr>
            <a:spLocks noGrp="1"/>
          </p:cNvSpPr>
          <p:nvPr>
            <p:ph type="title"/>
          </p:nvPr>
        </p:nvSpPr>
        <p:spPr>
          <a:xfrm>
            <a:off x="312933" y="274637"/>
            <a:ext cx="12934559" cy="977219"/>
          </a:xfrm>
        </p:spPr>
        <p:txBody>
          <a:bodyPr/>
          <a:lstStyle/>
          <a:p>
            <a:r>
              <a:rPr lang="en-IN" b="1" dirty="0">
                <a:latin typeface="Times New Roman" panose="02020603050405020304" pitchFamily="18" charset="0"/>
                <a:cs typeface="Times New Roman" panose="02020603050405020304" pitchFamily="18" charset="0"/>
              </a:rPr>
              <a:t>LITERATURE REVIEW</a:t>
            </a:r>
          </a:p>
        </p:txBody>
      </p:sp>
      <p:sp>
        <p:nvSpPr>
          <p:cNvPr id="4" name="Date Placeholder 3">
            <a:extLst>
              <a:ext uri="{FF2B5EF4-FFF2-40B4-BE49-F238E27FC236}">
                <a16:creationId xmlns:a16="http://schemas.microsoft.com/office/drawing/2014/main" id="{4F14A64A-EAD3-9990-2B3B-D9D274AEE664}"/>
              </a:ext>
            </a:extLst>
          </p:cNvPr>
          <p:cNvSpPr>
            <a:spLocks noGrp="1"/>
          </p:cNvSpPr>
          <p:nvPr>
            <p:ph type="dt" idx="10"/>
          </p:nvPr>
        </p:nvSpPr>
        <p:spPr/>
        <p:txBody>
          <a:bodyPr/>
          <a:lstStyle/>
          <a:p>
            <a:r>
              <a:rPr lang="en-US" dirty="0"/>
              <a:t>03/12/2025</a:t>
            </a:r>
          </a:p>
        </p:txBody>
      </p:sp>
      <p:sp>
        <p:nvSpPr>
          <p:cNvPr id="5" name="Slide Number Placeholder 4">
            <a:extLst>
              <a:ext uri="{FF2B5EF4-FFF2-40B4-BE49-F238E27FC236}">
                <a16:creationId xmlns:a16="http://schemas.microsoft.com/office/drawing/2014/main" id="{4514B05A-6DCD-3049-A6C2-9F434D2AFE59}"/>
              </a:ext>
            </a:extLst>
          </p:cNvPr>
          <p:cNvSpPr>
            <a:spLocks noGrp="1"/>
          </p:cNvSpPr>
          <p:nvPr>
            <p:ph type="sldNum" idx="12"/>
          </p:nvPr>
        </p:nvSpPr>
        <p:spPr/>
        <p:txBody>
          <a:bodyPr/>
          <a:lstStyle/>
          <a:p>
            <a:fld id="{00000000-1234-1234-1234-123412341234}" type="slidenum">
              <a:rPr lang="en-US" smtClean="0"/>
              <a:pPr/>
              <a:t>9</a:t>
            </a:fld>
            <a:endParaRPr lang="en-US"/>
          </a:p>
        </p:txBody>
      </p:sp>
      <p:graphicFrame>
        <p:nvGraphicFramePr>
          <p:cNvPr id="6" name="Table 5">
            <a:extLst>
              <a:ext uri="{FF2B5EF4-FFF2-40B4-BE49-F238E27FC236}">
                <a16:creationId xmlns:a16="http://schemas.microsoft.com/office/drawing/2014/main" id="{0C0855B6-7F4B-5A59-BD35-DDA1F6D385E9}"/>
              </a:ext>
            </a:extLst>
          </p:cNvPr>
          <p:cNvGraphicFramePr>
            <a:graphicFrameLocks noGrp="1"/>
          </p:cNvGraphicFramePr>
          <p:nvPr>
            <p:extLst>
              <p:ext uri="{D42A27DB-BD31-4B8C-83A1-F6EECF244321}">
                <p14:modId xmlns:p14="http://schemas.microsoft.com/office/powerpoint/2010/main" val="3786219146"/>
              </p:ext>
            </p:extLst>
          </p:nvPr>
        </p:nvGraphicFramePr>
        <p:xfrm>
          <a:off x="1034142" y="1236617"/>
          <a:ext cx="11473543" cy="4832174"/>
        </p:xfrm>
        <a:graphic>
          <a:graphicData uri="http://schemas.openxmlformats.org/drawingml/2006/table">
            <a:tbl>
              <a:tblPr firstRow="1" firstCol="1" bandRow="1"/>
              <a:tblGrid>
                <a:gridCol w="608168">
                  <a:extLst>
                    <a:ext uri="{9D8B030D-6E8A-4147-A177-3AD203B41FA5}">
                      <a16:colId xmlns:a16="http://schemas.microsoft.com/office/drawing/2014/main" val="2965436257"/>
                    </a:ext>
                  </a:extLst>
                </a:gridCol>
                <a:gridCol w="1433721">
                  <a:extLst>
                    <a:ext uri="{9D8B030D-6E8A-4147-A177-3AD203B41FA5}">
                      <a16:colId xmlns:a16="http://schemas.microsoft.com/office/drawing/2014/main" val="742294268"/>
                    </a:ext>
                  </a:extLst>
                </a:gridCol>
                <a:gridCol w="884611">
                  <a:extLst>
                    <a:ext uri="{9D8B030D-6E8A-4147-A177-3AD203B41FA5}">
                      <a16:colId xmlns:a16="http://schemas.microsoft.com/office/drawing/2014/main" val="625641553"/>
                    </a:ext>
                  </a:extLst>
                </a:gridCol>
                <a:gridCol w="2015503">
                  <a:extLst>
                    <a:ext uri="{9D8B030D-6E8A-4147-A177-3AD203B41FA5}">
                      <a16:colId xmlns:a16="http://schemas.microsoft.com/office/drawing/2014/main" val="2273655462"/>
                    </a:ext>
                  </a:extLst>
                </a:gridCol>
                <a:gridCol w="2186394">
                  <a:extLst>
                    <a:ext uri="{9D8B030D-6E8A-4147-A177-3AD203B41FA5}">
                      <a16:colId xmlns:a16="http://schemas.microsoft.com/office/drawing/2014/main" val="4193832418"/>
                    </a:ext>
                  </a:extLst>
                </a:gridCol>
                <a:gridCol w="2447758">
                  <a:extLst>
                    <a:ext uri="{9D8B030D-6E8A-4147-A177-3AD203B41FA5}">
                      <a16:colId xmlns:a16="http://schemas.microsoft.com/office/drawing/2014/main" val="216676152"/>
                    </a:ext>
                  </a:extLst>
                </a:gridCol>
                <a:gridCol w="1897388">
                  <a:extLst>
                    <a:ext uri="{9D8B030D-6E8A-4147-A177-3AD203B41FA5}">
                      <a16:colId xmlns:a16="http://schemas.microsoft.com/office/drawing/2014/main" val="1726290608"/>
                    </a:ext>
                  </a:extLst>
                </a:gridCol>
              </a:tblGrid>
              <a:tr h="986630">
                <a:tc>
                  <a:txBody>
                    <a:bodyPr/>
                    <a:lstStyle/>
                    <a:p>
                      <a:pPr algn="ctr">
                        <a:lnSpc>
                          <a:spcPct val="115000"/>
                        </a:lnSpc>
                        <a:spcAft>
                          <a:spcPts val="1000"/>
                        </a:spcAft>
                        <a:buNone/>
                      </a:pPr>
                      <a:r>
                        <a:rPr lang="en-US" sz="1800" b="0" dirty="0">
                          <a:effectLst/>
                          <a:latin typeface="Times New Roman" panose="02020603050405020304" pitchFamily="18" charset="0"/>
                          <a:ea typeface="MS Mincho" panose="02020609040205080304" pitchFamily="49" charset="-128"/>
                          <a:cs typeface="Times New Roman" panose="02020603050405020304" pitchFamily="18" charset="0"/>
                        </a:rPr>
                        <a:t>Sr. No</a:t>
                      </a:r>
                      <a:endParaRPr lang="en-IN" sz="1800" b="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1000"/>
                        </a:spcAft>
                        <a:buNone/>
                      </a:pPr>
                      <a:r>
                        <a:rPr lang="en-US" sz="1800" b="0" dirty="0">
                          <a:effectLst/>
                          <a:latin typeface="Times New Roman" panose="02020603050405020304" pitchFamily="18" charset="0"/>
                          <a:ea typeface="MS Mincho" panose="02020609040205080304" pitchFamily="49" charset="-128"/>
                          <a:cs typeface="Times New Roman" panose="02020603050405020304" pitchFamily="18" charset="0"/>
                        </a:rPr>
                        <a:t>Author(s)</a:t>
                      </a:r>
                      <a:endParaRPr lang="en-IN" sz="1800" b="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1000"/>
                        </a:spcAft>
                        <a:buNone/>
                      </a:pPr>
                      <a:r>
                        <a:rPr lang="en-US" sz="1800" b="0" dirty="0">
                          <a:effectLst/>
                          <a:latin typeface="Times New Roman" panose="02020603050405020304" pitchFamily="18" charset="0"/>
                          <a:ea typeface="MS Mincho" panose="02020609040205080304" pitchFamily="49" charset="-128"/>
                          <a:cs typeface="Times New Roman" panose="02020603050405020304" pitchFamily="18" charset="0"/>
                        </a:rPr>
                        <a:t>Year</a:t>
                      </a:r>
                      <a:endParaRPr lang="en-IN" sz="1800" b="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1000"/>
                        </a:spcAft>
                        <a:buNone/>
                      </a:pPr>
                      <a:r>
                        <a:rPr lang="en-US" sz="1800" b="0" dirty="0">
                          <a:effectLst/>
                          <a:latin typeface="Times New Roman" panose="02020603050405020304" pitchFamily="18" charset="0"/>
                          <a:ea typeface="MS Mincho" panose="02020609040205080304" pitchFamily="49" charset="-128"/>
                          <a:cs typeface="Times New Roman" panose="02020603050405020304" pitchFamily="18" charset="0"/>
                        </a:rPr>
                        <a:t>Title</a:t>
                      </a:r>
                      <a:endParaRPr lang="en-IN" sz="1800" b="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1000"/>
                        </a:spcAft>
                        <a:buNone/>
                      </a:pPr>
                      <a:r>
                        <a:rPr lang="en-US" sz="1800" b="0" dirty="0">
                          <a:effectLst/>
                          <a:latin typeface="Times New Roman" panose="02020603050405020304" pitchFamily="18" charset="0"/>
                          <a:ea typeface="MS Mincho" panose="02020609040205080304" pitchFamily="49" charset="-128"/>
                          <a:cs typeface="Times New Roman" panose="02020603050405020304" pitchFamily="18" charset="0"/>
                        </a:rPr>
                        <a:t>Source</a:t>
                      </a:r>
                      <a:endParaRPr lang="en-IN" sz="1800" b="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1000"/>
                        </a:spcAft>
                        <a:buNone/>
                      </a:pPr>
                      <a:r>
                        <a:rPr lang="en-US" sz="1800" b="0">
                          <a:effectLst/>
                          <a:latin typeface="Times New Roman" panose="02020603050405020304" pitchFamily="18" charset="0"/>
                          <a:ea typeface="MS Mincho" panose="02020609040205080304" pitchFamily="49" charset="-128"/>
                          <a:cs typeface="Times New Roman" panose="02020603050405020304" pitchFamily="18" charset="0"/>
                        </a:rPr>
                        <a:t>Method / Findings</a:t>
                      </a:r>
                      <a:endParaRPr lang="en-IN" sz="1800" b="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1000"/>
                        </a:spcAft>
                        <a:buNone/>
                      </a:pPr>
                      <a:r>
                        <a:rPr lang="en-US" sz="1800" b="0" dirty="0">
                          <a:effectLst/>
                          <a:latin typeface="Times New Roman" panose="02020603050405020304" pitchFamily="18" charset="0"/>
                          <a:ea typeface="MS Mincho" panose="02020609040205080304" pitchFamily="49" charset="-128"/>
                          <a:cs typeface="Times New Roman" panose="02020603050405020304" pitchFamily="18" charset="0"/>
                        </a:rPr>
                        <a:t>Contribution to Present Work</a:t>
                      </a:r>
                      <a:endParaRPr lang="en-IN" sz="1800" b="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773917291"/>
                  </a:ext>
                </a:extLst>
              </a:tr>
              <a:tr h="3845544">
                <a:tc>
                  <a:txBody>
                    <a:bodyPr/>
                    <a:lstStyle/>
                    <a:p>
                      <a:pPr>
                        <a:lnSpc>
                          <a:spcPct val="115000"/>
                        </a:lnSpc>
                        <a:spcAft>
                          <a:spcPts val="1000"/>
                        </a:spcAft>
                        <a:buNone/>
                      </a:pPr>
                      <a:r>
                        <a:rPr lang="en-US" sz="1800" b="0" dirty="0">
                          <a:effectLst/>
                          <a:latin typeface="Times New Roman" panose="02020603050405020304" pitchFamily="18" charset="0"/>
                          <a:ea typeface="MS Mincho" panose="02020609040205080304" pitchFamily="49" charset="-128"/>
                          <a:cs typeface="Times New Roman" panose="02020603050405020304" pitchFamily="18" charset="0"/>
                        </a:rPr>
                        <a:t>5</a:t>
                      </a:r>
                      <a:endParaRPr lang="en-IN" sz="1800" b="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r>
                        <a:rPr lang="en-US" sz="1800" b="0" i="0" u="none" strike="noStrike" cap="none" dirty="0">
                          <a:solidFill>
                            <a:schemeClr val="tx1"/>
                          </a:solidFill>
                          <a:effectLst/>
                          <a:latin typeface="Times New Roman" panose="02020603050405020304" pitchFamily="18" charset="0"/>
                          <a:ea typeface="+mn-ea"/>
                          <a:cs typeface="Times New Roman" panose="02020603050405020304" pitchFamily="18" charset="0"/>
                          <a:sym typeface="Arial"/>
                        </a:rPr>
                        <a:t>Mrigank Goel</a:t>
                      </a:r>
                      <a:endParaRPr lang="en-IN" sz="1800" b="0" i="0" u="none" strike="noStrike" cap="none" dirty="0">
                        <a:solidFill>
                          <a:schemeClr val="tx1"/>
                        </a:solidFill>
                        <a:effectLst/>
                        <a:latin typeface="Times New Roman" panose="02020603050405020304" pitchFamily="18" charset="0"/>
                        <a:ea typeface="+mn-ea"/>
                        <a:cs typeface="Times New Roman" panose="02020603050405020304" pitchFamily="18" charset="0"/>
                        <a:sym typeface="Arial"/>
                      </a:endParaRPr>
                    </a:p>
                    <a:p>
                      <a:r>
                        <a:rPr lang="en-US" sz="1800" b="0" i="0" u="none" strike="noStrike" cap="none" dirty="0">
                          <a:solidFill>
                            <a:schemeClr val="tx1"/>
                          </a:solidFill>
                          <a:effectLst/>
                          <a:latin typeface="Times New Roman" panose="02020603050405020304" pitchFamily="18" charset="0"/>
                          <a:ea typeface="+mn-ea"/>
                          <a:cs typeface="Times New Roman" panose="02020603050405020304" pitchFamily="18" charset="0"/>
                          <a:sym typeface="Arial"/>
                        </a:rPr>
                        <a:t>Amogh Harsh Goyal Preeti Dhiman, Vikas Deep, Purushottam Sharma, Vinod Kumar Shukla</a:t>
                      </a:r>
                      <a:endParaRPr lang="en-IN" sz="1800" b="0" kern="50" dirty="0">
                        <a:effectLst/>
                        <a:latin typeface="Times New Roman" panose="02020603050405020304" pitchFamily="18" charset="0"/>
                        <a:ea typeface="DejaVu Sans"/>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1000"/>
                        </a:spcAft>
                        <a:buNone/>
                      </a:pPr>
                      <a:r>
                        <a:rPr lang="en-US" sz="1800" b="0" dirty="0">
                          <a:effectLst/>
                          <a:latin typeface="Times New Roman" panose="02020603050405020304" pitchFamily="18" charset="0"/>
                          <a:ea typeface="MS Mincho" panose="02020609040205080304" pitchFamily="49" charset="-128"/>
                          <a:cs typeface="Times New Roman" panose="02020603050405020304" pitchFamily="18" charset="0"/>
                        </a:rPr>
                        <a:t>2021</a:t>
                      </a:r>
                      <a:endParaRPr lang="en-IN" sz="1800" b="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buNone/>
                      </a:pPr>
                      <a:r>
                        <a:rPr lang="en-US" sz="1800" b="0" i="0" u="none" strike="noStrike" cap="none" dirty="0">
                          <a:solidFill>
                            <a:schemeClr val="tx1"/>
                          </a:solidFill>
                          <a:effectLst/>
                          <a:latin typeface="Times New Roman" panose="02020603050405020304" pitchFamily="18" charset="0"/>
                          <a:ea typeface="+mn-ea"/>
                          <a:cs typeface="Times New Roman" panose="02020603050405020304" pitchFamily="18" charset="0"/>
                          <a:sym typeface="Arial"/>
                        </a:rPr>
                        <a:t>Smart Garbage Segregator and IoT Based Waste Collection system</a:t>
                      </a:r>
                      <a:r>
                        <a:rPr lang="en-US" sz="1800" b="0" kern="50" dirty="0">
                          <a:effectLst/>
                          <a:latin typeface="Times New Roman" panose="02020603050405020304" pitchFamily="18" charset="0"/>
                          <a:ea typeface="DejaVu Sans"/>
                          <a:cs typeface="Times New Roman" panose="02020603050405020304" pitchFamily="18" charset="0"/>
                        </a:rPr>
                        <a:t> </a:t>
                      </a:r>
                      <a:endParaRPr lang="en-IN" sz="1800" b="0" kern="50" dirty="0">
                        <a:effectLst/>
                        <a:latin typeface="Times New Roman" panose="02020603050405020304" pitchFamily="18" charset="0"/>
                        <a:ea typeface="DejaVu Sans"/>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1000"/>
                        </a:spcAft>
                        <a:buNone/>
                      </a:pPr>
                      <a:r>
                        <a:rPr lang="en-US" sz="1800" b="0" dirty="0">
                          <a:latin typeface="Times New Roman" panose="02020603050405020304" pitchFamily="18" charset="0"/>
                          <a:cs typeface="Times New Roman" panose="02020603050405020304" pitchFamily="18" charset="0"/>
                        </a:rPr>
                        <a:t>2021 International Conference on Advance Computing and Innovative Technologies in Engineering (ICACITE), Greater Noida, India, 2021.</a:t>
                      </a:r>
                      <a:endParaRPr lang="en-IN" sz="1800" b="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1000"/>
                        </a:spcAft>
                        <a:buNone/>
                      </a:pPr>
                      <a:r>
                        <a:rPr lang="en-US" sz="1800" b="0" dirty="0">
                          <a:latin typeface="Times New Roman" panose="02020603050405020304" pitchFamily="18" charset="0"/>
                          <a:cs typeface="Times New Roman" panose="02020603050405020304" pitchFamily="18" charset="0"/>
                        </a:rPr>
                        <a:t>This paper presents an IoT-based waste management system that automatically segregates waste into wet, dry</a:t>
                      </a:r>
                      <a:r>
                        <a:rPr lang="en-US" sz="1800" b="0" baseline="0" dirty="0">
                          <a:latin typeface="Times New Roman" panose="02020603050405020304" pitchFamily="18" charset="0"/>
                          <a:cs typeface="Times New Roman" panose="02020603050405020304" pitchFamily="18" charset="0"/>
                        </a:rPr>
                        <a:t> </a:t>
                      </a:r>
                      <a:r>
                        <a:rPr lang="en-US" sz="1800" b="0" dirty="0">
                          <a:latin typeface="Times New Roman" panose="02020603050405020304" pitchFamily="18" charset="0"/>
                          <a:cs typeface="Times New Roman" panose="02020603050405020304" pitchFamily="18" charset="0"/>
                        </a:rPr>
                        <a:t>and recyclable categories using sensors. It also uses an ultrasonic sensor to detect the fill level of bins and sends alerts to a central server when bins are full.</a:t>
                      </a:r>
                      <a:endParaRPr lang="en-IN" sz="1800" b="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1000"/>
                        </a:spcAft>
                        <a:buNone/>
                      </a:pPr>
                      <a:r>
                        <a:rPr lang="en-US" sz="1800" b="0" dirty="0">
                          <a:latin typeface="Times New Roman" panose="02020603050405020304" pitchFamily="18" charset="0"/>
                          <a:cs typeface="Times New Roman" panose="02020603050405020304" pitchFamily="18" charset="0"/>
                        </a:rPr>
                        <a:t>This inspired the idea of using smart monitoring and alert systems in the automatic compost bin to improve convenience and management efficiency.</a:t>
                      </a:r>
                      <a:endParaRPr lang="en-IN" sz="1800" b="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652604048"/>
                  </a:ext>
                </a:extLst>
              </a:tr>
            </a:tbl>
          </a:graphicData>
        </a:graphic>
      </p:graphicFrame>
    </p:spTree>
    <p:extLst>
      <p:ext uri="{BB962C8B-B14F-4D97-AF65-F5344CB8AC3E}">
        <p14:creationId xmlns:p14="http://schemas.microsoft.com/office/powerpoint/2010/main" val="416574257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FE38AB-8298-CAE2-8BBF-77325CAD159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DEC9AFC-D1B8-EAAC-63C8-F86162FEF38E}"/>
              </a:ext>
            </a:extLst>
          </p:cNvPr>
          <p:cNvSpPr>
            <a:spLocks noGrp="1"/>
          </p:cNvSpPr>
          <p:nvPr>
            <p:ph type="title"/>
          </p:nvPr>
        </p:nvSpPr>
        <p:spPr>
          <a:xfrm>
            <a:off x="312933" y="274637"/>
            <a:ext cx="12934559" cy="977219"/>
          </a:xfrm>
        </p:spPr>
        <p:txBody>
          <a:bodyPr/>
          <a:lstStyle/>
          <a:p>
            <a:r>
              <a:rPr lang="en-IN" b="1" dirty="0">
                <a:latin typeface="Times New Roman" panose="02020603050405020304" pitchFamily="18" charset="0"/>
                <a:cs typeface="Times New Roman" panose="02020603050405020304" pitchFamily="18" charset="0"/>
              </a:rPr>
              <a:t>LITERATURE REVIEW</a:t>
            </a:r>
          </a:p>
        </p:txBody>
      </p:sp>
      <p:sp>
        <p:nvSpPr>
          <p:cNvPr id="4" name="Date Placeholder 3">
            <a:extLst>
              <a:ext uri="{FF2B5EF4-FFF2-40B4-BE49-F238E27FC236}">
                <a16:creationId xmlns:a16="http://schemas.microsoft.com/office/drawing/2014/main" id="{628226FD-60C7-0CDF-B2F9-882FDD744F12}"/>
              </a:ext>
            </a:extLst>
          </p:cNvPr>
          <p:cNvSpPr>
            <a:spLocks noGrp="1"/>
          </p:cNvSpPr>
          <p:nvPr>
            <p:ph type="dt" idx="10"/>
          </p:nvPr>
        </p:nvSpPr>
        <p:spPr/>
        <p:txBody>
          <a:bodyPr/>
          <a:lstStyle/>
          <a:p>
            <a:r>
              <a:rPr lang="en-US" dirty="0"/>
              <a:t>03/12/2025</a:t>
            </a:r>
          </a:p>
        </p:txBody>
      </p:sp>
      <p:sp>
        <p:nvSpPr>
          <p:cNvPr id="5" name="Slide Number Placeholder 4">
            <a:extLst>
              <a:ext uri="{FF2B5EF4-FFF2-40B4-BE49-F238E27FC236}">
                <a16:creationId xmlns:a16="http://schemas.microsoft.com/office/drawing/2014/main" id="{921EA9A4-E2F8-6043-7276-3C770242C798}"/>
              </a:ext>
            </a:extLst>
          </p:cNvPr>
          <p:cNvSpPr>
            <a:spLocks noGrp="1"/>
          </p:cNvSpPr>
          <p:nvPr>
            <p:ph type="sldNum" idx="12"/>
          </p:nvPr>
        </p:nvSpPr>
        <p:spPr/>
        <p:txBody>
          <a:bodyPr/>
          <a:lstStyle/>
          <a:p>
            <a:fld id="{00000000-1234-1234-1234-123412341234}" type="slidenum">
              <a:rPr lang="en-US" smtClean="0"/>
              <a:pPr/>
              <a:t>10</a:t>
            </a:fld>
            <a:endParaRPr lang="en-US"/>
          </a:p>
        </p:txBody>
      </p:sp>
      <p:graphicFrame>
        <p:nvGraphicFramePr>
          <p:cNvPr id="6" name="Table 5">
            <a:extLst>
              <a:ext uri="{FF2B5EF4-FFF2-40B4-BE49-F238E27FC236}">
                <a16:creationId xmlns:a16="http://schemas.microsoft.com/office/drawing/2014/main" id="{AE0D6E59-FFE4-D8B6-82D3-3C9E3979174D}"/>
              </a:ext>
            </a:extLst>
          </p:cNvPr>
          <p:cNvGraphicFramePr>
            <a:graphicFrameLocks noGrp="1"/>
          </p:cNvGraphicFramePr>
          <p:nvPr>
            <p:extLst>
              <p:ext uri="{D42A27DB-BD31-4B8C-83A1-F6EECF244321}">
                <p14:modId xmlns:p14="http://schemas.microsoft.com/office/powerpoint/2010/main" val="1319778723"/>
              </p:ext>
            </p:extLst>
          </p:nvPr>
        </p:nvGraphicFramePr>
        <p:xfrm>
          <a:off x="1034142" y="1236617"/>
          <a:ext cx="11473543" cy="5062441"/>
        </p:xfrm>
        <a:graphic>
          <a:graphicData uri="http://schemas.openxmlformats.org/drawingml/2006/table">
            <a:tbl>
              <a:tblPr firstRow="1" firstCol="1" bandRow="1"/>
              <a:tblGrid>
                <a:gridCol w="608168">
                  <a:extLst>
                    <a:ext uri="{9D8B030D-6E8A-4147-A177-3AD203B41FA5}">
                      <a16:colId xmlns:a16="http://schemas.microsoft.com/office/drawing/2014/main" val="2965436257"/>
                    </a:ext>
                  </a:extLst>
                </a:gridCol>
                <a:gridCol w="1433721">
                  <a:extLst>
                    <a:ext uri="{9D8B030D-6E8A-4147-A177-3AD203B41FA5}">
                      <a16:colId xmlns:a16="http://schemas.microsoft.com/office/drawing/2014/main" val="742294268"/>
                    </a:ext>
                  </a:extLst>
                </a:gridCol>
                <a:gridCol w="884611">
                  <a:extLst>
                    <a:ext uri="{9D8B030D-6E8A-4147-A177-3AD203B41FA5}">
                      <a16:colId xmlns:a16="http://schemas.microsoft.com/office/drawing/2014/main" val="625641553"/>
                    </a:ext>
                  </a:extLst>
                </a:gridCol>
                <a:gridCol w="2015503">
                  <a:extLst>
                    <a:ext uri="{9D8B030D-6E8A-4147-A177-3AD203B41FA5}">
                      <a16:colId xmlns:a16="http://schemas.microsoft.com/office/drawing/2014/main" val="2273655462"/>
                    </a:ext>
                  </a:extLst>
                </a:gridCol>
                <a:gridCol w="2186394">
                  <a:extLst>
                    <a:ext uri="{9D8B030D-6E8A-4147-A177-3AD203B41FA5}">
                      <a16:colId xmlns:a16="http://schemas.microsoft.com/office/drawing/2014/main" val="4193832418"/>
                    </a:ext>
                  </a:extLst>
                </a:gridCol>
                <a:gridCol w="2447758">
                  <a:extLst>
                    <a:ext uri="{9D8B030D-6E8A-4147-A177-3AD203B41FA5}">
                      <a16:colId xmlns:a16="http://schemas.microsoft.com/office/drawing/2014/main" val="216676152"/>
                    </a:ext>
                  </a:extLst>
                </a:gridCol>
                <a:gridCol w="1897388">
                  <a:extLst>
                    <a:ext uri="{9D8B030D-6E8A-4147-A177-3AD203B41FA5}">
                      <a16:colId xmlns:a16="http://schemas.microsoft.com/office/drawing/2014/main" val="1726290608"/>
                    </a:ext>
                  </a:extLst>
                </a:gridCol>
              </a:tblGrid>
              <a:tr h="986630">
                <a:tc>
                  <a:txBody>
                    <a:bodyPr/>
                    <a:lstStyle/>
                    <a:p>
                      <a:pPr algn="ctr">
                        <a:lnSpc>
                          <a:spcPct val="115000"/>
                        </a:lnSpc>
                        <a:spcAft>
                          <a:spcPts val="1000"/>
                        </a:spcAft>
                        <a:buNone/>
                      </a:pPr>
                      <a:r>
                        <a:rPr lang="en-US" sz="1800" dirty="0">
                          <a:effectLst/>
                          <a:latin typeface="Times New Roman" panose="02020603050405020304" pitchFamily="18" charset="0"/>
                          <a:ea typeface="MS Mincho" panose="02020609040205080304" pitchFamily="49" charset="-128"/>
                          <a:cs typeface="Times New Roman" panose="02020603050405020304" pitchFamily="18" charset="0"/>
                        </a:rPr>
                        <a:t>Sr. No</a:t>
                      </a:r>
                      <a:endParaRPr lang="en-IN" sz="18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1000"/>
                        </a:spcAft>
                        <a:buNone/>
                      </a:pPr>
                      <a:r>
                        <a:rPr lang="en-US" sz="1800" dirty="0">
                          <a:effectLst/>
                          <a:latin typeface="Times New Roman" panose="02020603050405020304" pitchFamily="18" charset="0"/>
                          <a:ea typeface="MS Mincho" panose="02020609040205080304" pitchFamily="49" charset="-128"/>
                          <a:cs typeface="Times New Roman" panose="02020603050405020304" pitchFamily="18" charset="0"/>
                        </a:rPr>
                        <a:t>Author(s)</a:t>
                      </a:r>
                      <a:endParaRPr lang="en-IN" sz="18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1000"/>
                        </a:spcAft>
                        <a:buNone/>
                      </a:pPr>
                      <a:r>
                        <a:rPr lang="en-US" sz="1800" dirty="0">
                          <a:effectLst/>
                          <a:latin typeface="Times New Roman" panose="02020603050405020304" pitchFamily="18" charset="0"/>
                          <a:ea typeface="MS Mincho" panose="02020609040205080304" pitchFamily="49" charset="-128"/>
                          <a:cs typeface="Times New Roman" panose="02020603050405020304" pitchFamily="18" charset="0"/>
                        </a:rPr>
                        <a:t>Year</a:t>
                      </a:r>
                      <a:endParaRPr lang="en-IN" sz="18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1000"/>
                        </a:spcAft>
                        <a:buNone/>
                      </a:pPr>
                      <a:r>
                        <a:rPr lang="en-US" sz="1800" dirty="0">
                          <a:effectLst/>
                          <a:latin typeface="Times New Roman" panose="02020603050405020304" pitchFamily="18" charset="0"/>
                          <a:ea typeface="MS Mincho" panose="02020609040205080304" pitchFamily="49" charset="-128"/>
                          <a:cs typeface="Times New Roman" panose="02020603050405020304" pitchFamily="18" charset="0"/>
                        </a:rPr>
                        <a:t>Title</a:t>
                      </a:r>
                      <a:endParaRPr lang="en-IN" sz="18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1000"/>
                        </a:spcAft>
                        <a:buNone/>
                      </a:pPr>
                      <a:r>
                        <a:rPr lang="en-US" sz="1800" dirty="0">
                          <a:effectLst/>
                          <a:latin typeface="Times New Roman" panose="02020603050405020304" pitchFamily="18" charset="0"/>
                          <a:ea typeface="MS Mincho" panose="02020609040205080304" pitchFamily="49" charset="-128"/>
                          <a:cs typeface="Times New Roman" panose="02020603050405020304" pitchFamily="18" charset="0"/>
                        </a:rPr>
                        <a:t>Source</a:t>
                      </a:r>
                      <a:endParaRPr lang="en-IN" sz="18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1000"/>
                        </a:spcAft>
                        <a:buNone/>
                      </a:pPr>
                      <a:r>
                        <a:rPr lang="en-US" sz="1800">
                          <a:effectLst/>
                          <a:latin typeface="Times New Roman" panose="02020603050405020304" pitchFamily="18" charset="0"/>
                          <a:ea typeface="MS Mincho" panose="02020609040205080304" pitchFamily="49" charset="-128"/>
                          <a:cs typeface="Times New Roman" panose="02020603050405020304" pitchFamily="18" charset="0"/>
                        </a:rPr>
                        <a:t>Method / Findings</a:t>
                      </a:r>
                      <a:endParaRPr lang="en-IN" sz="18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1000"/>
                        </a:spcAft>
                        <a:buNone/>
                      </a:pPr>
                      <a:r>
                        <a:rPr lang="en-US" sz="1800" dirty="0">
                          <a:effectLst/>
                          <a:latin typeface="Times New Roman" panose="02020603050405020304" pitchFamily="18" charset="0"/>
                          <a:ea typeface="MS Mincho" panose="02020609040205080304" pitchFamily="49" charset="-128"/>
                          <a:cs typeface="Times New Roman" panose="02020603050405020304" pitchFamily="18" charset="0"/>
                        </a:rPr>
                        <a:t>Contribution to Present Work</a:t>
                      </a:r>
                      <a:endParaRPr lang="en-IN" sz="18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773917291"/>
                  </a:ext>
                </a:extLst>
              </a:tr>
              <a:tr h="3845544">
                <a:tc>
                  <a:txBody>
                    <a:bodyPr/>
                    <a:lstStyle/>
                    <a:p>
                      <a:pPr>
                        <a:lnSpc>
                          <a:spcPct val="115000"/>
                        </a:lnSpc>
                        <a:spcAft>
                          <a:spcPts val="1000"/>
                        </a:spcAft>
                        <a:buNone/>
                      </a:pPr>
                      <a:r>
                        <a:rPr lang="en-US" sz="1800" dirty="0">
                          <a:effectLst/>
                          <a:latin typeface="Times New Roman" panose="02020603050405020304" pitchFamily="18" charset="0"/>
                          <a:ea typeface="MS Mincho" panose="02020609040205080304" pitchFamily="49" charset="-128"/>
                          <a:cs typeface="Times New Roman" panose="02020603050405020304" pitchFamily="18" charset="0"/>
                        </a:rPr>
                        <a:t>6</a:t>
                      </a:r>
                      <a:endParaRPr lang="en-IN" sz="18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buNone/>
                      </a:pPr>
                      <a:r>
                        <a:rPr lang="en-US" sz="1800" b="0" i="0" u="none" strike="noStrike" cap="none" dirty="0">
                          <a:solidFill>
                            <a:schemeClr val="tx1"/>
                          </a:solidFill>
                          <a:effectLst/>
                          <a:latin typeface="Times New Roman" panose="02020603050405020304" pitchFamily="18" charset="0"/>
                          <a:ea typeface="+mn-ea"/>
                          <a:cs typeface="Times New Roman" panose="02020603050405020304" pitchFamily="18" charset="0"/>
                          <a:sym typeface="Arial"/>
                        </a:rPr>
                        <a:t>Meng Li, Fei Li, Jun Zhou, Qingbin Yuan, Nan Hu</a:t>
                      </a:r>
                      <a:endParaRPr lang="en-IN" sz="1800" kern="50" dirty="0">
                        <a:effectLst/>
                        <a:latin typeface="Times New Roman" panose="02020603050405020304" pitchFamily="18" charset="0"/>
                        <a:ea typeface="DejaVu Sans"/>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1000"/>
                        </a:spcAft>
                        <a:buNone/>
                      </a:pPr>
                      <a:r>
                        <a:rPr lang="en-US" sz="1800" dirty="0">
                          <a:effectLst/>
                          <a:latin typeface="Times New Roman" panose="02020603050405020304" pitchFamily="18" charset="0"/>
                          <a:ea typeface="MS Mincho" panose="02020609040205080304" pitchFamily="49" charset="-128"/>
                          <a:cs typeface="Times New Roman" panose="02020603050405020304" pitchFamily="18" charset="0"/>
                        </a:rPr>
                        <a:t>2022</a:t>
                      </a:r>
                      <a:endParaRPr lang="en-IN" sz="18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buNone/>
                      </a:pPr>
                      <a:r>
                        <a:rPr lang="en-US" sz="1800" b="0" i="0" u="none" strike="noStrike" cap="none" dirty="0">
                          <a:solidFill>
                            <a:schemeClr val="tx1"/>
                          </a:solidFill>
                          <a:effectLst/>
                          <a:latin typeface="Times New Roman" panose="02020603050405020304" pitchFamily="18" charset="0"/>
                          <a:ea typeface="+mn-ea"/>
                          <a:cs typeface="Times New Roman" panose="02020603050405020304" pitchFamily="18" charset="0"/>
                          <a:sym typeface="Arial"/>
                        </a:rPr>
                        <a:t>Fallen leaves are superior to tree pruning as bulking agents in aerobic composting disposing kitchen waste</a:t>
                      </a:r>
                      <a:r>
                        <a:rPr lang="en-US" sz="1800" kern="50" dirty="0">
                          <a:effectLst/>
                          <a:latin typeface="Times New Roman" panose="02020603050405020304" pitchFamily="18" charset="0"/>
                          <a:ea typeface="DejaVu Sans"/>
                          <a:cs typeface="Times New Roman" panose="02020603050405020304" pitchFamily="18" charset="0"/>
                        </a:rPr>
                        <a:t> </a:t>
                      </a:r>
                      <a:endParaRPr lang="en-IN" sz="1800" kern="50" dirty="0">
                        <a:effectLst/>
                        <a:latin typeface="Times New Roman" panose="02020603050405020304" pitchFamily="18" charset="0"/>
                        <a:ea typeface="DejaVu Sans"/>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1000"/>
                        </a:spcAft>
                        <a:buNone/>
                      </a:pPr>
                      <a:r>
                        <a:rPr lang="en-IN" sz="1800" dirty="0">
                          <a:solidFill>
                            <a:schemeClr val="tx1"/>
                          </a:solidFill>
                          <a:latin typeface="Times New Roman" panose="02020603050405020304" pitchFamily="18" charset="0"/>
                          <a:cs typeface="Times New Roman" panose="02020603050405020304" pitchFamily="18" charset="0"/>
                        </a:rPr>
                        <a:t>IJERT, Bioresource Technol. Vol 16. no.5, 2022.</a:t>
                      </a:r>
                      <a:endParaRPr lang="en-IN" sz="18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1000"/>
                        </a:spcAft>
                        <a:buNone/>
                      </a:pPr>
                      <a:r>
                        <a:rPr lang="en-US" sz="1800" dirty="0">
                          <a:latin typeface="Times New Roman" panose="02020603050405020304" pitchFamily="18" charset="0"/>
                          <a:cs typeface="Times New Roman" panose="02020603050405020304" pitchFamily="18" charset="0"/>
                        </a:rPr>
                        <a:t>This research compares fallen leaves and tree pruning as bulking agents in aerobic composting of kitchen waste. Fallen leaves were found to provide better aeration, faster decomposition and higher-quality compost than tree pruning.</a:t>
                      </a:r>
                      <a:endParaRPr lang="en-IN" sz="18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1000"/>
                        </a:spcAft>
                        <a:buNone/>
                      </a:pPr>
                      <a:r>
                        <a:rPr lang="en-US" sz="1800" dirty="0">
                          <a:latin typeface="Times New Roman" panose="02020603050405020304" pitchFamily="18" charset="0"/>
                          <a:cs typeface="Times New Roman" panose="02020603050405020304" pitchFamily="18" charset="0"/>
                        </a:rPr>
                        <a:t>The study contributes to the present work by identifying effective bulking materials for composting. This insight helps improve compost quality and efficiency in the automatic compost bin</a:t>
                      </a:r>
                      <a:endParaRPr lang="en-IN" sz="18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652604048"/>
                  </a:ext>
                </a:extLst>
              </a:tr>
            </a:tbl>
          </a:graphicData>
        </a:graphic>
      </p:graphicFrame>
    </p:spTree>
    <p:extLst>
      <p:ext uri="{BB962C8B-B14F-4D97-AF65-F5344CB8AC3E}">
        <p14:creationId xmlns:p14="http://schemas.microsoft.com/office/powerpoint/2010/main" val="393243372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A50BAB-BC2C-5FB6-C740-5A0ECD218BD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9958D26-C672-B948-EA93-6A4C546A683D}"/>
              </a:ext>
            </a:extLst>
          </p:cNvPr>
          <p:cNvSpPr>
            <a:spLocks noGrp="1"/>
          </p:cNvSpPr>
          <p:nvPr>
            <p:ph type="title"/>
          </p:nvPr>
        </p:nvSpPr>
        <p:spPr>
          <a:xfrm>
            <a:off x="312933" y="274637"/>
            <a:ext cx="12934559" cy="977219"/>
          </a:xfrm>
        </p:spPr>
        <p:txBody>
          <a:bodyPr/>
          <a:lstStyle/>
          <a:p>
            <a:r>
              <a:rPr lang="en-IN" b="1" dirty="0">
                <a:latin typeface="Times New Roman" panose="02020603050405020304" pitchFamily="18" charset="0"/>
                <a:cs typeface="Times New Roman" panose="02020603050405020304" pitchFamily="18" charset="0"/>
              </a:rPr>
              <a:t>LITERATURE REVIEW</a:t>
            </a:r>
          </a:p>
        </p:txBody>
      </p:sp>
      <p:sp>
        <p:nvSpPr>
          <p:cNvPr id="4" name="Date Placeholder 3">
            <a:extLst>
              <a:ext uri="{FF2B5EF4-FFF2-40B4-BE49-F238E27FC236}">
                <a16:creationId xmlns:a16="http://schemas.microsoft.com/office/drawing/2014/main" id="{A6FF1C16-8DE4-5D3B-6C0F-B4C743AA6D92}"/>
              </a:ext>
            </a:extLst>
          </p:cNvPr>
          <p:cNvSpPr>
            <a:spLocks noGrp="1"/>
          </p:cNvSpPr>
          <p:nvPr>
            <p:ph type="dt" idx="10"/>
          </p:nvPr>
        </p:nvSpPr>
        <p:spPr/>
        <p:txBody>
          <a:bodyPr/>
          <a:lstStyle/>
          <a:p>
            <a:r>
              <a:rPr lang="en-US" dirty="0"/>
              <a:t>03/12/2025</a:t>
            </a:r>
          </a:p>
        </p:txBody>
      </p:sp>
      <p:sp>
        <p:nvSpPr>
          <p:cNvPr id="5" name="Slide Number Placeholder 4">
            <a:extLst>
              <a:ext uri="{FF2B5EF4-FFF2-40B4-BE49-F238E27FC236}">
                <a16:creationId xmlns:a16="http://schemas.microsoft.com/office/drawing/2014/main" id="{F68000F2-9A35-AEE6-89FB-E15B72F8E7A9}"/>
              </a:ext>
            </a:extLst>
          </p:cNvPr>
          <p:cNvSpPr>
            <a:spLocks noGrp="1"/>
          </p:cNvSpPr>
          <p:nvPr>
            <p:ph type="sldNum" idx="12"/>
          </p:nvPr>
        </p:nvSpPr>
        <p:spPr/>
        <p:txBody>
          <a:bodyPr/>
          <a:lstStyle/>
          <a:p>
            <a:fld id="{00000000-1234-1234-1234-123412341234}" type="slidenum">
              <a:rPr lang="en-US" smtClean="0"/>
              <a:pPr/>
              <a:t>11</a:t>
            </a:fld>
            <a:endParaRPr lang="en-US"/>
          </a:p>
        </p:txBody>
      </p:sp>
      <p:graphicFrame>
        <p:nvGraphicFramePr>
          <p:cNvPr id="6" name="Table 5">
            <a:extLst>
              <a:ext uri="{FF2B5EF4-FFF2-40B4-BE49-F238E27FC236}">
                <a16:creationId xmlns:a16="http://schemas.microsoft.com/office/drawing/2014/main" id="{7E078925-5CE3-D876-0A0E-AF59086F00F4}"/>
              </a:ext>
            </a:extLst>
          </p:cNvPr>
          <p:cNvGraphicFramePr>
            <a:graphicFrameLocks noGrp="1"/>
          </p:cNvGraphicFramePr>
          <p:nvPr>
            <p:extLst>
              <p:ext uri="{D42A27DB-BD31-4B8C-83A1-F6EECF244321}">
                <p14:modId xmlns:p14="http://schemas.microsoft.com/office/powerpoint/2010/main" val="2299256106"/>
              </p:ext>
            </p:extLst>
          </p:nvPr>
        </p:nvGraphicFramePr>
        <p:xfrm>
          <a:off x="1034142" y="1236617"/>
          <a:ext cx="11473543" cy="4832174"/>
        </p:xfrm>
        <a:graphic>
          <a:graphicData uri="http://schemas.openxmlformats.org/drawingml/2006/table">
            <a:tbl>
              <a:tblPr firstRow="1" firstCol="1" bandRow="1"/>
              <a:tblGrid>
                <a:gridCol w="608168">
                  <a:extLst>
                    <a:ext uri="{9D8B030D-6E8A-4147-A177-3AD203B41FA5}">
                      <a16:colId xmlns:a16="http://schemas.microsoft.com/office/drawing/2014/main" val="2965436257"/>
                    </a:ext>
                  </a:extLst>
                </a:gridCol>
                <a:gridCol w="1433721">
                  <a:extLst>
                    <a:ext uri="{9D8B030D-6E8A-4147-A177-3AD203B41FA5}">
                      <a16:colId xmlns:a16="http://schemas.microsoft.com/office/drawing/2014/main" val="742294268"/>
                    </a:ext>
                  </a:extLst>
                </a:gridCol>
                <a:gridCol w="884611">
                  <a:extLst>
                    <a:ext uri="{9D8B030D-6E8A-4147-A177-3AD203B41FA5}">
                      <a16:colId xmlns:a16="http://schemas.microsoft.com/office/drawing/2014/main" val="625641553"/>
                    </a:ext>
                  </a:extLst>
                </a:gridCol>
                <a:gridCol w="2015503">
                  <a:extLst>
                    <a:ext uri="{9D8B030D-6E8A-4147-A177-3AD203B41FA5}">
                      <a16:colId xmlns:a16="http://schemas.microsoft.com/office/drawing/2014/main" val="2273655462"/>
                    </a:ext>
                  </a:extLst>
                </a:gridCol>
                <a:gridCol w="2186394">
                  <a:extLst>
                    <a:ext uri="{9D8B030D-6E8A-4147-A177-3AD203B41FA5}">
                      <a16:colId xmlns:a16="http://schemas.microsoft.com/office/drawing/2014/main" val="4193832418"/>
                    </a:ext>
                  </a:extLst>
                </a:gridCol>
                <a:gridCol w="2447758">
                  <a:extLst>
                    <a:ext uri="{9D8B030D-6E8A-4147-A177-3AD203B41FA5}">
                      <a16:colId xmlns:a16="http://schemas.microsoft.com/office/drawing/2014/main" val="216676152"/>
                    </a:ext>
                  </a:extLst>
                </a:gridCol>
                <a:gridCol w="1897388">
                  <a:extLst>
                    <a:ext uri="{9D8B030D-6E8A-4147-A177-3AD203B41FA5}">
                      <a16:colId xmlns:a16="http://schemas.microsoft.com/office/drawing/2014/main" val="1726290608"/>
                    </a:ext>
                  </a:extLst>
                </a:gridCol>
              </a:tblGrid>
              <a:tr h="986630">
                <a:tc>
                  <a:txBody>
                    <a:bodyPr/>
                    <a:lstStyle/>
                    <a:p>
                      <a:pPr algn="ctr">
                        <a:lnSpc>
                          <a:spcPct val="115000"/>
                        </a:lnSpc>
                        <a:spcAft>
                          <a:spcPts val="1000"/>
                        </a:spcAft>
                        <a:buNone/>
                      </a:pPr>
                      <a:r>
                        <a:rPr lang="en-US" sz="1800" dirty="0">
                          <a:effectLst/>
                          <a:latin typeface="Times New Roman" panose="02020603050405020304" pitchFamily="18" charset="0"/>
                          <a:ea typeface="MS Mincho" panose="02020609040205080304" pitchFamily="49" charset="-128"/>
                          <a:cs typeface="Times New Roman" panose="02020603050405020304" pitchFamily="18" charset="0"/>
                        </a:rPr>
                        <a:t>Sr. No</a:t>
                      </a:r>
                      <a:endParaRPr lang="en-IN" sz="18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1000"/>
                        </a:spcAft>
                        <a:buNone/>
                      </a:pPr>
                      <a:r>
                        <a:rPr lang="en-US" sz="1800" dirty="0">
                          <a:effectLst/>
                          <a:latin typeface="Times New Roman" panose="02020603050405020304" pitchFamily="18" charset="0"/>
                          <a:ea typeface="MS Mincho" panose="02020609040205080304" pitchFamily="49" charset="-128"/>
                          <a:cs typeface="Times New Roman" panose="02020603050405020304" pitchFamily="18" charset="0"/>
                        </a:rPr>
                        <a:t>Author(s)</a:t>
                      </a:r>
                      <a:endParaRPr lang="en-IN" sz="18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1000"/>
                        </a:spcAft>
                        <a:buNone/>
                      </a:pPr>
                      <a:r>
                        <a:rPr lang="en-US" sz="1800" dirty="0">
                          <a:effectLst/>
                          <a:latin typeface="Times New Roman" panose="02020603050405020304" pitchFamily="18" charset="0"/>
                          <a:ea typeface="MS Mincho" panose="02020609040205080304" pitchFamily="49" charset="-128"/>
                          <a:cs typeface="Times New Roman" panose="02020603050405020304" pitchFamily="18" charset="0"/>
                        </a:rPr>
                        <a:t>Year</a:t>
                      </a:r>
                      <a:endParaRPr lang="en-IN" sz="18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1000"/>
                        </a:spcAft>
                        <a:buNone/>
                      </a:pPr>
                      <a:r>
                        <a:rPr lang="en-US" sz="1800" dirty="0">
                          <a:effectLst/>
                          <a:latin typeface="Times New Roman" panose="02020603050405020304" pitchFamily="18" charset="0"/>
                          <a:ea typeface="MS Mincho" panose="02020609040205080304" pitchFamily="49" charset="-128"/>
                          <a:cs typeface="Times New Roman" panose="02020603050405020304" pitchFamily="18" charset="0"/>
                        </a:rPr>
                        <a:t>Title</a:t>
                      </a:r>
                      <a:endParaRPr lang="en-IN" sz="18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1000"/>
                        </a:spcAft>
                        <a:buNone/>
                      </a:pPr>
                      <a:r>
                        <a:rPr lang="en-US" sz="1800" dirty="0">
                          <a:effectLst/>
                          <a:latin typeface="Times New Roman" panose="02020603050405020304" pitchFamily="18" charset="0"/>
                          <a:ea typeface="MS Mincho" panose="02020609040205080304" pitchFamily="49" charset="-128"/>
                          <a:cs typeface="Times New Roman" panose="02020603050405020304" pitchFamily="18" charset="0"/>
                        </a:rPr>
                        <a:t>Source</a:t>
                      </a:r>
                      <a:endParaRPr lang="en-IN" sz="18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1000"/>
                        </a:spcAft>
                        <a:buNone/>
                      </a:pPr>
                      <a:r>
                        <a:rPr lang="en-US" sz="1800">
                          <a:effectLst/>
                          <a:latin typeface="Times New Roman" panose="02020603050405020304" pitchFamily="18" charset="0"/>
                          <a:ea typeface="MS Mincho" panose="02020609040205080304" pitchFamily="49" charset="-128"/>
                          <a:cs typeface="Times New Roman" panose="02020603050405020304" pitchFamily="18" charset="0"/>
                        </a:rPr>
                        <a:t>Method / Findings</a:t>
                      </a:r>
                      <a:endParaRPr lang="en-IN" sz="18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1000"/>
                        </a:spcAft>
                        <a:buNone/>
                      </a:pPr>
                      <a:r>
                        <a:rPr lang="en-US" sz="1800" dirty="0">
                          <a:effectLst/>
                          <a:latin typeface="Times New Roman" panose="02020603050405020304" pitchFamily="18" charset="0"/>
                          <a:ea typeface="MS Mincho" panose="02020609040205080304" pitchFamily="49" charset="-128"/>
                          <a:cs typeface="Times New Roman" panose="02020603050405020304" pitchFamily="18" charset="0"/>
                        </a:rPr>
                        <a:t>Contribution to Present Work</a:t>
                      </a:r>
                      <a:endParaRPr lang="en-IN" sz="18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773917291"/>
                  </a:ext>
                </a:extLst>
              </a:tr>
              <a:tr h="3845544">
                <a:tc>
                  <a:txBody>
                    <a:bodyPr/>
                    <a:lstStyle/>
                    <a:p>
                      <a:pPr>
                        <a:lnSpc>
                          <a:spcPct val="115000"/>
                        </a:lnSpc>
                        <a:spcAft>
                          <a:spcPts val="1000"/>
                        </a:spcAft>
                        <a:buNone/>
                      </a:pPr>
                      <a:r>
                        <a:rPr lang="en-US" sz="1800" dirty="0">
                          <a:effectLst/>
                          <a:latin typeface="Times New Roman" panose="02020603050405020304" pitchFamily="18" charset="0"/>
                          <a:ea typeface="MS Mincho" panose="02020609040205080304" pitchFamily="49" charset="-128"/>
                          <a:cs typeface="Times New Roman" panose="02020603050405020304" pitchFamily="18" charset="0"/>
                        </a:rPr>
                        <a:t>7</a:t>
                      </a:r>
                      <a:endParaRPr lang="en-IN" sz="18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r>
                        <a:rPr lang="en-US" sz="1800" b="0" i="0" u="none" strike="noStrike" cap="none" dirty="0">
                          <a:solidFill>
                            <a:schemeClr val="tx1"/>
                          </a:solidFill>
                          <a:effectLst/>
                          <a:latin typeface="Times New Roman" panose="02020603050405020304" pitchFamily="18" charset="0"/>
                          <a:ea typeface="+mn-ea"/>
                          <a:cs typeface="Times New Roman" panose="02020603050405020304" pitchFamily="18" charset="0"/>
                          <a:sym typeface="Arial"/>
                        </a:rPr>
                        <a:t>Liu Zheng,Liu Xinyu</a:t>
                      </a:r>
                      <a:endParaRPr lang="en-IN" sz="1800" b="0" i="0" u="none" strike="noStrike" cap="none" dirty="0">
                        <a:solidFill>
                          <a:schemeClr val="tx1"/>
                        </a:solidFill>
                        <a:effectLst/>
                        <a:latin typeface="Times New Roman" panose="02020603050405020304" pitchFamily="18" charset="0"/>
                        <a:ea typeface="+mn-ea"/>
                        <a:cs typeface="Times New Roman" panose="02020603050405020304" pitchFamily="18" charset="0"/>
                        <a:sym typeface="Arial"/>
                      </a:endParaRPr>
                    </a:p>
                    <a:p>
                      <a:r>
                        <a:rPr lang="en-US" sz="1800" b="0" i="0" u="none" strike="noStrike" cap="none" dirty="0">
                          <a:solidFill>
                            <a:schemeClr val="tx1"/>
                          </a:solidFill>
                          <a:effectLst/>
                          <a:latin typeface="Times New Roman" panose="02020603050405020304" pitchFamily="18" charset="0"/>
                          <a:ea typeface="+mn-ea"/>
                          <a:cs typeface="Times New Roman" panose="02020603050405020304" pitchFamily="18" charset="0"/>
                          <a:sym typeface="Arial"/>
                        </a:rPr>
                        <a:t>,Li Huagang,Li Shuang, pan Rongguang,Ge Lupun</a:t>
                      </a:r>
                      <a:endParaRPr lang="en-IN" sz="1800" kern="50" dirty="0">
                        <a:effectLst/>
                        <a:latin typeface="Times New Roman" panose="02020603050405020304" pitchFamily="18" charset="0"/>
                        <a:ea typeface="DejaVu Sans"/>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1000"/>
                        </a:spcAft>
                        <a:buNone/>
                      </a:pPr>
                      <a:r>
                        <a:rPr lang="en-US" sz="1800" dirty="0">
                          <a:effectLst/>
                          <a:latin typeface="Times New Roman" panose="02020603050405020304" pitchFamily="18" charset="0"/>
                          <a:ea typeface="MS Mincho" panose="02020609040205080304" pitchFamily="49" charset="-128"/>
                          <a:cs typeface="Times New Roman" panose="02020603050405020304" pitchFamily="18" charset="0"/>
                        </a:rPr>
                        <a:t>2023</a:t>
                      </a:r>
                      <a:endParaRPr lang="en-IN" sz="18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buNone/>
                      </a:pPr>
                      <a:r>
                        <a:rPr lang="en-US" sz="1800" b="0" i="0" u="none" strike="noStrike" cap="none" dirty="0">
                          <a:solidFill>
                            <a:schemeClr val="tx1"/>
                          </a:solidFill>
                          <a:effectLst/>
                          <a:latin typeface="Times New Roman" panose="02020603050405020304" pitchFamily="18" charset="0"/>
                          <a:ea typeface="+mn-ea"/>
                          <a:cs typeface="Times New Roman" panose="02020603050405020304" pitchFamily="18" charset="0"/>
                          <a:sym typeface="Arial"/>
                        </a:rPr>
                        <a:t>Effect of different organic wastes on kitchen waste machine composting secondary fermentation</a:t>
                      </a:r>
                      <a:r>
                        <a:rPr lang="en-US" sz="1800" kern="50" dirty="0">
                          <a:effectLst/>
                          <a:latin typeface="Times New Roman" panose="02020603050405020304" pitchFamily="18" charset="0"/>
                          <a:ea typeface="DejaVu Sans"/>
                          <a:cs typeface="Times New Roman" panose="02020603050405020304" pitchFamily="18" charset="0"/>
                        </a:rPr>
                        <a:t> </a:t>
                      </a:r>
                      <a:endParaRPr lang="en-IN" sz="1800" kern="50" dirty="0">
                        <a:effectLst/>
                        <a:latin typeface="Times New Roman" panose="02020603050405020304" pitchFamily="18" charset="0"/>
                        <a:ea typeface="DejaVu Sans"/>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1000"/>
                        </a:spcAft>
                        <a:buNone/>
                      </a:pPr>
                      <a:r>
                        <a:rPr lang="en-US" sz="1800" dirty="0">
                          <a:latin typeface="Times New Roman" panose="02020603050405020304" pitchFamily="18" charset="0"/>
                          <a:cs typeface="Times New Roman" panose="02020603050405020304" pitchFamily="18" charset="0"/>
                        </a:rPr>
                        <a:t>Proc. 2023 35th Chinese Control and Decision Conference (CCDC), 2023</a:t>
                      </a:r>
                      <a:endParaRPr lang="en-IN" sz="18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1000"/>
                        </a:spcAft>
                        <a:buNone/>
                      </a:pPr>
                      <a:r>
                        <a:rPr lang="en-US" sz="1800" dirty="0">
                          <a:latin typeface="Times New Roman" panose="02020603050405020304" pitchFamily="18" charset="0"/>
                          <a:cs typeface="Times New Roman" panose="02020603050405020304" pitchFamily="18" charset="0"/>
                        </a:rPr>
                        <a:t>This study investigates how various organic wastes influence the secondary fermentation phase in machine-assisted composting of kitchen waste.</a:t>
                      </a:r>
                      <a:endParaRPr lang="en-IN" sz="18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1000"/>
                        </a:spcAft>
                        <a:buNone/>
                      </a:pPr>
                      <a:r>
                        <a:rPr lang="en-IN" sz="1800" dirty="0">
                          <a:latin typeface="Times New Roman" panose="02020603050405020304" pitchFamily="18" charset="0"/>
                          <a:cs typeface="Times New Roman" panose="02020603050405020304" pitchFamily="18" charset="0"/>
                        </a:rPr>
                        <a:t>research contribute to </a:t>
                      </a:r>
                      <a:r>
                        <a:rPr lang="en-US" sz="1800" dirty="0">
                          <a:latin typeface="Times New Roman" panose="02020603050405020304" pitchFamily="18" charset="0"/>
                          <a:cs typeface="Times New Roman" panose="02020603050405020304" pitchFamily="18" charset="0"/>
                        </a:rPr>
                        <a:t>Understanding the role of different organic additives  that can enhance</a:t>
                      </a:r>
                      <a:r>
                        <a:rPr lang="en-US" sz="1800" baseline="0" dirty="0">
                          <a:latin typeface="Times New Roman" panose="02020603050405020304" pitchFamily="18" charset="0"/>
                          <a:cs typeface="Times New Roman" panose="02020603050405020304" pitchFamily="18" charset="0"/>
                        </a:rPr>
                        <a:t> </a:t>
                      </a:r>
                      <a:r>
                        <a:rPr lang="en-US" sz="1800" dirty="0">
                          <a:latin typeface="Times New Roman" panose="02020603050405020304" pitchFamily="18" charset="0"/>
                          <a:cs typeface="Times New Roman" panose="02020603050405020304" pitchFamily="18" charset="0"/>
                        </a:rPr>
                        <a:t>composting efficiency, improve compost quality</a:t>
                      </a:r>
                      <a:r>
                        <a:rPr lang="en-US" sz="1800" baseline="0" dirty="0">
                          <a:latin typeface="Times New Roman" panose="02020603050405020304" pitchFamily="18" charset="0"/>
                          <a:cs typeface="Times New Roman" panose="02020603050405020304" pitchFamily="18" charset="0"/>
                        </a:rPr>
                        <a:t> </a:t>
                      </a:r>
                      <a:r>
                        <a:rPr lang="en-US" sz="1800" dirty="0">
                          <a:latin typeface="Times New Roman" panose="02020603050405020304" pitchFamily="18" charset="0"/>
                          <a:cs typeface="Times New Roman" panose="02020603050405020304" pitchFamily="18" charset="0"/>
                        </a:rPr>
                        <a:t>and reduce processing time.</a:t>
                      </a:r>
                      <a:endParaRPr lang="en-IN" sz="18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652604048"/>
                  </a:ext>
                </a:extLst>
              </a:tr>
            </a:tbl>
          </a:graphicData>
        </a:graphic>
      </p:graphicFrame>
    </p:spTree>
    <p:extLst>
      <p:ext uri="{BB962C8B-B14F-4D97-AF65-F5344CB8AC3E}">
        <p14:creationId xmlns:p14="http://schemas.microsoft.com/office/powerpoint/2010/main" val="46080356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85E89D-999E-5B3C-25E0-FCA0CE2E6DD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08F2531-1FC4-4C32-6FCA-9B661FF77F69}"/>
              </a:ext>
            </a:extLst>
          </p:cNvPr>
          <p:cNvSpPr>
            <a:spLocks noGrp="1"/>
          </p:cNvSpPr>
          <p:nvPr>
            <p:ph type="title"/>
          </p:nvPr>
        </p:nvSpPr>
        <p:spPr>
          <a:xfrm>
            <a:off x="312933" y="274637"/>
            <a:ext cx="12934559" cy="977219"/>
          </a:xfrm>
        </p:spPr>
        <p:txBody>
          <a:bodyPr/>
          <a:lstStyle/>
          <a:p>
            <a:r>
              <a:rPr lang="en-IN" b="1" dirty="0">
                <a:latin typeface="Times New Roman" panose="02020603050405020304" pitchFamily="18" charset="0"/>
                <a:cs typeface="Times New Roman" panose="02020603050405020304" pitchFamily="18" charset="0"/>
              </a:rPr>
              <a:t>LITERATURE REVIEW</a:t>
            </a:r>
          </a:p>
        </p:txBody>
      </p:sp>
      <p:sp>
        <p:nvSpPr>
          <p:cNvPr id="4" name="Date Placeholder 3">
            <a:extLst>
              <a:ext uri="{FF2B5EF4-FFF2-40B4-BE49-F238E27FC236}">
                <a16:creationId xmlns:a16="http://schemas.microsoft.com/office/drawing/2014/main" id="{6F7B4FEA-96CD-4312-E2AC-171BF23F9FDC}"/>
              </a:ext>
            </a:extLst>
          </p:cNvPr>
          <p:cNvSpPr>
            <a:spLocks noGrp="1"/>
          </p:cNvSpPr>
          <p:nvPr>
            <p:ph type="dt" idx="10"/>
          </p:nvPr>
        </p:nvSpPr>
        <p:spPr/>
        <p:txBody>
          <a:bodyPr/>
          <a:lstStyle/>
          <a:p>
            <a:r>
              <a:rPr lang="en-US" dirty="0"/>
              <a:t>03/12/2025</a:t>
            </a:r>
          </a:p>
        </p:txBody>
      </p:sp>
      <p:sp>
        <p:nvSpPr>
          <p:cNvPr id="5" name="Slide Number Placeholder 4">
            <a:extLst>
              <a:ext uri="{FF2B5EF4-FFF2-40B4-BE49-F238E27FC236}">
                <a16:creationId xmlns:a16="http://schemas.microsoft.com/office/drawing/2014/main" id="{D90A19C7-F28B-AB02-C4EE-E77B9C97C8AD}"/>
              </a:ext>
            </a:extLst>
          </p:cNvPr>
          <p:cNvSpPr>
            <a:spLocks noGrp="1"/>
          </p:cNvSpPr>
          <p:nvPr>
            <p:ph type="sldNum" idx="12"/>
          </p:nvPr>
        </p:nvSpPr>
        <p:spPr/>
        <p:txBody>
          <a:bodyPr/>
          <a:lstStyle/>
          <a:p>
            <a:fld id="{00000000-1234-1234-1234-123412341234}" type="slidenum">
              <a:rPr lang="en-US" smtClean="0"/>
              <a:pPr/>
              <a:t>12</a:t>
            </a:fld>
            <a:endParaRPr lang="en-US"/>
          </a:p>
        </p:txBody>
      </p:sp>
      <p:graphicFrame>
        <p:nvGraphicFramePr>
          <p:cNvPr id="6" name="Table 5">
            <a:extLst>
              <a:ext uri="{FF2B5EF4-FFF2-40B4-BE49-F238E27FC236}">
                <a16:creationId xmlns:a16="http://schemas.microsoft.com/office/drawing/2014/main" id="{34B4AAD9-0FB5-82B7-A597-0D744598E8FE}"/>
              </a:ext>
            </a:extLst>
          </p:cNvPr>
          <p:cNvGraphicFramePr>
            <a:graphicFrameLocks noGrp="1"/>
          </p:cNvGraphicFramePr>
          <p:nvPr>
            <p:extLst>
              <p:ext uri="{D42A27DB-BD31-4B8C-83A1-F6EECF244321}">
                <p14:modId xmlns:p14="http://schemas.microsoft.com/office/powerpoint/2010/main" val="143981219"/>
              </p:ext>
            </p:extLst>
          </p:nvPr>
        </p:nvGraphicFramePr>
        <p:xfrm>
          <a:off x="1034142" y="1236617"/>
          <a:ext cx="11473543" cy="4832174"/>
        </p:xfrm>
        <a:graphic>
          <a:graphicData uri="http://schemas.openxmlformats.org/drawingml/2006/table">
            <a:tbl>
              <a:tblPr firstRow="1" firstCol="1" bandRow="1"/>
              <a:tblGrid>
                <a:gridCol w="608168">
                  <a:extLst>
                    <a:ext uri="{9D8B030D-6E8A-4147-A177-3AD203B41FA5}">
                      <a16:colId xmlns:a16="http://schemas.microsoft.com/office/drawing/2014/main" val="2965436257"/>
                    </a:ext>
                  </a:extLst>
                </a:gridCol>
                <a:gridCol w="1433721">
                  <a:extLst>
                    <a:ext uri="{9D8B030D-6E8A-4147-A177-3AD203B41FA5}">
                      <a16:colId xmlns:a16="http://schemas.microsoft.com/office/drawing/2014/main" val="742294268"/>
                    </a:ext>
                  </a:extLst>
                </a:gridCol>
                <a:gridCol w="884611">
                  <a:extLst>
                    <a:ext uri="{9D8B030D-6E8A-4147-A177-3AD203B41FA5}">
                      <a16:colId xmlns:a16="http://schemas.microsoft.com/office/drawing/2014/main" val="625641553"/>
                    </a:ext>
                  </a:extLst>
                </a:gridCol>
                <a:gridCol w="2015503">
                  <a:extLst>
                    <a:ext uri="{9D8B030D-6E8A-4147-A177-3AD203B41FA5}">
                      <a16:colId xmlns:a16="http://schemas.microsoft.com/office/drawing/2014/main" val="2273655462"/>
                    </a:ext>
                  </a:extLst>
                </a:gridCol>
                <a:gridCol w="2186394">
                  <a:extLst>
                    <a:ext uri="{9D8B030D-6E8A-4147-A177-3AD203B41FA5}">
                      <a16:colId xmlns:a16="http://schemas.microsoft.com/office/drawing/2014/main" val="4193832418"/>
                    </a:ext>
                  </a:extLst>
                </a:gridCol>
                <a:gridCol w="2447758">
                  <a:extLst>
                    <a:ext uri="{9D8B030D-6E8A-4147-A177-3AD203B41FA5}">
                      <a16:colId xmlns:a16="http://schemas.microsoft.com/office/drawing/2014/main" val="216676152"/>
                    </a:ext>
                  </a:extLst>
                </a:gridCol>
                <a:gridCol w="1897388">
                  <a:extLst>
                    <a:ext uri="{9D8B030D-6E8A-4147-A177-3AD203B41FA5}">
                      <a16:colId xmlns:a16="http://schemas.microsoft.com/office/drawing/2014/main" val="1726290608"/>
                    </a:ext>
                  </a:extLst>
                </a:gridCol>
              </a:tblGrid>
              <a:tr h="986630">
                <a:tc>
                  <a:txBody>
                    <a:bodyPr/>
                    <a:lstStyle/>
                    <a:p>
                      <a:pPr algn="ctr">
                        <a:lnSpc>
                          <a:spcPct val="115000"/>
                        </a:lnSpc>
                        <a:spcAft>
                          <a:spcPts val="1000"/>
                        </a:spcAft>
                        <a:buNone/>
                      </a:pPr>
                      <a:r>
                        <a:rPr lang="en-US" sz="1800" b="0" dirty="0">
                          <a:effectLst/>
                          <a:latin typeface="Times New Roman" panose="02020603050405020304" pitchFamily="18" charset="0"/>
                          <a:ea typeface="MS Mincho" panose="02020609040205080304" pitchFamily="49" charset="-128"/>
                          <a:cs typeface="Times New Roman" panose="02020603050405020304" pitchFamily="18" charset="0"/>
                        </a:rPr>
                        <a:t>Sr. No</a:t>
                      </a:r>
                      <a:endParaRPr lang="en-IN" sz="1800" b="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1000"/>
                        </a:spcAft>
                        <a:buNone/>
                      </a:pPr>
                      <a:r>
                        <a:rPr lang="en-US" sz="1800" b="0" dirty="0">
                          <a:effectLst/>
                          <a:latin typeface="Times New Roman" panose="02020603050405020304" pitchFamily="18" charset="0"/>
                          <a:ea typeface="MS Mincho" panose="02020609040205080304" pitchFamily="49" charset="-128"/>
                          <a:cs typeface="Times New Roman" panose="02020603050405020304" pitchFamily="18" charset="0"/>
                        </a:rPr>
                        <a:t>Author(s)</a:t>
                      </a:r>
                      <a:endParaRPr lang="en-IN" sz="1800" b="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1000"/>
                        </a:spcAft>
                        <a:buNone/>
                      </a:pPr>
                      <a:r>
                        <a:rPr lang="en-US" sz="1800" b="0" dirty="0">
                          <a:effectLst/>
                          <a:latin typeface="Times New Roman" panose="02020603050405020304" pitchFamily="18" charset="0"/>
                          <a:ea typeface="MS Mincho" panose="02020609040205080304" pitchFamily="49" charset="-128"/>
                          <a:cs typeface="Times New Roman" panose="02020603050405020304" pitchFamily="18" charset="0"/>
                        </a:rPr>
                        <a:t>Year</a:t>
                      </a:r>
                      <a:endParaRPr lang="en-IN" sz="1800" b="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1000"/>
                        </a:spcAft>
                        <a:buNone/>
                      </a:pPr>
                      <a:r>
                        <a:rPr lang="en-US" sz="1800" b="0" dirty="0">
                          <a:effectLst/>
                          <a:latin typeface="Times New Roman" panose="02020603050405020304" pitchFamily="18" charset="0"/>
                          <a:ea typeface="MS Mincho" panose="02020609040205080304" pitchFamily="49" charset="-128"/>
                          <a:cs typeface="Times New Roman" panose="02020603050405020304" pitchFamily="18" charset="0"/>
                        </a:rPr>
                        <a:t>Title</a:t>
                      </a:r>
                      <a:endParaRPr lang="en-IN" sz="1800" b="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1000"/>
                        </a:spcAft>
                        <a:buNone/>
                      </a:pPr>
                      <a:r>
                        <a:rPr lang="en-US" sz="1800" b="0" dirty="0">
                          <a:effectLst/>
                          <a:latin typeface="Times New Roman" panose="02020603050405020304" pitchFamily="18" charset="0"/>
                          <a:ea typeface="MS Mincho" panose="02020609040205080304" pitchFamily="49" charset="-128"/>
                          <a:cs typeface="Times New Roman" panose="02020603050405020304" pitchFamily="18" charset="0"/>
                        </a:rPr>
                        <a:t>Source</a:t>
                      </a:r>
                      <a:endParaRPr lang="en-IN" sz="1800" b="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1000"/>
                        </a:spcAft>
                        <a:buNone/>
                      </a:pPr>
                      <a:r>
                        <a:rPr lang="en-US" sz="1800" b="0" dirty="0">
                          <a:effectLst/>
                          <a:latin typeface="Times New Roman" panose="02020603050405020304" pitchFamily="18" charset="0"/>
                          <a:ea typeface="MS Mincho" panose="02020609040205080304" pitchFamily="49" charset="-128"/>
                          <a:cs typeface="Times New Roman" panose="02020603050405020304" pitchFamily="18" charset="0"/>
                        </a:rPr>
                        <a:t>Method / Findings</a:t>
                      </a:r>
                      <a:endParaRPr lang="en-IN" sz="1800" b="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1000"/>
                        </a:spcAft>
                        <a:buNone/>
                      </a:pPr>
                      <a:r>
                        <a:rPr lang="en-US" sz="1800" b="0" dirty="0">
                          <a:effectLst/>
                          <a:latin typeface="Times New Roman" panose="02020603050405020304" pitchFamily="18" charset="0"/>
                          <a:ea typeface="MS Mincho" panose="02020609040205080304" pitchFamily="49" charset="-128"/>
                          <a:cs typeface="Times New Roman" panose="02020603050405020304" pitchFamily="18" charset="0"/>
                        </a:rPr>
                        <a:t>Contribution to Present Work</a:t>
                      </a:r>
                      <a:endParaRPr lang="en-IN" sz="1800" b="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773917291"/>
                  </a:ext>
                </a:extLst>
              </a:tr>
              <a:tr h="3845544">
                <a:tc>
                  <a:txBody>
                    <a:bodyPr/>
                    <a:lstStyle/>
                    <a:p>
                      <a:pPr>
                        <a:lnSpc>
                          <a:spcPct val="115000"/>
                        </a:lnSpc>
                        <a:spcAft>
                          <a:spcPts val="1000"/>
                        </a:spcAft>
                        <a:buNone/>
                      </a:pPr>
                      <a:r>
                        <a:rPr lang="en-US" sz="1800" b="0" dirty="0">
                          <a:effectLst/>
                          <a:latin typeface="Times New Roman" panose="02020603050405020304" pitchFamily="18" charset="0"/>
                          <a:ea typeface="MS Mincho" panose="02020609040205080304" pitchFamily="49" charset="-128"/>
                          <a:cs typeface="Times New Roman" panose="02020603050405020304" pitchFamily="18" charset="0"/>
                        </a:rPr>
                        <a:t>8</a:t>
                      </a:r>
                      <a:endParaRPr lang="en-IN" sz="1800" b="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buNone/>
                      </a:pPr>
                      <a:r>
                        <a:rPr lang="en-US" sz="1800" b="0" i="0" u="none" strike="noStrike" cap="none" dirty="0">
                          <a:solidFill>
                            <a:schemeClr val="tx1"/>
                          </a:solidFill>
                          <a:effectLst/>
                          <a:latin typeface="Times New Roman" panose="02020603050405020304" pitchFamily="18" charset="0"/>
                          <a:ea typeface="+mn-ea"/>
                          <a:cs typeface="Times New Roman" panose="02020603050405020304" pitchFamily="18" charset="0"/>
                          <a:sym typeface="Arial"/>
                        </a:rPr>
                        <a:t>Rahul Adhikary, Vemu Sudham, Swaroop Sualsingh</a:t>
                      </a:r>
                      <a:endParaRPr lang="en-IN" sz="1800" b="0" kern="50" dirty="0">
                        <a:effectLst/>
                        <a:latin typeface="Times New Roman" panose="02020603050405020304" pitchFamily="18" charset="0"/>
                        <a:ea typeface="DejaVu Sans"/>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1000"/>
                        </a:spcAft>
                        <a:buNone/>
                      </a:pPr>
                      <a:r>
                        <a:rPr lang="en-US" sz="1800" b="0" dirty="0">
                          <a:effectLst/>
                          <a:latin typeface="Times New Roman" panose="02020603050405020304" pitchFamily="18" charset="0"/>
                          <a:ea typeface="MS Mincho" panose="02020609040205080304" pitchFamily="49" charset="-128"/>
                          <a:cs typeface="Times New Roman" panose="02020603050405020304" pitchFamily="18" charset="0"/>
                        </a:rPr>
                        <a:t>2024</a:t>
                      </a:r>
                      <a:endParaRPr lang="en-IN" sz="1800" b="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buNone/>
                      </a:pPr>
                      <a:r>
                        <a:rPr lang="en-IN" sz="1800" b="0" i="0" u="none" strike="noStrike" cap="none" dirty="0">
                          <a:solidFill>
                            <a:schemeClr val="tx1"/>
                          </a:solidFill>
                          <a:effectLst/>
                          <a:latin typeface="Times New Roman" panose="02020603050405020304" pitchFamily="18" charset="0"/>
                          <a:ea typeface="+mn-ea"/>
                          <a:cs typeface="Times New Roman" panose="02020603050405020304" pitchFamily="18" charset="0"/>
                          <a:sym typeface="Arial"/>
                        </a:rPr>
                        <a:t>Real-Time Soil Nutrient Monitoring Using NPK Sensors: Enhancing Precision Agriculture</a:t>
                      </a:r>
                      <a:r>
                        <a:rPr lang="en-US" sz="1800" b="0" kern="50" dirty="0">
                          <a:effectLst/>
                          <a:latin typeface="Times New Roman" panose="02020603050405020304" pitchFamily="18" charset="0"/>
                          <a:ea typeface="DejaVu Sans"/>
                          <a:cs typeface="Times New Roman" panose="02020603050405020304" pitchFamily="18" charset="0"/>
                        </a:rPr>
                        <a:t> .</a:t>
                      </a:r>
                      <a:endParaRPr lang="en-IN" sz="1800" b="0" kern="50" dirty="0">
                        <a:effectLst/>
                        <a:latin typeface="Times New Roman" panose="02020603050405020304" pitchFamily="18" charset="0"/>
                        <a:ea typeface="DejaVu Sans"/>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1000"/>
                        </a:spcAft>
                        <a:buNone/>
                      </a:pPr>
                      <a:r>
                        <a:rPr lang="en-US" sz="1800" b="0" dirty="0">
                          <a:latin typeface="Times New Roman" panose="02020603050405020304" pitchFamily="18" charset="0"/>
                          <a:cs typeface="Times New Roman" panose="02020603050405020304" pitchFamily="18" charset="0"/>
                        </a:rPr>
                        <a:t>2024, 2nd International Conference on Signal Processing, Communication, Power and Embedded System (SCOPES),</a:t>
                      </a:r>
                      <a:endParaRPr lang="en-IN" sz="1800" b="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1000"/>
                        </a:spcAft>
                        <a:buNone/>
                      </a:pPr>
                      <a:r>
                        <a:rPr lang="en-US" sz="1800" b="0" dirty="0">
                          <a:latin typeface="Times New Roman" panose="02020603050405020304" pitchFamily="18" charset="0"/>
                          <a:cs typeface="Times New Roman" panose="02020603050405020304" pitchFamily="18" charset="0"/>
                        </a:rPr>
                        <a:t>This study presents a real-time soil nutrient monitoring system utilizing NPK sensors to enhance fertilizer management and precision agriculture.</a:t>
                      </a:r>
                      <a:endParaRPr lang="en-IN" sz="1800" b="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1000"/>
                        </a:spcAft>
                        <a:buNone/>
                      </a:pPr>
                      <a:r>
                        <a:rPr lang="en-US" sz="1800" b="0" dirty="0">
                          <a:latin typeface="Times New Roman" panose="02020603050405020304" pitchFamily="18" charset="0"/>
                          <a:cs typeface="Times New Roman" panose="02020603050405020304" pitchFamily="18" charset="0"/>
                        </a:rPr>
                        <a:t>This research contributes to the present work by showcasing the application of NPK sensors in real-time soil nutrient monitoring</a:t>
                      </a:r>
                      <a:r>
                        <a:rPr lang="en-US" sz="1800" b="0" dirty="0">
                          <a:effectLst/>
                          <a:latin typeface="Times New Roman" panose="02020603050405020304" pitchFamily="18" charset="0"/>
                          <a:ea typeface="MS Mincho" panose="02020609040205080304" pitchFamily="49" charset="-128"/>
                          <a:cs typeface="Times New Roman" panose="02020603050405020304" pitchFamily="18" charset="0"/>
                        </a:rPr>
                        <a:t>.</a:t>
                      </a:r>
                      <a:endParaRPr lang="en-IN" sz="1800" b="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652604048"/>
                  </a:ext>
                </a:extLst>
              </a:tr>
            </a:tbl>
          </a:graphicData>
        </a:graphic>
      </p:graphicFrame>
    </p:spTree>
    <p:extLst>
      <p:ext uri="{BB962C8B-B14F-4D97-AF65-F5344CB8AC3E}">
        <p14:creationId xmlns:p14="http://schemas.microsoft.com/office/powerpoint/2010/main" val="419057959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E4F0A7-21B1-8737-C43A-606B828D993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9650B8E-A4E7-B409-BAB1-872CE5E14585}"/>
              </a:ext>
            </a:extLst>
          </p:cNvPr>
          <p:cNvSpPr>
            <a:spLocks noGrp="1"/>
          </p:cNvSpPr>
          <p:nvPr>
            <p:ph type="title"/>
          </p:nvPr>
        </p:nvSpPr>
        <p:spPr>
          <a:xfrm>
            <a:off x="312933" y="274637"/>
            <a:ext cx="12934559" cy="977219"/>
          </a:xfrm>
        </p:spPr>
        <p:txBody>
          <a:bodyPr/>
          <a:lstStyle/>
          <a:p>
            <a:r>
              <a:rPr lang="en-IN" b="1" dirty="0">
                <a:latin typeface="Times New Roman" panose="02020603050405020304" pitchFamily="18" charset="0"/>
                <a:cs typeface="Times New Roman" panose="02020603050405020304" pitchFamily="18" charset="0"/>
              </a:rPr>
              <a:t>LITERATURE REVIEW</a:t>
            </a:r>
          </a:p>
        </p:txBody>
      </p:sp>
      <p:sp>
        <p:nvSpPr>
          <p:cNvPr id="4" name="Date Placeholder 3">
            <a:extLst>
              <a:ext uri="{FF2B5EF4-FFF2-40B4-BE49-F238E27FC236}">
                <a16:creationId xmlns:a16="http://schemas.microsoft.com/office/drawing/2014/main" id="{C3158552-B34A-A501-5722-DE984E2D2CF3}"/>
              </a:ext>
            </a:extLst>
          </p:cNvPr>
          <p:cNvSpPr>
            <a:spLocks noGrp="1"/>
          </p:cNvSpPr>
          <p:nvPr>
            <p:ph type="dt" idx="10"/>
          </p:nvPr>
        </p:nvSpPr>
        <p:spPr/>
        <p:txBody>
          <a:bodyPr/>
          <a:lstStyle/>
          <a:p>
            <a:r>
              <a:rPr lang="en-US" dirty="0"/>
              <a:t>03/12/2025</a:t>
            </a:r>
          </a:p>
        </p:txBody>
      </p:sp>
      <p:sp>
        <p:nvSpPr>
          <p:cNvPr id="5" name="Slide Number Placeholder 4">
            <a:extLst>
              <a:ext uri="{FF2B5EF4-FFF2-40B4-BE49-F238E27FC236}">
                <a16:creationId xmlns:a16="http://schemas.microsoft.com/office/drawing/2014/main" id="{E0D657D6-9FBE-D3F6-4AED-33509963B16B}"/>
              </a:ext>
            </a:extLst>
          </p:cNvPr>
          <p:cNvSpPr>
            <a:spLocks noGrp="1"/>
          </p:cNvSpPr>
          <p:nvPr>
            <p:ph type="sldNum" idx="12"/>
          </p:nvPr>
        </p:nvSpPr>
        <p:spPr>
          <a:xfrm>
            <a:off x="9718305" y="6369052"/>
            <a:ext cx="3164099" cy="365125"/>
          </a:xfrm>
        </p:spPr>
        <p:txBody>
          <a:bodyPr/>
          <a:lstStyle/>
          <a:p>
            <a:fld id="{00000000-1234-1234-1234-123412341234}" type="slidenum">
              <a:rPr lang="en-US" smtClean="0"/>
              <a:pPr/>
              <a:t>13</a:t>
            </a:fld>
            <a:endParaRPr lang="en-US"/>
          </a:p>
        </p:txBody>
      </p:sp>
      <p:graphicFrame>
        <p:nvGraphicFramePr>
          <p:cNvPr id="6" name="Table 5">
            <a:extLst>
              <a:ext uri="{FF2B5EF4-FFF2-40B4-BE49-F238E27FC236}">
                <a16:creationId xmlns:a16="http://schemas.microsoft.com/office/drawing/2014/main" id="{453BD3CE-11A9-96A9-8525-EEAF7EA196E8}"/>
              </a:ext>
            </a:extLst>
          </p:cNvPr>
          <p:cNvGraphicFramePr>
            <a:graphicFrameLocks noGrp="1"/>
          </p:cNvGraphicFramePr>
          <p:nvPr>
            <p:extLst>
              <p:ext uri="{D42A27DB-BD31-4B8C-83A1-F6EECF244321}">
                <p14:modId xmlns:p14="http://schemas.microsoft.com/office/powerpoint/2010/main" val="252858787"/>
              </p:ext>
            </p:extLst>
          </p:nvPr>
        </p:nvGraphicFramePr>
        <p:xfrm>
          <a:off x="1034142" y="1236617"/>
          <a:ext cx="11473543" cy="5062441"/>
        </p:xfrm>
        <a:graphic>
          <a:graphicData uri="http://schemas.openxmlformats.org/drawingml/2006/table">
            <a:tbl>
              <a:tblPr firstRow="1" firstCol="1" bandRow="1"/>
              <a:tblGrid>
                <a:gridCol w="608168">
                  <a:extLst>
                    <a:ext uri="{9D8B030D-6E8A-4147-A177-3AD203B41FA5}">
                      <a16:colId xmlns:a16="http://schemas.microsoft.com/office/drawing/2014/main" val="2965436257"/>
                    </a:ext>
                  </a:extLst>
                </a:gridCol>
                <a:gridCol w="1433721">
                  <a:extLst>
                    <a:ext uri="{9D8B030D-6E8A-4147-A177-3AD203B41FA5}">
                      <a16:colId xmlns:a16="http://schemas.microsoft.com/office/drawing/2014/main" val="742294268"/>
                    </a:ext>
                  </a:extLst>
                </a:gridCol>
                <a:gridCol w="884611">
                  <a:extLst>
                    <a:ext uri="{9D8B030D-6E8A-4147-A177-3AD203B41FA5}">
                      <a16:colId xmlns:a16="http://schemas.microsoft.com/office/drawing/2014/main" val="625641553"/>
                    </a:ext>
                  </a:extLst>
                </a:gridCol>
                <a:gridCol w="2015503">
                  <a:extLst>
                    <a:ext uri="{9D8B030D-6E8A-4147-A177-3AD203B41FA5}">
                      <a16:colId xmlns:a16="http://schemas.microsoft.com/office/drawing/2014/main" val="2273655462"/>
                    </a:ext>
                  </a:extLst>
                </a:gridCol>
                <a:gridCol w="2186394">
                  <a:extLst>
                    <a:ext uri="{9D8B030D-6E8A-4147-A177-3AD203B41FA5}">
                      <a16:colId xmlns:a16="http://schemas.microsoft.com/office/drawing/2014/main" val="4193832418"/>
                    </a:ext>
                  </a:extLst>
                </a:gridCol>
                <a:gridCol w="2447758">
                  <a:extLst>
                    <a:ext uri="{9D8B030D-6E8A-4147-A177-3AD203B41FA5}">
                      <a16:colId xmlns:a16="http://schemas.microsoft.com/office/drawing/2014/main" val="216676152"/>
                    </a:ext>
                  </a:extLst>
                </a:gridCol>
                <a:gridCol w="1897388">
                  <a:extLst>
                    <a:ext uri="{9D8B030D-6E8A-4147-A177-3AD203B41FA5}">
                      <a16:colId xmlns:a16="http://schemas.microsoft.com/office/drawing/2014/main" val="1726290608"/>
                    </a:ext>
                  </a:extLst>
                </a:gridCol>
              </a:tblGrid>
              <a:tr h="986630">
                <a:tc>
                  <a:txBody>
                    <a:bodyPr/>
                    <a:lstStyle/>
                    <a:p>
                      <a:pPr algn="ctr">
                        <a:lnSpc>
                          <a:spcPct val="115000"/>
                        </a:lnSpc>
                        <a:spcAft>
                          <a:spcPts val="1000"/>
                        </a:spcAft>
                        <a:buNone/>
                      </a:pPr>
                      <a:r>
                        <a:rPr lang="en-US" sz="1800" b="0" i="0" dirty="0">
                          <a:effectLst/>
                          <a:latin typeface="Times New Roman" panose="02020603050405020304" pitchFamily="18" charset="0"/>
                          <a:ea typeface="MS Mincho" panose="02020609040205080304" pitchFamily="49" charset="-128"/>
                          <a:cs typeface="Times New Roman" panose="02020603050405020304" pitchFamily="18" charset="0"/>
                        </a:rPr>
                        <a:t>Sr. No</a:t>
                      </a:r>
                      <a:endParaRPr lang="en-IN" sz="1800" b="0" i="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1000"/>
                        </a:spcAft>
                        <a:buNone/>
                      </a:pPr>
                      <a:r>
                        <a:rPr lang="en-US" sz="1800" b="0" i="0" dirty="0">
                          <a:effectLst/>
                          <a:latin typeface="Times New Roman" panose="02020603050405020304" pitchFamily="18" charset="0"/>
                          <a:ea typeface="MS Mincho" panose="02020609040205080304" pitchFamily="49" charset="-128"/>
                          <a:cs typeface="Times New Roman" panose="02020603050405020304" pitchFamily="18" charset="0"/>
                        </a:rPr>
                        <a:t>Author(s)</a:t>
                      </a:r>
                      <a:endParaRPr lang="en-IN" sz="1800" b="0" i="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1000"/>
                        </a:spcAft>
                        <a:buNone/>
                      </a:pPr>
                      <a:r>
                        <a:rPr lang="en-US" sz="1800" b="0" i="0" dirty="0">
                          <a:effectLst/>
                          <a:latin typeface="Times New Roman" panose="02020603050405020304" pitchFamily="18" charset="0"/>
                          <a:ea typeface="MS Mincho" panose="02020609040205080304" pitchFamily="49" charset="-128"/>
                          <a:cs typeface="Times New Roman" panose="02020603050405020304" pitchFamily="18" charset="0"/>
                        </a:rPr>
                        <a:t>Year</a:t>
                      </a:r>
                      <a:endParaRPr lang="en-IN" sz="1800" b="0" i="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1000"/>
                        </a:spcAft>
                        <a:buNone/>
                      </a:pPr>
                      <a:r>
                        <a:rPr lang="en-US" sz="1800" b="0" i="0" dirty="0">
                          <a:effectLst/>
                          <a:latin typeface="Times New Roman" panose="02020603050405020304" pitchFamily="18" charset="0"/>
                          <a:ea typeface="MS Mincho" panose="02020609040205080304" pitchFamily="49" charset="-128"/>
                          <a:cs typeface="Times New Roman" panose="02020603050405020304" pitchFamily="18" charset="0"/>
                        </a:rPr>
                        <a:t>Title</a:t>
                      </a:r>
                      <a:endParaRPr lang="en-IN" sz="1800" b="0" i="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1000"/>
                        </a:spcAft>
                        <a:buNone/>
                      </a:pPr>
                      <a:r>
                        <a:rPr lang="en-US" sz="1800" b="0" i="0" dirty="0">
                          <a:effectLst/>
                          <a:latin typeface="Times New Roman" panose="02020603050405020304" pitchFamily="18" charset="0"/>
                          <a:ea typeface="MS Mincho" panose="02020609040205080304" pitchFamily="49" charset="-128"/>
                          <a:cs typeface="Times New Roman" panose="02020603050405020304" pitchFamily="18" charset="0"/>
                        </a:rPr>
                        <a:t>Source</a:t>
                      </a:r>
                      <a:endParaRPr lang="en-IN" sz="1800" b="0" i="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1000"/>
                        </a:spcAft>
                        <a:buNone/>
                      </a:pPr>
                      <a:r>
                        <a:rPr lang="en-US" sz="1800" b="0" i="0">
                          <a:effectLst/>
                          <a:latin typeface="Times New Roman" panose="02020603050405020304" pitchFamily="18" charset="0"/>
                          <a:ea typeface="MS Mincho" panose="02020609040205080304" pitchFamily="49" charset="-128"/>
                          <a:cs typeface="Times New Roman" panose="02020603050405020304" pitchFamily="18" charset="0"/>
                        </a:rPr>
                        <a:t>Method / Findings</a:t>
                      </a:r>
                      <a:endParaRPr lang="en-IN" sz="1800" b="0" i="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1000"/>
                        </a:spcAft>
                        <a:buNone/>
                      </a:pPr>
                      <a:r>
                        <a:rPr lang="en-US" sz="1800" b="0" i="0" dirty="0">
                          <a:effectLst/>
                          <a:latin typeface="Times New Roman" panose="02020603050405020304" pitchFamily="18" charset="0"/>
                          <a:ea typeface="MS Mincho" panose="02020609040205080304" pitchFamily="49" charset="-128"/>
                          <a:cs typeface="Times New Roman" panose="02020603050405020304" pitchFamily="18" charset="0"/>
                        </a:rPr>
                        <a:t>Contribution to Present Work</a:t>
                      </a:r>
                      <a:endParaRPr lang="en-IN" sz="1800" b="0" i="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773917291"/>
                  </a:ext>
                </a:extLst>
              </a:tr>
              <a:tr h="3845544">
                <a:tc>
                  <a:txBody>
                    <a:bodyPr/>
                    <a:lstStyle/>
                    <a:p>
                      <a:pPr>
                        <a:lnSpc>
                          <a:spcPct val="115000"/>
                        </a:lnSpc>
                        <a:spcAft>
                          <a:spcPts val="1000"/>
                        </a:spcAft>
                        <a:buNone/>
                      </a:pPr>
                      <a:r>
                        <a:rPr lang="en-US" sz="1800" b="0" i="0" dirty="0">
                          <a:effectLst/>
                          <a:latin typeface="Times New Roman" panose="02020603050405020304" pitchFamily="18" charset="0"/>
                          <a:ea typeface="MS Mincho" panose="02020609040205080304" pitchFamily="49" charset="-128"/>
                          <a:cs typeface="Times New Roman" panose="02020603050405020304" pitchFamily="18" charset="0"/>
                        </a:rPr>
                        <a:t>9</a:t>
                      </a:r>
                      <a:endParaRPr lang="en-IN" sz="1800" b="0" i="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r>
                        <a:rPr lang="en-US" sz="1800" b="0" i="0" u="none" strike="noStrike" cap="none" dirty="0">
                          <a:solidFill>
                            <a:schemeClr val="tx1"/>
                          </a:solidFill>
                          <a:effectLst/>
                          <a:latin typeface="Times New Roman" panose="02020603050405020304" pitchFamily="18" charset="0"/>
                          <a:ea typeface="+mn-ea"/>
                          <a:cs typeface="Times New Roman" panose="02020603050405020304" pitchFamily="18" charset="0"/>
                          <a:sym typeface="Arial"/>
                        </a:rPr>
                        <a:t>Dr. G.Rajamuneeswara n, P.Hridhya, B.Sakthivel,</a:t>
                      </a:r>
                      <a:endParaRPr lang="en-IN" sz="1800" b="0" i="0" u="none" strike="noStrike" cap="none" dirty="0">
                        <a:solidFill>
                          <a:schemeClr val="tx1"/>
                        </a:solidFill>
                        <a:effectLst/>
                        <a:latin typeface="Times New Roman" panose="02020603050405020304" pitchFamily="18" charset="0"/>
                        <a:ea typeface="+mn-ea"/>
                        <a:cs typeface="Times New Roman" panose="02020603050405020304" pitchFamily="18" charset="0"/>
                        <a:sym typeface="Arial"/>
                      </a:endParaRPr>
                    </a:p>
                    <a:p>
                      <a:r>
                        <a:rPr lang="en-US" sz="1800" b="0" i="0" u="none" strike="noStrike" cap="none" dirty="0">
                          <a:solidFill>
                            <a:schemeClr val="tx1"/>
                          </a:solidFill>
                          <a:effectLst/>
                          <a:latin typeface="Times New Roman" panose="02020603050405020304" pitchFamily="18" charset="0"/>
                          <a:ea typeface="+mn-ea"/>
                          <a:cs typeface="Times New Roman" panose="02020603050405020304" pitchFamily="18" charset="0"/>
                          <a:sym typeface="Arial"/>
                        </a:rPr>
                        <a:t>N.Gayathri Bai</a:t>
                      </a:r>
                      <a:endParaRPr lang="en-IN" sz="1800" b="0" i="0" kern="50" dirty="0">
                        <a:effectLst/>
                        <a:latin typeface="Times New Roman" panose="02020603050405020304" pitchFamily="18" charset="0"/>
                        <a:ea typeface="DejaVu Sans"/>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1000"/>
                        </a:spcAft>
                        <a:buNone/>
                      </a:pPr>
                      <a:r>
                        <a:rPr lang="en-US" sz="1800" b="0" i="0" dirty="0">
                          <a:effectLst/>
                          <a:latin typeface="Times New Roman" panose="02020603050405020304" pitchFamily="18" charset="0"/>
                          <a:ea typeface="MS Mincho" panose="02020609040205080304" pitchFamily="49" charset="-128"/>
                          <a:cs typeface="Times New Roman" panose="02020603050405020304" pitchFamily="18" charset="0"/>
                        </a:rPr>
                        <a:t>2024</a:t>
                      </a:r>
                      <a:endParaRPr lang="en-IN" sz="1800" b="0" i="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buNone/>
                      </a:pPr>
                      <a:r>
                        <a:rPr lang="en-US" sz="1800" b="0" i="0" u="none" strike="noStrike" cap="none" dirty="0">
                          <a:solidFill>
                            <a:schemeClr val="tx1"/>
                          </a:solidFill>
                          <a:effectLst/>
                          <a:latin typeface="Times New Roman" panose="02020603050405020304" pitchFamily="18" charset="0"/>
                          <a:ea typeface="+mn-ea"/>
                          <a:cs typeface="Times New Roman" panose="02020603050405020304" pitchFamily="18" charset="0"/>
                          <a:sym typeface="Arial"/>
                        </a:rPr>
                        <a:t>Smart Compost Guardian: An IOT-Based Real-Time Compost Monitoring and Alert System</a:t>
                      </a:r>
                      <a:r>
                        <a:rPr lang="en-US" sz="1800" b="0" i="0" kern="50" dirty="0">
                          <a:effectLst/>
                          <a:latin typeface="Times New Roman" panose="02020603050405020304" pitchFamily="18" charset="0"/>
                          <a:ea typeface="DejaVu Sans"/>
                          <a:cs typeface="Times New Roman" panose="02020603050405020304" pitchFamily="18" charset="0"/>
                        </a:rPr>
                        <a:t> </a:t>
                      </a:r>
                      <a:endParaRPr lang="en-IN" sz="1800" b="0" i="0" kern="50" dirty="0">
                        <a:effectLst/>
                        <a:latin typeface="Times New Roman" panose="02020603050405020304" pitchFamily="18" charset="0"/>
                        <a:ea typeface="DejaVu Sans"/>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1000"/>
                        </a:spcAft>
                        <a:buNone/>
                      </a:pPr>
                      <a:r>
                        <a:rPr lang="en-US" sz="1800" b="0" i="0" dirty="0">
                          <a:latin typeface="Times New Roman" panose="02020603050405020304" pitchFamily="18" charset="0"/>
                          <a:cs typeface="Times New Roman" panose="02020603050405020304" pitchFamily="18" charset="0"/>
                        </a:rPr>
                        <a:t>International Journal of Engineering Research &amp; Technology (IJERT), Vol. 13, Issue 5, June 2024</a:t>
                      </a:r>
                      <a:endParaRPr lang="en-IN" sz="1800" b="0" i="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1000"/>
                        </a:spcAft>
                        <a:buNone/>
                      </a:pPr>
                      <a:r>
                        <a:rPr lang="en-US" sz="1800" b="0" i="0" dirty="0">
                          <a:latin typeface="Times New Roman" panose="02020603050405020304" pitchFamily="18" charset="0"/>
                          <a:cs typeface="Times New Roman" panose="02020603050405020304" pitchFamily="18" charset="0"/>
                        </a:rPr>
                        <a:t>This study introduces the "Smart Compost Guardian," an IoT-based system designed to monitor and manage composting conditions in real-time. Utilizing a Raspberry Pi and DHT11 sensor, the system tracks temperature and humidity levels within compost bins.</a:t>
                      </a:r>
                      <a:endParaRPr lang="en-IN" sz="1800" b="0" i="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1000"/>
                        </a:spcAft>
                        <a:buNone/>
                      </a:pPr>
                      <a:r>
                        <a:rPr lang="en-US" sz="1800" b="0" i="0" dirty="0">
                          <a:latin typeface="Times New Roman" panose="02020603050405020304" pitchFamily="18" charset="0"/>
                          <a:cs typeface="Times New Roman" panose="02020603050405020304" pitchFamily="18" charset="0"/>
                        </a:rPr>
                        <a:t>The research contributes to the present work by providing a practical implementation of IoT technology in compost monitor. It emphasizes the importance of real-time data collection and user notifications.</a:t>
                      </a:r>
                      <a:endParaRPr lang="en-IN" sz="1800" b="0" i="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652604048"/>
                  </a:ext>
                </a:extLst>
              </a:tr>
            </a:tbl>
          </a:graphicData>
        </a:graphic>
      </p:graphicFrame>
    </p:spTree>
    <p:extLst>
      <p:ext uri="{BB962C8B-B14F-4D97-AF65-F5344CB8AC3E}">
        <p14:creationId xmlns:p14="http://schemas.microsoft.com/office/powerpoint/2010/main" val="286749086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34A2DD-31F4-A5B7-BFAB-3D04FD95088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C69DE60-07A8-FCB5-A276-71EA36B885C8}"/>
              </a:ext>
            </a:extLst>
          </p:cNvPr>
          <p:cNvSpPr>
            <a:spLocks noGrp="1"/>
          </p:cNvSpPr>
          <p:nvPr>
            <p:ph type="title"/>
          </p:nvPr>
        </p:nvSpPr>
        <p:spPr>
          <a:xfrm>
            <a:off x="312933" y="274637"/>
            <a:ext cx="12934559" cy="977219"/>
          </a:xfrm>
        </p:spPr>
        <p:txBody>
          <a:bodyPr/>
          <a:lstStyle/>
          <a:p>
            <a:r>
              <a:rPr lang="en-IN" b="1" dirty="0">
                <a:latin typeface="Times New Roman" panose="02020603050405020304" pitchFamily="18" charset="0"/>
                <a:cs typeface="Times New Roman" panose="02020603050405020304" pitchFamily="18" charset="0"/>
              </a:rPr>
              <a:t>LITERATURE REVIEW</a:t>
            </a:r>
          </a:p>
        </p:txBody>
      </p:sp>
      <p:sp>
        <p:nvSpPr>
          <p:cNvPr id="4" name="Date Placeholder 3">
            <a:extLst>
              <a:ext uri="{FF2B5EF4-FFF2-40B4-BE49-F238E27FC236}">
                <a16:creationId xmlns:a16="http://schemas.microsoft.com/office/drawing/2014/main" id="{8423E2BA-8810-F813-01ED-080CAEC8FF03}"/>
              </a:ext>
            </a:extLst>
          </p:cNvPr>
          <p:cNvSpPr>
            <a:spLocks noGrp="1"/>
          </p:cNvSpPr>
          <p:nvPr>
            <p:ph type="dt" idx="10"/>
          </p:nvPr>
        </p:nvSpPr>
        <p:spPr/>
        <p:txBody>
          <a:bodyPr/>
          <a:lstStyle/>
          <a:p>
            <a:r>
              <a:rPr lang="en-US" dirty="0"/>
              <a:t>03/12/2025</a:t>
            </a:r>
          </a:p>
        </p:txBody>
      </p:sp>
      <p:sp>
        <p:nvSpPr>
          <p:cNvPr id="5" name="Slide Number Placeholder 4">
            <a:extLst>
              <a:ext uri="{FF2B5EF4-FFF2-40B4-BE49-F238E27FC236}">
                <a16:creationId xmlns:a16="http://schemas.microsoft.com/office/drawing/2014/main" id="{9AB16B7A-E0FC-17E3-F886-22FA9B08AE3A}"/>
              </a:ext>
            </a:extLst>
          </p:cNvPr>
          <p:cNvSpPr>
            <a:spLocks noGrp="1"/>
          </p:cNvSpPr>
          <p:nvPr>
            <p:ph type="sldNum" idx="12"/>
          </p:nvPr>
        </p:nvSpPr>
        <p:spPr/>
        <p:txBody>
          <a:bodyPr/>
          <a:lstStyle/>
          <a:p>
            <a:fld id="{00000000-1234-1234-1234-123412341234}" type="slidenum">
              <a:rPr lang="en-US" smtClean="0"/>
              <a:pPr/>
              <a:t>14</a:t>
            </a:fld>
            <a:endParaRPr lang="en-US"/>
          </a:p>
        </p:txBody>
      </p:sp>
      <p:graphicFrame>
        <p:nvGraphicFramePr>
          <p:cNvPr id="6" name="Table 5">
            <a:extLst>
              <a:ext uri="{FF2B5EF4-FFF2-40B4-BE49-F238E27FC236}">
                <a16:creationId xmlns:a16="http://schemas.microsoft.com/office/drawing/2014/main" id="{66883872-8BB3-59B7-6A83-D1BCA10D885D}"/>
              </a:ext>
            </a:extLst>
          </p:cNvPr>
          <p:cNvGraphicFramePr>
            <a:graphicFrameLocks noGrp="1"/>
          </p:cNvGraphicFramePr>
          <p:nvPr>
            <p:extLst>
              <p:ext uri="{D42A27DB-BD31-4B8C-83A1-F6EECF244321}">
                <p14:modId xmlns:p14="http://schemas.microsoft.com/office/powerpoint/2010/main" val="3798179628"/>
              </p:ext>
            </p:extLst>
          </p:nvPr>
        </p:nvGraphicFramePr>
        <p:xfrm>
          <a:off x="1016000" y="1236617"/>
          <a:ext cx="11491685" cy="4832174"/>
        </p:xfrm>
        <a:graphic>
          <a:graphicData uri="http://schemas.openxmlformats.org/drawingml/2006/table">
            <a:tbl>
              <a:tblPr firstRow="1" firstCol="1" bandRow="1"/>
              <a:tblGrid>
                <a:gridCol w="626310">
                  <a:extLst>
                    <a:ext uri="{9D8B030D-6E8A-4147-A177-3AD203B41FA5}">
                      <a16:colId xmlns:a16="http://schemas.microsoft.com/office/drawing/2014/main" val="2965436257"/>
                    </a:ext>
                  </a:extLst>
                </a:gridCol>
                <a:gridCol w="1433721">
                  <a:extLst>
                    <a:ext uri="{9D8B030D-6E8A-4147-A177-3AD203B41FA5}">
                      <a16:colId xmlns:a16="http://schemas.microsoft.com/office/drawing/2014/main" val="742294268"/>
                    </a:ext>
                  </a:extLst>
                </a:gridCol>
                <a:gridCol w="884611">
                  <a:extLst>
                    <a:ext uri="{9D8B030D-6E8A-4147-A177-3AD203B41FA5}">
                      <a16:colId xmlns:a16="http://schemas.microsoft.com/office/drawing/2014/main" val="625641553"/>
                    </a:ext>
                  </a:extLst>
                </a:gridCol>
                <a:gridCol w="2015503">
                  <a:extLst>
                    <a:ext uri="{9D8B030D-6E8A-4147-A177-3AD203B41FA5}">
                      <a16:colId xmlns:a16="http://schemas.microsoft.com/office/drawing/2014/main" val="2273655462"/>
                    </a:ext>
                  </a:extLst>
                </a:gridCol>
                <a:gridCol w="2186394">
                  <a:extLst>
                    <a:ext uri="{9D8B030D-6E8A-4147-A177-3AD203B41FA5}">
                      <a16:colId xmlns:a16="http://schemas.microsoft.com/office/drawing/2014/main" val="4193832418"/>
                    </a:ext>
                  </a:extLst>
                </a:gridCol>
                <a:gridCol w="2447758">
                  <a:extLst>
                    <a:ext uri="{9D8B030D-6E8A-4147-A177-3AD203B41FA5}">
                      <a16:colId xmlns:a16="http://schemas.microsoft.com/office/drawing/2014/main" val="216676152"/>
                    </a:ext>
                  </a:extLst>
                </a:gridCol>
                <a:gridCol w="1897388">
                  <a:extLst>
                    <a:ext uri="{9D8B030D-6E8A-4147-A177-3AD203B41FA5}">
                      <a16:colId xmlns:a16="http://schemas.microsoft.com/office/drawing/2014/main" val="1726290608"/>
                    </a:ext>
                  </a:extLst>
                </a:gridCol>
              </a:tblGrid>
              <a:tr h="986630">
                <a:tc>
                  <a:txBody>
                    <a:bodyPr/>
                    <a:lstStyle/>
                    <a:p>
                      <a:pPr algn="ctr">
                        <a:lnSpc>
                          <a:spcPct val="115000"/>
                        </a:lnSpc>
                        <a:spcAft>
                          <a:spcPts val="1000"/>
                        </a:spcAft>
                        <a:buNone/>
                      </a:pPr>
                      <a:r>
                        <a:rPr lang="en-US" sz="1800" b="0" dirty="0">
                          <a:effectLst/>
                          <a:latin typeface="Times New Roman" panose="02020603050405020304" pitchFamily="18" charset="0"/>
                          <a:ea typeface="MS Mincho" panose="02020609040205080304" pitchFamily="49" charset="-128"/>
                          <a:cs typeface="Times New Roman" panose="02020603050405020304" pitchFamily="18" charset="0"/>
                        </a:rPr>
                        <a:t>Sr. No</a:t>
                      </a:r>
                      <a:endParaRPr lang="en-IN" sz="1800" b="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1000"/>
                        </a:spcAft>
                        <a:buNone/>
                      </a:pPr>
                      <a:r>
                        <a:rPr lang="en-US" sz="1800" b="0" dirty="0">
                          <a:effectLst/>
                          <a:latin typeface="Times New Roman" panose="02020603050405020304" pitchFamily="18" charset="0"/>
                          <a:ea typeface="MS Mincho" panose="02020609040205080304" pitchFamily="49" charset="-128"/>
                          <a:cs typeface="Times New Roman" panose="02020603050405020304" pitchFamily="18" charset="0"/>
                        </a:rPr>
                        <a:t>Author(s)</a:t>
                      </a:r>
                      <a:endParaRPr lang="en-IN" sz="1800" b="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1000"/>
                        </a:spcAft>
                        <a:buNone/>
                      </a:pPr>
                      <a:r>
                        <a:rPr lang="en-US" sz="1800" b="0" dirty="0">
                          <a:effectLst/>
                          <a:latin typeface="Times New Roman" panose="02020603050405020304" pitchFamily="18" charset="0"/>
                          <a:ea typeface="MS Mincho" panose="02020609040205080304" pitchFamily="49" charset="-128"/>
                          <a:cs typeface="Times New Roman" panose="02020603050405020304" pitchFamily="18" charset="0"/>
                        </a:rPr>
                        <a:t>Year</a:t>
                      </a:r>
                      <a:endParaRPr lang="en-IN" sz="1800" b="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1000"/>
                        </a:spcAft>
                        <a:buNone/>
                      </a:pPr>
                      <a:r>
                        <a:rPr lang="en-US" sz="1800" b="0" dirty="0">
                          <a:effectLst/>
                          <a:latin typeface="Times New Roman" panose="02020603050405020304" pitchFamily="18" charset="0"/>
                          <a:ea typeface="MS Mincho" panose="02020609040205080304" pitchFamily="49" charset="-128"/>
                          <a:cs typeface="Times New Roman" panose="02020603050405020304" pitchFamily="18" charset="0"/>
                        </a:rPr>
                        <a:t>Title</a:t>
                      </a:r>
                      <a:endParaRPr lang="en-IN" sz="1800" b="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1000"/>
                        </a:spcAft>
                        <a:buNone/>
                      </a:pPr>
                      <a:r>
                        <a:rPr lang="en-US" sz="1800" b="0" dirty="0">
                          <a:effectLst/>
                          <a:latin typeface="Times New Roman" panose="02020603050405020304" pitchFamily="18" charset="0"/>
                          <a:ea typeface="MS Mincho" panose="02020609040205080304" pitchFamily="49" charset="-128"/>
                          <a:cs typeface="Times New Roman" panose="02020603050405020304" pitchFamily="18" charset="0"/>
                        </a:rPr>
                        <a:t>Source</a:t>
                      </a:r>
                      <a:endParaRPr lang="en-IN" sz="1800" b="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1000"/>
                        </a:spcAft>
                        <a:buNone/>
                      </a:pPr>
                      <a:r>
                        <a:rPr lang="en-US" sz="1800" b="0">
                          <a:effectLst/>
                          <a:latin typeface="Times New Roman" panose="02020603050405020304" pitchFamily="18" charset="0"/>
                          <a:ea typeface="MS Mincho" panose="02020609040205080304" pitchFamily="49" charset="-128"/>
                          <a:cs typeface="Times New Roman" panose="02020603050405020304" pitchFamily="18" charset="0"/>
                        </a:rPr>
                        <a:t>Method / Findings</a:t>
                      </a:r>
                      <a:endParaRPr lang="en-IN" sz="1800" b="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1000"/>
                        </a:spcAft>
                        <a:buNone/>
                      </a:pPr>
                      <a:r>
                        <a:rPr lang="en-US" sz="1800" b="0" dirty="0">
                          <a:effectLst/>
                          <a:latin typeface="Times New Roman" panose="02020603050405020304" pitchFamily="18" charset="0"/>
                          <a:ea typeface="MS Mincho" panose="02020609040205080304" pitchFamily="49" charset="-128"/>
                          <a:cs typeface="Times New Roman" panose="02020603050405020304" pitchFamily="18" charset="0"/>
                        </a:rPr>
                        <a:t>Contribution to Present Work</a:t>
                      </a:r>
                      <a:endParaRPr lang="en-IN" sz="1800" b="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773917291"/>
                  </a:ext>
                </a:extLst>
              </a:tr>
              <a:tr h="3845544">
                <a:tc>
                  <a:txBody>
                    <a:bodyPr/>
                    <a:lstStyle/>
                    <a:p>
                      <a:pPr>
                        <a:lnSpc>
                          <a:spcPct val="115000"/>
                        </a:lnSpc>
                        <a:spcAft>
                          <a:spcPts val="1000"/>
                        </a:spcAft>
                        <a:buNone/>
                      </a:pPr>
                      <a:r>
                        <a:rPr lang="en-US" sz="1800" b="0" dirty="0">
                          <a:effectLst/>
                          <a:latin typeface="Times New Roman" panose="02020603050405020304" pitchFamily="18" charset="0"/>
                          <a:ea typeface="MS Mincho" panose="02020609040205080304" pitchFamily="49" charset="-128"/>
                          <a:cs typeface="Times New Roman" panose="02020603050405020304" pitchFamily="18" charset="0"/>
                        </a:rPr>
                        <a:t>10</a:t>
                      </a:r>
                      <a:endParaRPr lang="en-IN" sz="1800" b="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r>
                        <a:rPr lang="en-US" sz="1800" b="0" i="0" u="none" strike="noStrike" cap="none" dirty="0">
                          <a:solidFill>
                            <a:schemeClr val="tx1"/>
                          </a:solidFill>
                          <a:effectLst/>
                          <a:latin typeface="Times New Roman" panose="02020603050405020304" pitchFamily="18" charset="0"/>
                          <a:ea typeface="+mn-ea"/>
                          <a:cs typeface="Times New Roman" panose="02020603050405020304" pitchFamily="18" charset="0"/>
                          <a:sym typeface="Arial"/>
                        </a:rPr>
                        <a:t>Swapna Raghunath,</a:t>
                      </a:r>
                      <a:endParaRPr lang="en-IN" sz="1800" b="0" i="0" u="none" strike="noStrike" cap="none" dirty="0">
                        <a:solidFill>
                          <a:schemeClr val="tx1"/>
                        </a:solidFill>
                        <a:effectLst/>
                        <a:latin typeface="Times New Roman" panose="02020603050405020304" pitchFamily="18" charset="0"/>
                        <a:ea typeface="+mn-ea"/>
                        <a:cs typeface="Times New Roman" panose="02020603050405020304" pitchFamily="18" charset="0"/>
                        <a:sym typeface="Arial"/>
                      </a:endParaRPr>
                    </a:p>
                    <a:p>
                      <a:r>
                        <a:rPr lang="en-US" sz="1800" b="0" i="0" u="none" strike="noStrike" cap="none" dirty="0">
                          <a:solidFill>
                            <a:schemeClr val="tx1"/>
                          </a:solidFill>
                          <a:effectLst/>
                          <a:latin typeface="Times New Roman" panose="02020603050405020304" pitchFamily="18" charset="0"/>
                          <a:ea typeface="+mn-ea"/>
                          <a:cs typeface="Times New Roman" panose="02020603050405020304" pitchFamily="18" charset="0"/>
                          <a:sym typeface="Arial"/>
                        </a:rPr>
                        <a:t>S.S Nasira Banu,</a:t>
                      </a:r>
                      <a:endParaRPr lang="en-IN" sz="1800" b="0" i="0" u="none" strike="noStrike" cap="none" dirty="0">
                        <a:solidFill>
                          <a:schemeClr val="tx1"/>
                        </a:solidFill>
                        <a:effectLst/>
                        <a:latin typeface="Times New Roman" panose="02020603050405020304" pitchFamily="18" charset="0"/>
                        <a:ea typeface="+mn-ea"/>
                        <a:cs typeface="Times New Roman" panose="02020603050405020304" pitchFamily="18" charset="0"/>
                        <a:sym typeface="Arial"/>
                      </a:endParaRPr>
                    </a:p>
                    <a:p>
                      <a:r>
                        <a:rPr lang="en-US" sz="1800" b="0" i="0" u="none" strike="noStrike" cap="none" dirty="0">
                          <a:solidFill>
                            <a:schemeClr val="tx1"/>
                          </a:solidFill>
                          <a:effectLst/>
                          <a:latin typeface="Times New Roman" panose="02020603050405020304" pitchFamily="18" charset="0"/>
                          <a:ea typeface="+mn-ea"/>
                          <a:cs typeface="Times New Roman" panose="02020603050405020304" pitchFamily="18" charset="0"/>
                          <a:sym typeface="Arial"/>
                        </a:rPr>
                        <a:t>Prathima Talluri,</a:t>
                      </a:r>
                      <a:endParaRPr lang="en-IN" sz="1800" b="0" i="0" u="none" strike="noStrike" cap="none" dirty="0">
                        <a:solidFill>
                          <a:schemeClr val="tx1"/>
                        </a:solidFill>
                        <a:effectLst/>
                        <a:latin typeface="Times New Roman" panose="02020603050405020304" pitchFamily="18" charset="0"/>
                        <a:ea typeface="+mn-ea"/>
                        <a:cs typeface="Times New Roman" panose="02020603050405020304" pitchFamily="18" charset="0"/>
                        <a:sym typeface="Arial"/>
                      </a:endParaRPr>
                    </a:p>
                    <a:p>
                      <a:r>
                        <a:rPr lang="en-US" sz="1800" b="0" i="0" u="none" strike="noStrike" cap="none" dirty="0">
                          <a:solidFill>
                            <a:schemeClr val="tx1"/>
                          </a:solidFill>
                          <a:effectLst/>
                          <a:latin typeface="Times New Roman" panose="02020603050405020304" pitchFamily="18" charset="0"/>
                          <a:ea typeface="+mn-ea"/>
                          <a:cs typeface="Times New Roman" panose="02020603050405020304" pitchFamily="18" charset="0"/>
                          <a:sym typeface="Arial"/>
                        </a:rPr>
                        <a:t> V. Nanditha Reddy, Lakshita Chouhan</a:t>
                      </a:r>
                      <a:endParaRPr lang="en-IN" sz="1800" b="0" kern="50" dirty="0">
                        <a:effectLst/>
                        <a:latin typeface="Times New Roman" panose="02020603050405020304" pitchFamily="18" charset="0"/>
                        <a:ea typeface="DejaVu Sans"/>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1000"/>
                        </a:spcAft>
                        <a:buNone/>
                      </a:pPr>
                      <a:r>
                        <a:rPr lang="en-US" sz="1800" b="0" dirty="0">
                          <a:effectLst/>
                          <a:latin typeface="Times New Roman" panose="02020603050405020304" pitchFamily="18" charset="0"/>
                          <a:ea typeface="MS Mincho" panose="02020609040205080304" pitchFamily="49" charset="-128"/>
                          <a:cs typeface="Times New Roman" panose="02020603050405020304" pitchFamily="18" charset="0"/>
                        </a:rPr>
                        <a:t>2025</a:t>
                      </a:r>
                      <a:endParaRPr lang="en-IN" sz="1800" b="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r>
                        <a:rPr lang="en-IN" sz="1800" b="0" i="0" u="none" strike="noStrike" cap="none" dirty="0">
                          <a:solidFill>
                            <a:schemeClr val="tx1"/>
                          </a:solidFill>
                          <a:effectLst/>
                          <a:latin typeface="Times New Roman" panose="02020603050405020304" pitchFamily="18" charset="0"/>
                          <a:ea typeface="+mn-ea"/>
                          <a:cs typeface="Times New Roman" panose="02020603050405020304" pitchFamily="18" charset="0"/>
                          <a:sym typeface="Arial"/>
                        </a:rPr>
                        <a:t>Sensor Integrated Smart Composting Bin for Household Applications</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1000"/>
                        </a:spcAft>
                        <a:buNone/>
                      </a:pPr>
                      <a:r>
                        <a:rPr lang="en-IN" sz="1800" b="0" dirty="0">
                          <a:latin typeface="Times New Roman" panose="02020603050405020304" pitchFamily="18" charset="0"/>
                          <a:cs typeface="Times New Roman" panose="02020603050405020304" pitchFamily="18" charset="0"/>
                        </a:rPr>
                        <a:t>International Conference on Emerging Trends in Industry 4.0 Technologies (ICETI4T), 2025.</a:t>
                      </a:r>
                      <a:endParaRPr lang="en-IN" sz="1800" b="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1000"/>
                        </a:spcAft>
                        <a:buNone/>
                      </a:pPr>
                      <a:r>
                        <a:rPr lang="en-US" sz="1800" b="0" dirty="0">
                          <a:latin typeface="Times New Roman" panose="02020603050405020304" pitchFamily="18" charset="0"/>
                          <a:cs typeface="Times New Roman" panose="02020603050405020304" pitchFamily="18" charset="0"/>
                        </a:rPr>
                        <a:t>The system utilizes sensors to monitor key parameters such as temperature, moisture, and aeration, ensuring optimal composting conditions. The integration of these sensors allows for real-time data collection and management.</a:t>
                      </a:r>
                      <a:endParaRPr lang="en-IN" sz="1800" b="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1000"/>
                        </a:spcAft>
                        <a:buNone/>
                      </a:pPr>
                      <a:r>
                        <a:rPr lang="en-US" sz="1800" b="0" dirty="0">
                          <a:latin typeface="Times New Roman" panose="02020603050405020304" pitchFamily="18" charset="0"/>
                          <a:cs typeface="Times New Roman" panose="02020603050405020304" pitchFamily="18" charset="0"/>
                        </a:rPr>
                        <a:t>The research contributes to the present work by demonstrating the feasibility and benefits of incorporating sensor technology into household composting systems.</a:t>
                      </a:r>
                      <a:endParaRPr lang="en-IN" sz="1800" b="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652604048"/>
                  </a:ext>
                </a:extLst>
              </a:tr>
            </a:tbl>
          </a:graphicData>
        </a:graphic>
      </p:graphicFrame>
    </p:spTree>
    <p:extLst>
      <p:ext uri="{BB962C8B-B14F-4D97-AF65-F5344CB8AC3E}">
        <p14:creationId xmlns:p14="http://schemas.microsoft.com/office/powerpoint/2010/main" val="391280247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855C13-AC26-334C-D996-08A5DFCEBD17}"/>
              </a:ext>
            </a:extLst>
          </p:cNvPr>
          <p:cNvSpPr>
            <a:spLocks noGrp="1"/>
          </p:cNvSpPr>
          <p:nvPr>
            <p:ph type="title"/>
          </p:nvPr>
        </p:nvSpPr>
        <p:spPr>
          <a:xfrm>
            <a:off x="312933" y="274637"/>
            <a:ext cx="12934559" cy="934583"/>
          </a:xfrm>
        </p:spPr>
        <p:txBody>
          <a:bodyPr/>
          <a:lstStyle/>
          <a:p>
            <a:r>
              <a:rPr lang="en-GB" b="1" dirty="0">
                <a:latin typeface="Times New Roman" panose="02020603050405020304" pitchFamily="18" charset="0"/>
                <a:cs typeface="Times New Roman" panose="02020603050405020304" pitchFamily="18" charset="0"/>
                <a:sym typeface="Arial"/>
              </a:rPr>
              <a:t>PROBLEM STATEMENT </a:t>
            </a:r>
            <a:endParaRPr lang="en-IN" dirty="0">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F4153055-2A82-BFE0-23DB-025E56C726AB}"/>
              </a:ext>
            </a:extLst>
          </p:cNvPr>
          <p:cNvSpPr>
            <a:spLocks noGrp="1"/>
          </p:cNvSpPr>
          <p:nvPr>
            <p:ph type="body" idx="1"/>
          </p:nvPr>
        </p:nvSpPr>
        <p:spPr>
          <a:xfrm>
            <a:off x="945222" y="2152652"/>
            <a:ext cx="11669981" cy="4203700"/>
          </a:xfrm>
        </p:spPr>
        <p:txBody>
          <a:bodyPr>
            <a:noAutofit/>
          </a:bodyPr>
          <a:lstStyle/>
          <a:p>
            <a:pPr marL="228600" indent="0"/>
            <a:r>
              <a:rPr lang="en-US" dirty="0">
                <a:solidFill>
                  <a:schemeClr val="tx1"/>
                </a:solidFill>
              </a:rPr>
              <a:t>To design and develop an </a:t>
            </a:r>
            <a:r>
              <a:rPr lang="en-US" b="1" dirty="0">
                <a:solidFill>
                  <a:schemeClr val="tx1"/>
                </a:solidFill>
              </a:rPr>
              <a:t>Automatic Smart Compost bin</a:t>
            </a:r>
            <a:r>
              <a:rPr lang="en-US" dirty="0">
                <a:solidFill>
                  <a:schemeClr val="tx1"/>
                </a:solidFill>
              </a:rPr>
              <a:t> that efficiently converts organic waste into compost and liquid fertilizer with minimal human intervention, overcoming the limitations of traditional composting methods.</a:t>
            </a:r>
          </a:p>
          <a:p>
            <a:pPr marL="228600" indent="0"/>
            <a:r>
              <a:rPr lang="en-US" dirty="0">
                <a:solidFill>
                  <a:schemeClr val="tx1"/>
                </a:solidFill>
              </a:rPr>
              <a:t>                           </a:t>
            </a:r>
            <a:br>
              <a:rPr lang="en-US" sz="2400" dirty="0">
                <a:solidFill>
                  <a:schemeClr val="tx1"/>
                </a:solidFill>
              </a:rPr>
            </a:br>
            <a:endParaRPr lang="en-US" sz="2400" dirty="0">
              <a:solidFill>
                <a:schemeClr val="tx1"/>
              </a:solidFill>
            </a:endParaRPr>
          </a:p>
        </p:txBody>
      </p:sp>
      <p:sp>
        <p:nvSpPr>
          <p:cNvPr id="4" name="Date Placeholder 3">
            <a:extLst>
              <a:ext uri="{FF2B5EF4-FFF2-40B4-BE49-F238E27FC236}">
                <a16:creationId xmlns:a16="http://schemas.microsoft.com/office/drawing/2014/main" id="{96EEBA03-B00B-9DF3-8582-47F969EEAF35}"/>
              </a:ext>
            </a:extLst>
          </p:cNvPr>
          <p:cNvSpPr>
            <a:spLocks noGrp="1"/>
          </p:cNvSpPr>
          <p:nvPr>
            <p:ph type="dt" idx="10"/>
          </p:nvPr>
        </p:nvSpPr>
        <p:spPr/>
        <p:txBody>
          <a:bodyPr/>
          <a:lstStyle/>
          <a:p>
            <a:r>
              <a:rPr lang="en-US" dirty="0"/>
              <a:t>03/12/2025</a:t>
            </a:r>
          </a:p>
        </p:txBody>
      </p:sp>
      <p:sp>
        <p:nvSpPr>
          <p:cNvPr id="5" name="Slide Number Placeholder 4">
            <a:extLst>
              <a:ext uri="{FF2B5EF4-FFF2-40B4-BE49-F238E27FC236}">
                <a16:creationId xmlns:a16="http://schemas.microsoft.com/office/drawing/2014/main" id="{2493B231-2B58-0A49-346F-BB9A06666BE6}"/>
              </a:ext>
            </a:extLst>
          </p:cNvPr>
          <p:cNvSpPr>
            <a:spLocks noGrp="1"/>
          </p:cNvSpPr>
          <p:nvPr>
            <p:ph type="sldNum" idx="12"/>
          </p:nvPr>
        </p:nvSpPr>
        <p:spPr/>
        <p:txBody>
          <a:bodyPr/>
          <a:lstStyle/>
          <a:p>
            <a:fld id="{00000000-1234-1234-1234-123412341234}" type="slidenum">
              <a:rPr lang="en-US" smtClean="0"/>
              <a:pPr/>
              <a:t>15</a:t>
            </a:fld>
            <a:endParaRPr lang="en-US"/>
          </a:p>
        </p:txBody>
      </p:sp>
    </p:spTree>
    <p:extLst>
      <p:ext uri="{BB962C8B-B14F-4D97-AF65-F5344CB8AC3E}">
        <p14:creationId xmlns:p14="http://schemas.microsoft.com/office/powerpoint/2010/main" val="127327341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5C44EF-79A8-BCCA-6BF2-FB9A88D383F0}"/>
              </a:ext>
            </a:extLst>
          </p:cNvPr>
          <p:cNvSpPr>
            <a:spLocks noGrp="1"/>
          </p:cNvSpPr>
          <p:nvPr>
            <p:ph type="title"/>
          </p:nvPr>
        </p:nvSpPr>
        <p:spPr>
          <a:xfrm>
            <a:off x="312933" y="274637"/>
            <a:ext cx="12934559" cy="1217612"/>
          </a:xfrm>
        </p:spPr>
        <p:txBody>
          <a:bodyPr/>
          <a:lstStyle/>
          <a:p>
            <a:r>
              <a:rPr lang="en-IN" b="1" dirty="0">
                <a:latin typeface="Times New Roman" panose="02020603050405020304" pitchFamily="18" charset="0"/>
                <a:cs typeface="Times New Roman" panose="02020603050405020304" pitchFamily="18" charset="0"/>
              </a:rPr>
              <a:t>OBJECTIVES</a:t>
            </a:r>
          </a:p>
        </p:txBody>
      </p:sp>
      <p:sp>
        <p:nvSpPr>
          <p:cNvPr id="3" name="Text Placeholder 2">
            <a:extLst>
              <a:ext uri="{FF2B5EF4-FFF2-40B4-BE49-F238E27FC236}">
                <a16:creationId xmlns:a16="http://schemas.microsoft.com/office/drawing/2014/main" id="{D2F12FE9-F879-79CD-3BBF-3ADC03EDE3FE}"/>
              </a:ext>
            </a:extLst>
          </p:cNvPr>
          <p:cNvSpPr>
            <a:spLocks noGrp="1"/>
          </p:cNvSpPr>
          <p:nvPr>
            <p:ph type="body" idx="1"/>
          </p:nvPr>
        </p:nvSpPr>
        <p:spPr>
          <a:xfrm>
            <a:off x="417243" y="1376362"/>
            <a:ext cx="12725937" cy="5162552"/>
          </a:xfrm>
        </p:spPr>
        <p:txBody>
          <a:bodyPr>
            <a:noAutofit/>
          </a:bodyPr>
          <a:lstStyle/>
          <a:p>
            <a:pPr marL="685800" indent="-457200">
              <a:buFont typeface="Arial" panose="020B0604020202020204" pitchFamily="34" charset="0"/>
              <a:buChar char="•"/>
            </a:pPr>
            <a:r>
              <a:rPr lang="en-US" dirty="0">
                <a:solidFill>
                  <a:schemeClr val="tx1"/>
                </a:solidFill>
              </a:rPr>
              <a:t>To develop an automatic compost bin that converts organic waste into compost with minimal human effort.</a:t>
            </a:r>
          </a:p>
          <a:p>
            <a:pPr marL="685800" indent="-457200">
              <a:buFont typeface="Arial" panose="020B0604020202020204" pitchFamily="34" charset="0"/>
              <a:buChar char="•"/>
            </a:pPr>
            <a:r>
              <a:rPr lang="en-US" dirty="0">
                <a:solidFill>
                  <a:schemeClr val="tx1"/>
                </a:solidFill>
              </a:rPr>
              <a:t>To use sensors for accurate monitoring of moisture, temperature and Bin full level.</a:t>
            </a:r>
          </a:p>
          <a:p>
            <a:pPr marL="685800" indent="-457200">
              <a:buFont typeface="Arial" panose="020B0604020202020204" pitchFamily="34" charset="0"/>
              <a:buChar char="•"/>
            </a:pPr>
            <a:r>
              <a:rPr lang="en-US" dirty="0">
                <a:solidFill>
                  <a:schemeClr val="tx1"/>
                </a:solidFill>
              </a:rPr>
              <a:t>To automate chopping, mixing, aeration, and waste transfer using motors and servos.</a:t>
            </a:r>
          </a:p>
          <a:p>
            <a:pPr marL="685800" indent="-457200">
              <a:buFont typeface="Arial" panose="020B0604020202020204" pitchFamily="34" charset="0"/>
              <a:buChar char="•"/>
            </a:pPr>
            <a:r>
              <a:rPr lang="en-US" dirty="0">
                <a:solidFill>
                  <a:schemeClr val="tx1"/>
                </a:solidFill>
              </a:rPr>
              <a:t>To enable real-time monitoring through IoT (Blynk) for easy user access.</a:t>
            </a:r>
          </a:p>
          <a:p>
            <a:pPr marL="685800" indent="-457200">
              <a:buFont typeface="Arial" panose="020B0604020202020204" pitchFamily="34" charset="0"/>
              <a:buChar char="•"/>
            </a:pPr>
            <a:r>
              <a:rPr lang="en-US" dirty="0">
                <a:solidFill>
                  <a:schemeClr val="tx1"/>
                </a:solidFill>
              </a:rPr>
              <a:t>To speed up composting, reduce manual labor and ensure efficient, eco-friendly waste management.</a:t>
            </a:r>
          </a:p>
        </p:txBody>
      </p:sp>
      <p:sp>
        <p:nvSpPr>
          <p:cNvPr id="4" name="Date Placeholder 3">
            <a:extLst>
              <a:ext uri="{FF2B5EF4-FFF2-40B4-BE49-F238E27FC236}">
                <a16:creationId xmlns:a16="http://schemas.microsoft.com/office/drawing/2014/main" id="{FAAE66DD-4091-E2DB-BAD6-097574814818}"/>
              </a:ext>
            </a:extLst>
          </p:cNvPr>
          <p:cNvSpPr>
            <a:spLocks noGrp="1"/>
          </p:cNvSpPr>
          <p:nvPr>
            <p:ph type="dt" idx="10"/>
          </p:nvPr>
        </p:nvSpPr>
        <p:spPr/>
        <p:txBody>
          <a:bodyPr/>
          <a:lstStyle/>
          <a:p>
            <a:r>
              <a:rPr lang="en-US" dirty="0"/>
              <a:t>03/12/2025</a:t>
            </a:r>
          </a:p>
        </p:txBody>
      </p:sp>
      <p:sp>
        <p:nvSpPr>
          <p:cNvPr id="5" name="Slide Number Placeholder 4">
            <a:extLst>
              <a:ext uri="{FF2B5EF4-FFF2-40B4-BE49-F238E27FC236}">
                <a16:creationId xmlns:a16="http://schemas.microsoft.com/office/drawing/2014/main" id="{3E95BAD6-35E5-7AF1-6D48-FA22F3E47008}"/>
              </a:ext>
            </a:extLst>
          </p:cNvPr>
          <p:cNvSpPr>
            <a:spLocks noGrp="1"/>
          </p:cNvSpPr>
          <p:nvPr>
            <p:ph type="sldNum" idx="12"/>
          </p:nvPr>
        </p:nvSpPr>
        <p:spPr/>
        <p:txBody>
          <a:bodyPr/>
          <a:lstStyle/>
          <a:p>
            <a:fld id="{00000000-1234-1234-1234-123412341234}" type="slidenum">
              <a:rPr lang="en-US" smtClean="0"/>
              <a:pPr/>
              <a:t>16</a:t>
            </a:fld>
            <a:endParaRPr lang="en-US"/>
          </a:p>
        </p:txBody>
      </p:sp>
    </p:spTree>
    <p:extLst>
      <p:ext uri="{BB962C8B-B14F-4D97-AF65-F5344CB8AC3E}">
        <p14:creationId xmlns:p14="http://schemas.microsoft.com/office/powerpoint/2010/main" val="391466679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4B7E6C-C7E0-48FF-9670-9B39B3866425}"/>
              </a:ext>
            </a:extLst>
          </p:cNvPr>
          <p:cNvSpPr>
            <a:spLocks noGrp="1"/>
          </p:cNvSpPr>
          <p:nvPr>
            <p:ph type="title"/>
          </p:nvPr>
        </p:nvSpPr>
        <p:spPr>
          <a:xfrm>
            <a:off x="312933" y="274637"/>
            <a:ext cx="12934559" cy="901020"/>
          </a:xfrm>
        </p:spPr>
        <p:txBody>
          <a:bodyPr/>
          <a:lstStyle/>
          <a:p>
            <a:r>
              <a:rPr lang="en-GB" b="1" dirty="0">
                <a:latin typeface="Times New Roman" panose="02020603050405020304" pitchFamily="18" charset="0"/>
                <a:cs typeface="Times New Roman" panose="02020603050405020304" pitchFamily="18" charset="0"/>
                <a:sym typeface="Arial"/>
              </a:rPr>
              <a:t>PROPOSED METHODOLOGY </a:t>
            </a:r>
            <a:endParaRPr lang="en-IN" dirty="0">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C02B1004-0C03-CD5D-4DD3-792C2DA7B06C}"/>
              </a:ext>
            </a:extLst>
          </p:cNvPr>
          <p:cNvSpPr>
            <a:spLocks noGrp="1"/>
          </p:cNvSpPr>
          <p:nvPr>
            <p:ph type="body" idx="1"/>
          </p:nvPr>
        </p:nvSpPr>
        <p:spPr>
          <a:xfrm>
            <a:off x="417242" y="747213"/>
            <a:ext cx="12725937" cy="5308601"/>
          </a:xfrm>
        </p:spPr>
        <p:txBody>
          <a:bodyPr>
            <a:noAutofit/>
          </a:bodyPr>
          <a:lstStyle/>
          <a:p>
            <a:pPr marL="228600" indent="0">
              <a:lnSpc>
                <a:spcPct val="150000"/>
              </a:lnSpc>
            </a:pPr>
            <a:r>
              <a:rPr lang="en-US" dirty="0">
                <a:latin typeface="Times New Roman" panose="02020603050405020304" pitchFamily="18" charset="0"/>
                <a:cs typeface="Times New Roman" panose="02020603050405020304" pitchFamily="18" charset="0"/>
              </a:rPr>
              <a:t>                                 </a:t>
            </a:r>
          </a:p>
          <a:p>
            <a:pPr marL="228600" indent="0">
              <a:lnSpc>
                <a:spcPct val="150000"/>
              </a:lnSpc>
            </a:pPr>
            <a:endParaRPr lang="en-US" dirty="0">
              <a:latin typeface="Times New Roman" panose="02020603050405020304" pitchFamily="18" charset="0"/>
              <a:cs typeface="Times New Roman" panose="02020603050405020304" pitchFamily="18" charset="0"/>
            </a:endParaRPr>
          </a:p>
          <a:p>
            <a:pPr marL="228600" indent="0">
              <a:lnSpc>
                <a:spcPct val="150000"/>
              </a:lnSpc>
            </a:pPr>
            <a:endParaRPr lang="en-US" dirty="0">
              <a:latin typeface="Times New Roman" panose="02020603050405020304" pitchFamily="18" charset="0"/>
              <a:cs typeface="Times New Roman" panose="02020603050405020304" pitchFamily="18" charset="0"/>
            </a:endParaRPr>
          </a:p>
          <a:p>
            <a:pPr marL="228600" indent="0">
              <a:lnSpc>
                <a:spcPct val="150000"/>
              </a:lnSpc>
            </a:pPr>
            <a:endParaRPr lang="en-US" dirty="0">
              <a:latin typeface="Times New Roman" panose="02020603050405020304" pitchFamily="18" charset="0"/>
              <a:cs typeface="Times New Roman" panose="02020603050405020304" pitchFamily="18" charset="0"/>
            </a:endParaRPr>
          </a:p>
          <a:p>
            <a:pPr marL="228600" indent="0">
              <a:lnSpc>
                <a:spcPct val="150000"/>
              </a:lnSpc>
            </a:pPr>
            <a:endParaRPr lang="en-US" dirty="0">
              <a:latin typeface="Times New Roman" panose="02020603050405020304" pitchFamily="18" charset="0"/>
              <a:cs typeface="Times New Roman" panose="02020603050405020304" pitchFamily="18" charset="0"/>
            </a:endParaRPr>
          </a:p>
          <a:p>
            <a:pPr marL="228600" indent="0">
              <a:lnSpc>
                <a:spcPct val="150000"/>
              </a:lnSpc>
            </a:pPr>
            <a:endParaRPr lang="en-US" dirty="0">
              <a:latin typeface="Times New Roman" panose="02020603050405020304" pitchFamily="18" charset="0"/>
              <a:cs typeface="Times New Roman" panose="02020603050405020304" pitchFamily="18" charset="0"/>
            </a:endParaRPr>
          </a:p>
          <a:p>
            <a:pPr marL="228600" indent="0">
              <a:lnSpc>
                <a:spcPct val="150000"/>
              </a:lnSpc>
            </a:pPr>
            <a:r>
              <a:rPr lang="en-US" dirty="0">
                <a:solidFill>
                  <a:schemeClr val="tx1"/>
                </a:solidFill>
                <a:latin typeface="Times New Roman" panose="02020603050405020304" pitchFamily="18" charset="0"/>
                <a:cs typeface="Times New Roman" panose="02020603050405020304" pitchFamily="18" charset="0"/>
              </a:rPr>
              <a:t>                                                              </a:t>
            </a:r>
            <a:br>
              <a:rPr lang="en-US" dirty="0">
                <a:solidFill>
                  <a:schemeClr val="tx1"/>
                </a:solidFill>
                <a:latin typeface="Times New Roman" panose="02020603050405020304" pitchFamily="18" charset="0"/>
                <a:cs typeface="Times New Roman" panose="02020603050405020304" pitchFamily="18" charset="0"/>
              </a:rPr>
            </a:br>
            <a:r>
              <a:rPr lang="en-US" dirty="0">
                <a:solidFill>
                  <a:schemeClr val="tx1"/>
                </a:solidFill>
                <a:latin typeface="Times New Roman" panose="02020603050405020304" pitchFamily="18" charset="0"/>
                <a:cs typeface="Times New Roman" panose="02020603050405020304" pitchFamily="18" charset="0"/>
              </a:rPr>
              <a:t>                                                              </a:t>
            </a:r>
            <a:r>
              <a:rPr lang="en-US" sz="1800" dirty="0">
                <a:solidFill>
                  <a:schemeClr val="tx1"/>
                </a:solidFill>
                <a:latin typeface="Times New Roman" panose="02020603050405020304" pitchFamily="18" charset="0"/>
                <a:cs typeface="Times New Roman" panose="02020603050405020304" pitchFamily="18" charset="0"/>
              </a:rPr>
              <a:t> (a)</a:t>
            </a:r>
          </a:p>
          <a:p>
            <a:pPr marL="228600" indent="0">
              <a:lnSpc>
                <a:spcPct val="150000"/>
              </a:lnSpc>
            </a:pPr>
            <a:r>
              <a:rPr lang="en-US" dirty="0">
                <a:latin typeface="Times New Roman" panose="02020603050405020304" pitchFamily="18" charset="0"/>
                <a:cs typeface="Times New Roman" panose="02020603050405020304" pitchFamily="18" charset="0"/>
              </a:rPr>
              <a:t>                                                           </a:t>
            </a:r>
          </a:p>
        </p:txBody>
      </p:sp>
      <p:sp>
        <p:nvSpPr>
          <p:cNvPr id="4" name="Date Placeholder 3">
            <a:extLst>
              <a:ext uri="{FF2B5EF4-FFF2-40B4-BE49-F238E27FC236}">
                <a16:creationId xmlns:a16="http://schemas.microsoft.com/office/drawing/2014/main" id="{5505C248-7E1D-0E74-F914-C48F55D91A86}"/>
              </a:ext>
            </a:extLst>
          </p:cNvPr>
          <p:cNvSpPr>
            <a:spLocks noGrp="1"/>
          </p:cNvSpPr>
          <p:nvPr>
            <p:ph type="dt" idx="10"/>
          </p:nvPr>
        </p:nvSpPr>
        <p:spPr/>
        <p:txBody>
          <a:bodyPr/>
          <a:lstStyle/>
          <a:p>
            <a:r>
              <a:rPr lang="en-US" dirty="0"/>
              <a:t>03/12/2025</a:t>
            </a:r>
          </a:p>
        </p:txBody>
      </p:sp>
      <p:sp>
        <p:nvSpPr>
          <p:cNvPr id="5" name="Slide Number Placeholder 4">
            <a:extLst>
              <a:ext uri="{FF2B5EF4-FFF2-40B4-BE49-F238E27FC236}">
                <a16:creationId xmlns:a16="http://schemas.microsoft.com/office/drawing/2014/main" id="{FF44C721-3824-102B-1745-34BE9B7ADDEE}"/>
              </a:ext>
            </a:extLst>
          </p:cNvPr>
          <p:cNvSpPr>
            <a:spLocks noGrp="1"/>
          </p:cNvSpPr>
          <p:nvPr>
            <p:ph type="sldNum" idx="12"/>
          </p:nvPr>
        </p:nvSpPr>
        <p:spPr/>
        <p:txBody>
          <a:bodyPr/>
          <a:lstStyle/>
          <a:p>
            <a:fld id="{00000000-1234-1234-1234-123412341234}" type="slidenum">
              <a:rPr lang="en-US" smtClean="0"/>
              <a:pPr/>
              <a:t>17</a:t>
            </a:fld>
            <a:endParaRPr lang="en-US"/>
          </a:p>
        </p:txBody>
      </p:sp>
      <p:pic>
        <p:nvPicPr>
          <p:cNvPr id="6" name="Picture 5"/>
          <p:cNvPicPr>
            <a:picLocks noChangeAspect="1"/>
          </p:cNvPicPr>
          <p:nvPr/>
        </p:nvPicPr>
        <p:blipFill rotWithShape="1">
          <a:blip r:embed="rId2">
            <a:extLst>
              <a:ext uri="{28A0092B-C50C-407E-A947-70E740481C1C}">
                <a14:useLocalDpi xmlns:a14="http://schemas.microsoft.com/office/drawing/2010/main" val="0"/>
              </a:ext>
            </a:extLst>
          </a:blip>
          <a:srcRect t="26761" b="26845"/>
          <a:stretch/>
        </p:blipFill>
        <p:spPr>
          <a:xfrm>
            <a:off x="3636961" y="1066800"/>
            <a:ext cx="6286500" cy="4838700"/>
          </a:xfrm>
          <a:prstGeom prst="rect">
            <a:avLst/>
          </a:prstGeom>
        </p:spPr>
      </p:pic>
    </p:spTree>
    <p:extLst>
      <p:ext uri="{BB962C8B-B14F-4D97-AF65-F5344CB8AC3E}">
        <p14:creationId xmlns:p14="http://schemas.microsoft.com/office/powerpoint/2010/main" val="156592580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4B7E6C-C7E0-48FF-9670-9B39B3866425}"/>
              </a:ext>
            </a:extLst>
          </p:cNvPr>
          <p:cNvSpPr>
            <a:spLocks noGrp="1"/>
          </p:cNvSpPr>
          <p:nvPr>
            <p:ph type="title"/>
          </p:nvPr>
        </p:nvSpPr>
        <p:spPr>
          <a:xfrm>
            <a:off x="312933" y="274637"/>
            <a:ext cx="12934559" cy="901020"/>
          </a:xfrm>
        </p:spPr>
        <p:txBody>
          <a:bodyPr/>
          <a:lstStyle/>
          <a:p>
            <a:r>
              <a:rPr lang="en-GB" b="1" dirty="0">
                <a:latin typeface="Times New Roman" panose="02020603050405020304" pitchFamily="18" charset="0"/>
                <a:cs typeface="Times New Roman" panose="02020603050405020304" pitchFamily="18" charset="0"/>
                <a:sym typeface="Arial"/>
              </a:rPr>
              <a:t>PROPOSED METHODOLOGY </a:t>
            </a:r>
            <a:endParaRPr lang="en-IN"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5505C248-7E1D-0E74-F914-C48F55D91A86}"/>
              </a:ext>
            </a:extLst>
          </p:cNvPr>
          <p:cNvSpPr>
            <a:spLocks noGrp="1"/>
          </p:cNvSpPr>
          <p:nvPr>
            <p:ph type="dt" idx="10"/>
          </p:nvPr>
        </p:nvSpPr>
        <p:spPr/>
        <p:txBody>
          <a:bodyPr/>
          <a:lstStyle/>
          <a:p>
            <a:r>
              <a:rPr lang="en-US" dirty="0"/>
              <a:t>03/12/2025</a:t>
            </a:r>
          </a:p>
        </p:txBody>
      </p:sp>
      <p:sp>
        <p:nvSpPr>
          <p:cNvPr id="5" name="Slide Number Placeholder 4">
            <a:extLst>
              <a:ext uri="{FF2B5EF4-FFF2-40B4-BE49-F238E27FC236}">
                <a16:creationId xmlns:a16="http://schemas.microsoft.com/office/drawing/2014/main" id="{FF44C721-3824-102B-1745-34BE9B7ADDEE}"/>
              </a:ext>
            </a:extLst>
          </p:cNvPr>
          <p:cNvSpPr>
            <a:spLocks noGrp="1"/>
          </p:cNvSpPr>
          <p:nvPr>
            <p:ph type="sldNum" idx="12"/>
          </p:nvPr>
        </p:nvSpPr>
        <p:spPr/>
        <p:txBody>
          <a:bodyPr/>
          <a:lstStyle/>
          <a:p>
            <a:fld id="{00000000-1234-1234-1234-123412341234}" type="slidenum">
              <a:rPr lang="en-US" smtClean="0"/>
              <a:pPr/>
              <a:t>18</a:t>
            </a:fld>
            <a:endParaRPr lang="en-US"/>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71800" y="1043369"/>
            <a:ext cx="6121783" cy="5244221"/>
          </a:xfrm>
          <a:prstGeom prst="rect">
            <a:avLst/>
          </a:prstGeom>
        </p:spPr>
      </p:pic>
    </p:spTree>
    <p:extLst>
      <p:ext uri="{BB962C8B-B14F-4D97-AF65-F5344CB8AC3E}">
        <p14:creationId xmlns:p14="http://schemas.microsoft.com/office/powerpoint/2010/main" val="164937601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C1DDD1-6546-8789-FC51-EFA0C3FA0709}"/>
              </a:ext>
            </a:extLst>
          </p:cNvPr>
          <p:cNvSpPr>
            <a:spLocks noGrp="1"/>
          </p:cNvSpPr>
          <p:nvPr>
            <p:ph type="title"/>
          </p:nvPr>
        </p:nvSpPr>
        <p:spPr>
          <a:xfrm>
            <a:off x="1317172" y="274637"/>
            <a:ext cx="9851572" cy="999897"/>
          </a:xfrm>
        </p:spPr>
        <p:txBody>
          <a:bodyPr/>
          <a:lstStyle/>
          <a:p>
            <a:r>
              <a:rPr lang="en-GB" b="1" dirty="0">
                <a:latin typeface="Times New Roman" panose="02020603050405020304" pitchFamily="18" charset="0"/>
                <a:cs typeface="Times New Roman" panose="02020603050405020304" pitchFamily="18" charset="0"/>
                <a:sym typeface="Arial"/>
              </a:rPr>
              <a:t>THE EXPECTED OUTCOME</a:t>
            </a:r>
            <a:endParaRPr lang="en-IN" dirty="0">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2BA78600-F246-5797-29CE-DDBFF0911CF5}"/>
              </a:ext>
            </a:extLst>
          </p:cNvPr>
          <p:cNvSpPr>
            <a:spLocks noGrp="1"/>
          </p:cNvSpPr>
          <p:nvPr>
            <p:ph type="body" idx="1"/>
          </p:nvPr>
        </p:nvSpPr>
        <p:spPr>
          <a:xfrm>
            <a:off x="678021" y="1574800"/>
            <a:ext cx="12204383" cy="4521201"/>
          </a:xfrm>
        </p:spPr>
        <p:txBody>
          <a:bodyPr>
            <a:noAutofit/>
          </a:bodyPr>
          <a:lstStyle/>
          <a:p>
            <a:pPr marL="571500" indent="-342900">
              <a:lnSpc>
                <a:spcPct val="150000"/>
              </a:lnSpc>
              <a:buFont typeface="Arial" panose="020B0604020202020204" pitchFamily="34" charset="0"/>
              <a:buChar char="•"/>
            </a:pPr>
            <a:r>
              <a:rPr lang="en-US" dirty="0">
                <a:solidFill>
                  <a:schemeClr val="tx1"/>
                </a:solidFill>
                <a:latin typeface="Times New Roman" panose="02020603050405020304" pitchFamily="18" charset="0"/>
                <a:cs typeface="Times New Roman" panose="02020603050405020304" pitchFamily="18" charset="0"/>
              </a:rPr>
              <a:t>Efficient composting with reduced manual effort. </a:t>
            </a:r>
          </a:p>
          <a:p>
            <a:pPr marL="571500" indent="-342900">
              <a:lnSpc>
                <a:spcPct val="150000"/>
              </a:lnSpc>
              <a:buFont typeface="Arial" panose="020B0604020202020204" pitchFamily="34" charset="0"/>
              <a:buChar char="•"/>
            </a:pPr>
            <a:r>
              <a:rPr lang="en-US" dirty="0">
                <a:solidFill>
                  <a:schemeClr val="tx1"/>
                </a:solidFill>
                <a:latin typeface="Times New Roman" panose="02020603050405020304" pitchFamily="18" charset="0"/>
                <a:cs typeface="Times New Roman" panose="02020603050405020304" pitchFamily="18" charset="0"/>
              </a:rPr>
              <a:t> Compost ready in 15 days.</a:t>
            </a:r>
          </a:p>
          <a:p>
            <a:pPr marL="571500" indent="-342900">
              <a:lnSpc>
                <a:spcPct val="150000"/>
              </a:lnSpc>
              <a:buFont typeface="Arial" panose="020B0604020202020204" pitchFamily="34" charset="0"/>
              <a:buChar char="•"/>
            </a:pPr>
            <a:r>
              <a:rPr lang="en-US" dirty="0">
                <a:solidFill>
                  <a:schemeClr val="tx1"/>
                </a:solidFill>
                <a:latin typeface="Times New Roman" panose="02020603050405020304" pitchFamily="18" charset="0"/>
                <a:cs typeface="Times New Roman" panose="02020603050405020304" pitchFamily="18" charset="0"/>
              </a:rPr>
              <a:t> Real-time monitoring via mobile app.</a:t>
            </a:r>
          </a:p>
          <a:p>
            <a:pPr marL="571500" indent="-342900">
              <a:lnSpc>
                <a:spcPct val="150000"/>
              </a:lnSpc>
              <a:buFont typeface="Arial" panose="020B0604020202020204" pitchFamily="34" charset="0"/>
              <a:buChar char="•"/>
            </a:pPr>
            <a:r>
              <a:rPr lang="en-US" dirty="0">
                <a:solidFill>
                  <a:schemeClr val="tx1"/>
                </a:solidFill>
                <a:latin typeface="Times New Roman" panose="02020603050405020304" pitchFamily="18" charset="0"/>
                <a:cs typeface="Times New Roman" panose="02020603050405020304" pitchFamily="18" charset="0"/>
              </a:rPr>
              <a:t> Compact and scalable design. </a:t>
            </a:r>
          </a:p>
          <a:p>
            <a:pPr marL="571500" indent="-342900">
              <a:lnSpc>
                <a:spcPct val="150000"/>
              </a:lnSpc>
              <a:buFont typeface="Arial" panose="020B0604020202020204" pitchFamily="34" charset="0"/>
              <a:buChar char="•"/>
            </a:pPr>
            <a:r>
              <a:rPr lang="en-US" dirty="0">
                <a:solidFill>
                  <a:schemeClr val="tx1"/>
                </a:solidFill>
                <a:latin typeface="Times New Roman" panose="02020603050405020304" pitchFamily="18" charset="0"/>
                <a:cs typeface="Times New Roman" panose="02020603050405020304" pitchFamily="18" charset="0"/>
              </a:rPr>
              <a:t>Dual output: solid compost and liquid fertilizer.</a:t>
            </a:r>
            <a:endParaRPr lang="en-IN" dirty="0">
              <a:solidFill>
                <a:schemeClr val="tx1"/>
              </a:solidFill>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1F82D90C-27BA-A8AC-B355-24C158F5789F}"/>
              </a:ext>
            </a:extLst>
          </p:cNvPr>
          <p:cNvSpPr>
            <a:spLocks noGrp="1"/>
          </p:cNvSpPr>
          <p:nvPr>
            <p:ph type="dt" idx="10"/>
          </p:nvPr>
        </p:nvSpPr>
        <p:spPr/>
        <p:txBody>
          <a:bodyPr/>
          <a:lstStyle/>
          <a:p>
            <a:r>
              <a:rPr lang="en-US" dirty="0"/>
              <a:t>03/12/2025</a:t>
            </a:r>
          </a:p>
        </p:txBody>
      </p:sp>
      <p:sp>
        <p:nvSpPr>
          <p:cNvPr id="5" name="Slide Number Placeholder 4">
            <a:extLst>
              <a:ext uri="{FF2B5EF4-FFF2-40B4-BE49-F238E27FC236}">
                <a16:creationId xmlns:a16="http://schemas.microsoft.com/office/drawing/2014/main" id="{C2BC2561-B4BD-BB67-BE78-868CD8B23F04}"/>
              </a:ext>
            </a:extLst>
          </p:cNvPr>
          <p:cNvSpPr>
            <a:spLocks noGrp="1"/>
          </p:cNvSpPr>
          <p:nvPr>
            <p:ph type="sldNum" idx="12"/>
          </p:nvPr>
        </p:nvSpPr>
        <p:spPr/>
        <p:txBody>
          <a:bodyPr/>
          <a:lstStyle/>
          <a:p>
            <a:fld id="{00000000-1234-1234-1234-123412341234}" type="slidenum">
              <a:rPr lang="en-US" smtClean="0"/>
              <a:pPr/>
              <a:t>19</a:t>
            </a:fld>
            <a:endParaRPr lang="en-US"/>
          </a:p>
        </p:txBody>
      </p:sp>
    </p:spTree>
    <p:extLst>
      <p:ext uri="{BB962C8B-B14F-4D97-AF65-F5344CB8AC3E}">
        <p14:creationId xmlns:p14="http://schemas.microsoft.com/office/powerpoint/2010/main" val="428339121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9F2043-474A-6B0C-578E-7BD3E9EAA04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4B60CC0-6AD4-7B73-86D8-67709D162EE9}"/>
              </a:ext>
            </a:extLst>
          </p:cNvPr>
          <p:cNvSpPr>
            <a:spLocks noGrp="1"/>
          </p:cNvSpPr>
          <p:nvPr>
            <p:ph type="title"/>
          </p:nvPr>
        </p:nvSpPr>
        <p:spPr>
          <a:xfrm>
            <a:off x="1317172" y="274637"/>
            <a:ext cx="9851572" cy="999897"/>
          </a:xfrm>
        </p:spPr>
        <p:txBody>
          <a:bodyPr/>
          <a:lstStyle/>
          <a:p>
            <a:r>
              <a:rPr lang="en-GB" b="1" dirty="0">
                <a:latin typeface="Times New Roman" panose="02020603050405020304" pitchFamily="18" charset="0"/>
                <a:cs typeface="Times New Roman" panose="02020603050405020304" pitchFamily="18" charset="0"/>
                <a:sym typeface="Arial"/>
              </a:rPr>
              <a:t>OUTCOMES</a:t>
            </a:r>
            <a:endParaRPr lang="en-IN"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BED2B9C5-D1DF-4A6B-660B-428445D6F1DB}"/>
              </a:ext>
            </a:extLst>
          </p:cNvPr>
          <p:cNvSpPr>
            <a:spLocks noGrp="1"/>
          </p:cNvSpPr>
          <p:nvPr>
            <p:ph type="dt" idx="10"/>
          </p:nvPr>
        </p:nvSpPr>
        <p:spPr/>
        <p:txBody>
          <a:bodyPr/>
          <a:lstStyle/>
          <a:p>
            <a:r>
              <a:rPr lang="en-US" dirty="0"/>
              <a:t>03/12/2025</a:t>
            </a:r>
          </a:p>
        </p:txBody>
      </p:sp>
      <p:sp>
        <p:nvSpPr>
          <p:cNvPr id="5" name="Slide Number Placeholder 4">
            <a:extLst>
              <a:ext uri="{FF2B5EF4-FFF2-40B4-BE49-F238E27FC236}">
                <a16:creationId xmlns:a16="http://schemas.microsoft.com/office/drawing/2014/main" id="{295384F6-2535-6F18-EE65-5B4CAA1A9358}"/>
              </a:ext>
            </a:extLst>
          </p:cNvPr>
          <p:cNvSpPr>
            <a:spLocks noGrp="1"/>
          </p:cNvSpPr>
          <p:nvPr>
            <p:ph type="sldNum" idx="12"/>
          </p:nvPr>
        </p:nvSpPr>
        <p:spPr/>
        <p:txBody>
          <a:bodyPr/>
          <a:lstStyle/>
          <a:p>
            <a:fld id="{00000000-1234-1234-1234-123412341234}" type="slidenum">
              <a:rPr lang="en-US" smtClean="0"/>
              <a:pPr/>
              <a:t>20</a:t>
            </a:fld>
            <a:endParaRPr lang="en-US"/>
          </a:p>
        </p:txBody>
      </p:sp>
      <p:pic>
        <p:nvPicPr>
          <p:cNvPr id="9" name="Picture 8">
            <a:extLst>
              <a:ext uri="{FF2B5EF4-FFF2-40B4-BE49-F238E27FC236}">
                <a16:creationId xmlns:a16="http://schemas.microsoft.com/office/drawing/2014/main" id="{C93350ED-5AA9-10C4-5BE0-848982336325}"/>
              </a:ext>
            </a:extLst>
          </p:cNvPr>
          <p:cNvPicPr>
            <a:picLocks noChangeAspect="1"/>
          </p:cNvPicPr>
          <p:nvPr/>
        </p:nvPicPr>
        <p:blipFill>
          <a:blip r:embed="rId2"/>
          <a:srcRect l="11199" t="11603" r="13290" b="9156"/>
          <a:stretch>
            <a:fillRect/>
          </a:stretch>
        </p:blipFill>
        <p:spPr>
          <a:xfrm>
            <a:off x="2445970" y="1473504"/>
            <a:ext cx="3106962" cy="4347191"/>
          </a:xfrm>
          <a:prstGeom prst="rect">
            <a:avLst/>
          </a:prstGeom>
        </p:spPr>
      </p:pic>
      <p:pic>
        <p:nvPicPr>
          <p:cNvPr id="11" name="Picture 10">
            <a:extLst>
              <a:ext uri="{FF2B5EF4-FFF2-40B4-BE49-F238E27FC236}">
                <a16:creationId xmlns:a16="http://schemas.microsoft.com/office/drawing/2014/main" id="{30D66DEA-4E59-E24A-1FAA-329DD864340D}"/>
              </a:ext>
            </a:extLst>
          </p:cNvPr>
          <p:cNvPicPr>
            <a:picLocks noChangeAspect="1"/>
          </p:cNvPicPr>
          <p:nvPr/>
        </p:nvPicPr>
        <p:blipFill>
          <a:blip r:embed="rId3"/>
          <a:srcRect l="24564" t="9078" r="3925"/>
          <a:stretch>
            <a:fillRect/>
          </a:stretch>
        </p:blipFill>
        <p:spPr>
          <a:xfrm>
            <a:off x="6462883" y="1670816"/>
            <a:ext cx="4837471" cy="3952568"/>
          </a:xfrm>
          <a:prstGeom prst="rect">
            <a:avLst/>
          </a:prstGeom>
        </p:spPr>
      </p:pic>
    </p:spTree>
    <p:extLst>
      <p:ext uri="{BB962C8B-B14F-4D97-AF65-F5344CB8AC3E}">
        <p14:creationId xmlns:p14="http://schemas.microsoft.com/office/powerpoint/2010/main" val="69369013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AA5C6E-74DE-FA46-4744-3AE5F83E5107}"/>
              </a:ext>
            </a:extLst>
          </p:cNvPr>
          <p:cNvSpPr>
            <a:spLocks noGrp="1"/>
          </p:cNvSpPr>
          <p:nvPr>
            <p:ph type="title"/>
          </p:nvPr>
        </p:nvSpPr>
        <p:spPr>
          <a:xfrm>
            <a:off x="312932" y="274637"/>
            <a:ext cx="12934559" cy="1096963"/>
          </a:xfrm>
        </p:spPr>
        <p:txBody>
          <a:bodyPr/>
          <a:lstStyle/>
          <a:p>
            <a:r>
              <a:rPr lang="en-IN" b="1" dirty="0">
                <a:latin typeface="Times New Roman" panose="02020603050405020304" pitchFamily="18" charset="0"/>
                <a:cs typeface="Times New Roman" panose="02020603050405020304" pitchFamily="18" charset="0"/>
              </a:rPr>
              <a:t>BUDGET ANALYSIS REPORT / RESOURCES</a:t>
            </a:r>
          </a:p>
        </p:txBody>
      </p:sp>
      <p:sp>
        <p:nvSpPr>
          <p:cNvPr id="4" name="Date Placeholder 3">
            <a:extLst>
              <a:ext uri="{FF2B5EF4-FFF2-40B4-BE49-F238E27FC236}">
                <a16:creationId xmlns:a16="http://schemas.microsoft.com/office/drawing/2014/main" id="{5068CAB6-2E61-2D9B-293F-F945E19DA2CE}"/>
              </a:ext>
            </a:extLst>
          </p:cNvPr>
          <p:cNvSpPr>
            <a:spLocks noGrp="1"/>
          </p:cNvSpPr>
          <p:nvPr>
            <p:ph type="dt" idx="10"/>
          </p:nvPr>
        </p:nvSpPr>
        <p:spPr/>
        <p:txBody>
          <a:bodyPr/>
          <a:lstStyle/>
          <a:p>
            <a:r>
              <a:rPr lang="en-US" dirty="0"/>
              <a:t>03/12/2025</a:t>
            </a:r>
          </a:p>
        </p:txBody>
      </p:sp>
      <p:sp>
        <p:nvSpPr>
          <p:cNvPr id="5" name="Slide Number Placeholder 4">
            <a:extLst>
              <a:ext uri="{FF2B5EF4-FFF2-40B4-BE49-F238E27FC236}">
                <a16:creationId xmlns:a16="http://schemas.microsoft.com/office/drawing/2014/main" id="{0E577A2C-F5C0-7527-C572-4ACD3D9E04BC}"/>
              </a:ext>
            </a:extLst>
          </p:cNvPr>
          <p:cNvSpPr>
            <a:spLocks noGrp="1"/>
          </p:cNvSpPr>
          <p:nvPr>
            <p:ph type="sldNum" idx="12"/>
          </p:nvPr>
        </p:nvSpPr>
        <p:spPr/>
        <p:txBody>
          <a:bodyPr/>
          <a:lstStyle/>
          <a:p>
            <a:fld id="{00000000-1234-1234-1234-123412341234}" type="slidenum">
              <a:rPr lang="en-US" smtClean="0"/>
              <a:pPr/>
              <a:t>21</a:t>
            </a:fld>
            <a:endParaRPr lang="en-US"/>
          </a:p>
        </p:txBody>
      </p:sp>
      <p:graphicFrame>
        <p:nvGraphicFramePr>
          <p:cNvPr id="6" name="Table 5">
            <a:extLst>
              <a:ext uri="{FF2B5EF4-FFF2-40B4-BE49-F238E27FC236}">
                <a16:creationId xmlns:a16="http://schemas.microsoft.com/office/drawing/2014/main" id="{383D767B-A85B-2F5E-B83F-A4A76E0A7981}"/>
              </a:ext>
            </a:extLst>
          </p:cNvPr>
          <p:cNvGraphicFramePr>
            <a:graphicFrameLocks noGrp="1"/>
          </p:cNvGraphicFramePr>
          <p:nvPr>
            <p:extLst>
              <p:ext uri="{D42A27DB-BD31-4B8C-83A1-F6EECF244321}">
                <p14:modId xmlns:p14="http://schemas.microsoft.com/office/powerpoint/2010/main" val="3522007156"/>
              </p:ext>
            </p:extLst>
          </p:nvPr>
        </p:nvGraphicFramePr>
        <p:xfrm>
          <a:off x="875070" y="1095693"/>
          <a:ext cx="11592235" cy="5260659"/>
        </p:xfrm>
        <a:graphic>
          <a:graphicData uri="http://schemas.openxmlformats.org/drawingml/2006/table">
            <a:tbl>
              <a:tblPr/>
              <a:tblGrid>
                <a:gridCol w="3864078">
                  <a:extLst>
                    <a:ext uri="{9D8B030D-6E8A-4147-A177-3AD203B41FA5}">
                      <a16:colId xmlns:a16="http://schemas.microsoft.com/office/drawing/2014/main" val="3822400960"/>
                    </a:ext>
                  </a:extLst>
                </a:gridCol>
                <a:gridCol w="5828099">
                  <a:extLst>
                    <a:ext uri="{9D8B030D-6E8A-4147-A177-3AD203B41FA5}">
                      <a16:colId xmlns:a16="http://schemas.microsoft.com/office/drawing/2014/main" val="3633351052"/>
                    </a:ext>
                  </a:extLst>
                </a:gridCol>
                <a:gridCol w="1900058">
                  <a:extLst>
                    <a:ext uri="{9D8B030D-6E8A-4147-A177-3AD203B41FA5}">
                      <a16:colId xmlns:a16="http://schemas.microsoft.com/office/drawing/2014/main" val="678526970"/>
                    </a:ext>
                  </a:extLst>
                </a:gridCol>
              </a:tblGrid>
              <a:tr h="487098">
                <a:tc>
                  <a:txBody>
                    <a:bodyPr/>
                    <a:lstStyle/>
                    <a:p>
                      <a:pPr>
                        <a:buNone/>
                      </a:pPr>
                      <a:r>
                        <a:rPr lang="en-IN" sz="2000" b="1" dirty="0">
                          <a:latin typeface="Times New Roman" panose="02020603050405020304" pitchFamily="18" charset="0"/>
                          <a:cs typeface="Times New Roman" panose="02020603050405020304" pitchFamily="18" charset="0"/>
                        </a:rPr>
                        <a:t>Category</a:t>
                      </a:r>
                      <a:endParaRPr lang="en-IN" sz="20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b="1">
                          <a:latin typeface="Times New Roman" panose="02020603050405020304" pitchFamily="18" charset="0"/>
                          <a:cs typeface="Times New Roman" panose="02020603050405020304" pitchFamily="18" charset="0"/>
                        </a:rPr>
                        <a:t>Included Items</a:t>
                      </a:r>
                      <a:endParaRPr lang="en-IN" sz="200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b="1" dirty="0">
                          <a:latin typeface="Times New Roman" panose="02020603050405020304" pitchFamily="18" charset="0"/>
                          <a:cs typeface="Times New Roman" panose="02020603050405020304" pitchFamily="18" charset="0"/>
                        </a:rPr>
                        <a:t>Cost (₹)</a:t>
                      </a:r>
                      <a:endParaRPr lang="en-IN" sz="20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45832885"/>
                  </a:ext>
                </a:extLst>
              </a:tr>
              <a:tr h="1169035">
                <a:tc>
                  <a:txBody>
                    <a:bodyPr/>
                    <a:lstStyle/>
                    <a:p>
                      <a:pPr>
                        <a:buNone/>
                      </a:pPr>
                      <a:r>
                        <a:rPr lang="en-IN" sz="2000" b="1">
                          <a:latin typeface="Times New Roman" panose="02020603050405020304" pitchFamily="18" charset="0"/>
                          <a:cs typeface="Times New Roman" panose="02020603050405020304" pitchFamily="18" charset="0"/>
                        </a:rPr>
                        <a:t>Microcontroller &amp; Sensors</a:t>
                      </a:r>
                      <a:endParaRPr lang="en-IN" sz="20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a:latin typeface="Times New Roman" panose="02020603050405020304" pitchFamily="18" charset="0"/>
                          <a:cs typeface="Times New Roman" panose="02020603050405020304" pitchFamily="18" charset="0"/>
                        </a:rPr>
                        <a:t>ESP32, Arduino Uno, Ultrasonic ×3, Temperature probe, DHT22, Moisture sensor, Jumper wires, Breadboard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b="1" dirty="0">
                          <a:latin typeface="Times New Roman" panose="02020603050405020304" pitchFamily="18" charset="0"/>
                          <a:cs typeface="Times New Roman" panose="02020603050405020304" pitchFamily="18" charset="0"/>
                        </a:rPr>
                        <a:t>2,320</a:t>
                      </a:r>
                      <a:endParaRPr lang="en-IN" sz="20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83883392"/>
                  </a:ext>
                </a:extLst>
              </a:tr>
              <a:tr h="828067">
                <a:tc>
                  <a:txBody>
                    <a:bodyPr/>
                    <a:lstStyle/>
                    <a:p>
                      <a:pPr>
                        <a:buNone/>
                      </a:pPr>
                      <a:r>
                        <a:rPr lang="en-IN" sz="2000" b="1">
                          <a:latin typeface="Times New Roman" panose="02020603050405020304" pitchFamily="18" charset="0"/>
                          <a:cs typeface="Times New Roman" panose="02020603050405020304" pitchFamily="18" charset="0"/>
                        </a:rPr>
                        <a:t>Motors &amp; Mechanical Components</a:t>
                      </a:r>
                      <a:endParaRPr lang="en-IN" sz="20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2000">
                          <a:latin typeface="Times New Roman" panose="02020603050405020304" pitchFamily="18" charset="0"/>
                          <a:cs typeface="Times New Roman" panose="02020603050405020304" pitchFamily="18" charset="0"/>
                        </a:rPr>
                        <a:t>DC motors ×2, Servo motors ×2, Chopper blades ×2, Screws/Nuts/Bolts, Latch, Tape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b="1" dirty="0">
                          <a:latin typeface="Times New Roman" panose="02020603050405020304" pitchFamily="18" charset="0"/>
                          <a:cs typeface="Times New Roman" panose="02020603050405020304" pitchFamily="18" charset="0"/>
                        </a:rPr>
                        <a:t>1,900</a:t>
                      </a:r>
                      <a:endParaRPr lang="en-IN" sz="20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25086053"/>
                  </a:ext>
                </a:extLst>
              </a:tr>
              <a:tr h="828067">
                <a:tc>
                  <a:txBody>
                    <a:bodyPr/>
                    <a:lstStyle/>
                    <a:p>
                      <a:pPr>
                        <a:buNone/>
                      </a:pPr>
                      <a:r>
                        <a:rPr lang="en-IN" sz="2000" b="1">
                          <a:latin typeface="Times New Roman" panose="02020603050405020304" pitchFamily="18" charset="0"/>
                          <a:cs typeface="Times New Roman" panose="02020603050405020304" pitchFamily="18" charset="0"/>
                        </a:rPr>
                        <a:t>Power System</a:t>
                      </a:r>
                      <a:endParaRPr lang="en-IN" sz="200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2000">
                          <a:latin typeface="Times New Roman" panose="02020603050405020304" pitchFamily="18" charset="0"/>
                          <a:cs typeface="Times New Roman" panose="02020603050405020304" pitchFamily="18" charset="0"/>
                        </a:rPr>
                        <a:t>Li-ion battery, Battery holder, Battery charger, Bin holder/structure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b="1" dirty="0">
                          <a:latin typeface="Times New Roman" panose="02020603050405020304" pitchFamily="18" charset="0"/>
                          <a:cs typeface="Times New Roman" panose="02020603050405020304" pitchFamily="18" charset="0"/>
                        </a:rPr>
                        <a:t>1,390</a:t>
                      </a:r>
                      <a:endParaRPr lang="en-IN" sz="20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42464201"/>
                  </a:ext>
                </a:extLst>
              </a:tr>
              <a:tr h="487098">
                <a:tc>
                  <a:txBody>
                    <a:bodyPr/>
                    <a:lstStyle/>
                    <a:p>
                      <a:pPr>
                        <a:buNone/>
                      </a:pPr>
                      <a:r>
                        <a:rPr lang="en-IN" sz="2000" b="1">
                          <a:latin typeface="Times New Roman" panose="02020603050405020304" pitchFamily="18" charset="0"/>
                          <a:cs typeface="Times New Roman" panose="02020603050405020304" pitchFamily="18" charset="0"/>
                        </a:rPr>
                        <a:t>Motor Driver / Control</a:t>
                      </a:r>
                      <a:endParaRPr lang="en-IN" sz="200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a:latin typeface="Times New Roman" panose="02020603050405020304" pitchFamily="18" charset="0"/>
                          <a:cs typeface="Times New Roman" panose="02020603050405020304" pitchFamily="18" charset="0"/>
                        </a:rPr>
                        <a:t>L298N H-bridge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b="1" dirty="0">
                          <a:latin typeface="Times New Roman" panose="02020603050405020304" pitchFamily="18" charset="0"/>
                          <a:cs typeface="Times New Roman" panose="02020603050405020304" pitchFamily="18" charset="0"/>
                        </a:rPr>
                        <a:t>220</a:t>
                      </a:r>
                      <a:endParaRPr lang="en-IN" sz="20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4833181"/>
                  </a:ext>
                </a:extLst>
              </a:tr>
              <a:tr h="487098">
                <a:tc>
                  <a:txBody>
                    <a:bodyPr/>
                    <a:lstStyle/>
                    <a:p>
                      <a:pPr>
                        <a:buNone/>
                      </a:pPr>
                      <a:r>
                        <a:rPr lang="en-IN" sz="2000" b="1">
                          <a:latin typeface="Times New Roman" panose="02020603050405020304" pitchFamily="18" charset="0"/>
                          <a:cs typeface="Times New Roman" panose="02020603050405020304" pitchFamily="18" charset="0"/>
                        </a:rPr>
                        <a:t>Accessories</a:t>
                      </a:r>
                      <a:endParaRPr lang="en-IN" sz="200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dirty="0">
                          <a:latin typeface="Times New Roman" panose="02020603050405020304" pitchFamily="18" charset="0"/>
                          <a:cs typeface="Times New Roman" panose="02020603050405020304" pitchFamily="18" charset="0"/>
                        </a:rPr>
                        <a:t>Silicon, ACP Sheets, small misc items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b="1" dirty="0">
                          <a:latin typeface="Times New Roman" panose="02020603050405020304" pitchFamily="18" charset="0"/>
                          <a:cs typeface="Times New Roman" panose="02020603050405020304" pitchFamily="18" charset="0"/>
                        </a:rPr>
                        <a:t>840</a:t>
                      </a:r>
                      <a:endParaRPr lang="en-IN" sz="20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22039679"/>
                  </a:ext>
                </a:extLst>
              </a:tr>
              <a:tr h="487098">
                <a:tc>
                  <a:txBody>
                    <a:bodyPr/>
                    <a:lstStyle/>
                    <a:p>
                      <a:pPr>
                        <a:buNone/>
                      </a:pPr>
                      <a:endParaRPr lang="en-IN" sz="20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dirty="0">
                          <a:latin typeface="Times New Roman" panose="02020603050405020304" pitchFamily="18" charset="0"/>
                          <a:cs typeface="Times New Roman" panose="02020603050405020304" pitchFamily="18" charset="0"/>
                        </a:rPr>
                        <a:t>welding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b="1" dirty="0">
                          <a:latin typeface="Times New Roman" panose="02020603050405020304" pitchFamily="18" charset="0"/>
                          <a:cs typeface="Times New Roman" panose="02020603050405020304" pitchFamily="18" charset="0"/>
                        </a:rPr>
                        <a:t>3,000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21593996"/>
                  </a:ext>
                </a:extLst>
              </a:tr>
              <a:tr h="487098">
                <a:tc>
                  <a:txBody>
                    <a:bodyPr/>
                    <a:lstStyle/>
                    <a:p>
                      <a:pPr>
                        <a:buNone/>
                      </a:pPr>
                      <a:r>
                        <a:rPr lang="en-IN" sz="2000" b="1">
                          <a:latin typeface="Times New Roman" panose="02020603050405020304" pitchFamily="18" charset="0"/>
                          <a:cs typeface="Times New Roman" panose="02020603050405020304" pitchFamily="18" charset="0"/>
                        </a:rPr>
                        <a:t>Total Cost</a:t>
                      </a:r>
                      <a:endParaRPr lang="en-IN" sz="20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a:latin typeface="Times New Roman" panose="02020603050405020304" pitchFamily="18" charset="0"/>
                          <a:cs typeface="Times New Roman" panose="02020603050405020304" pitchFamily="18"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b="1" dirty="0">
                          <a:latin typeface="Times New Roman" panose="02020603050405020304" pitchFamily="18" charset="0"/>
                          <a:cs typeface="Times New Roman" panose="02020603050405020304" pitchFamily="18" charset="0"/>
                        </a:rPr>
                        <a:t>₹9,370</a:t>
                      </a:r>
                      <a:endParaRPr lang="en-IN" sz="20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91741321"/>
                  </a:ext>
                </a:extLst>
              </a:tr>
            </a:tbl>
          </a:graphicData>
        </a:graphic>
      </p:graphicFrame>
    </p:spTree>
    <p:extLst>
      <p:ext uri="{BB962C8B-B14F-4D97-AF65-F5344CB8AC3E}">
        <p14:creationId xmlns:p14="http://schemas.microsoft.com/office/powerpoint/2010/main" val="403082690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01B3A5-9BF8-8968-8CEC-DCBC0F9B109F}"/>
              </a:ext>
            </a:extLst>
          </p:cNvPr>
          <p:cNvSpPr>
            <a:spLocks noGrp="1"/>
          </p:cNvSpPr>
          <p:nvPr>
            <p:ph type="title"/>
          </p:nvPr>
        </p:nvSpPr>
        <p:spPr>
          <a:xfrm>
            <a:off x="312933" y="274637"/>
            <a:ext cx="12934559" cy="1205819"/>
          </a:xfrm>
        </p:spPr>
        <p:txBody>
          <a:bodyPr/>
          <a:lstStyle/>
          <a:p>
            <a:r>
              <a:rPr lang="en-IN" b="1" dirty="0">
                <a:latin typeface="Times New Roman" panose="02020603050405020304" pitchFamily="18" charset="0"/>
                <a:cs typeface="Times New Roman" panose="02020603050405020304" pitchFamily="18" charset="0"/>
              </a:rPr>
              <a:t>CONCLUSION/FUTURE SCOPE</a:t>
            </a:r>
          </a:p>
        </p:txBody>
      </p:sp>
      <p:sp>
        <p:nvSpPr>
          <p:cNvPr id="3" name="Text Placeholder 2">
            <a:extLst>
              <a:ext uri="{FF2B5EF4-FFF2-40B4-BE49-F238E27FC236}">
                <a16:creationId xmlns:a16="http://schemas.microsoft.com/office/drawing/2014/main" id="{D34BCF2D-DD3E-3151-6D8E-D2F38FC85A13}"/>
              </a:ext>
            </a:extLst>
          </p:cNvPr>
          <p:cNvSpPr>
            <a:spLocks noGrp="1"/>
          </p:cNvSpPr>
          <p:nvPr>
            <p:ph type="body" idx="1"/>
          </p:nvPr>
        </p:nvSpPr>
        <p:spPr>
          <a:xfrm>
            <a:off x="417243" y="1273628"/>
            <a:ext cx="12725937" cy="5289552"/>
          </a:xfrm>
        </p:spPr>
        <p:txBody>
          <a:bodyPr/>
          <a:lstStyle/>
          <a:p>
            <a:pPr>
              <a:lnSpc>
                <a:spcPct val="150000"/>
              </a:lnSpc>
            </a:pPr>
            <a:r>
              <a:rPr lang="en-US" dirty="0">
                <a:solidFill>
                  <a:schemeClr val="tx1"/>
                </a:solidFill>
                <a:latin typeface="Times New Roman" panose="02020603050405020304" pitchFamily="18" charset="0"/>
                <a:cs typeface="Times New Roman" panose="02020603050405020304" pitchFamily="18" charset="0"/>
              </a:rPr>
              <a:t>The Automatic Compost Bin offers a practical solution for decentralized organic waste management. Future enhancements may include solar-powered operation, AI-based compost quality prediction, and integration with smart city waste networks. The system promotes sustainability and supports circular economy goals.</a:t>
            </a:r>
            <a:endParaRPr lang="en-IN" dirty="0">
              <a:solidFill>
                <a:schemeClr val="tx1"/>
              </a:solidFill>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D78ADEAB-6580-88C5-63CB-EDE7E39BE1DB}"/>
              </a:ext>
            </a:extLst>
          </p:cNvPr>
          <p:cNvSpPr>
            <a:spLocks noGrp="1"/>
          </p:cNvSpPr>
          <p:nvPr>
            <p:ph type="dt" idx="10"/>
          </p:nvPr>
        </p:nvSpPr>
        <p:spPr/>
        <p:txBody>
          <a:bodyPr/>
          <a:lstStyle/>
          <a:p>
            <a:r>
              <a:rPr lang="en-US" dirty="0"/>
              <a:t>03/12/2025</a:t>
            </a:r>
          </a:p>
        </p:txBody>
      </p:sp>
      <p:sp>
        <p:nvSpPr>
          <p:cNvPr id="5" name="Slide Number Placeholder 4">
            <a:extLst>
              <a:ext uri="{FF2B5EF4-FFF2-40B4-BE49-F238E27FC236}">
                <a16:creationId xmlns:a16="http://schemas.microsoft.com/office/drawing/2014/main" id="{B710536A-1BA0-CA1B-D4F1-B9C3D27C2E1A}"/>
              </a:ext>
            </a:extLst>
          </p:cNvPr>
          <p:cNvSpPr>
            <a:spLocks noGrp="1"/>
          </p:cNvSpPr>
          <p:nvPr>
            <p:ph type="sldNum" idx="12"/>
          </p:nvPr>
        </p:nvSpPr>
        <p:spPr/>
        <p:txBody>
          <a:bodyPr/>
          <a:lstStyle/>
          <a:p>
            <a:fld id="{00000000-1234-1234-1234-123412341234}" type="slidenum">
              <a:rPr lang="en-US" smtClean="0"/>
              <a:pPr/>
              <a:t>22</a:t>
            </a:fld>
            <a:endParaRPr lang="en-US"/>
          </a:p>
        </p:txBody>
      </p:sp>
    </p:spTree>
    <p:extLst>
      <p:ext uri="{BB962C8B-B14F-4D97-AF65-F5344CB8AC3E}">
        <p14:creationId xmlns:p14="http://schemas.microsoft.com/office/powerpoint/2010/main" val="195485706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74B02D-C8B8-96DF-B899-1C68148136EE}"/>
              </a:ext>
            </a:extLst>
          </p:cNvPr>
          <p:cNvSpPr>
            <a:spLocks noGrp="1"/>
          </p:cNvSpPr>
          <p:nvPr>
            <p:ph type="title"/>
          </p:nvPr>
        </p:nvSpPr>
        <p:spPr>
          <a:xfrm>
            <a:off x="312933" y="274637"/>
            <a:ext cx="12934559" cy="890133"/>
          </a:xfrm>
        </p:spPr>
        <p:txBody>
          <a:bodyPr/>
          <a:lstStyle/>
          <a:p>
            <a:r>
              <a:rPr lang="en-IN" b="1" dirty="0"/>
              <a:t>REFERENCES</a:t>
            </a:r>
          </a:p>
        </p:txBody>
      </p:sp>
      <p:sp>
        <p:nvSpPr>
          <p:cNvPr id="3" name="Text Placeholder 2">
            <a:extLst>
              <a:ext uri="{FF2B5EF4-FFF2-40B4-BE49-F238E27FC236}">
                <a16:creationId xmlns:a16="http://schemas.microsoft.com/office/drawing/2014/main" id="{DA717F6A-5B45-075B-3DB0-92F22DF2DF52}"/>
              </a:ext>
            </a:extLst>
          </p:cNvPr>
          <p:cNvSpPr>
            <a:spLocks noGrp="1"/>
          </p:cNvSpPr>
          <p:nvPr>
            <p:ph type="body" idx="1"/>
          </p:nvPr>
        </p:nvSpPr>
        <p:spPr>
          <a:xfrm>
            <a:off x="417244" y="1164770"/>
            <a:ext cx="12725937" cy="4931231"/>
          </a:xfrm>
        </p:spPr>
        <p:txBody>
          <a:bodyPr>
            <a:normAutofit/>
          </a:bodyPr>
          <a:lstStyle/>
          <a:p>
            <a:r>
              <a:rPr lang="en-IN" sz="2400" dirty="0">
                <a:solidFill>
                  <a:schemeClr val="tx1"/>
                </a:solidFill>
                <a:latin typeface="Times New Roman" panose="02020603050405020304" pitchFamily="18" charset="0"/>
                <a:cs typeface="Times New Roman" panose="02020603050405020304" pitchFamily="18" charset="0"/>
              </a:rPr>
              <a:t>[1] J. Singh, S. P. Jaiswal, V. S. Bhadoria, N. Varshney, and M. Jain, “Production of Bio-Gas and Organic Fertilizer Using Canteen and Kitchen Waste,” in 2019 2nd International Conference on Power Energy, Environment and Intelligent Control (PEEIC), 2019. </a:t>
            </a:r>
            <a:br>
              <a:rPr lang="en-IN" sz="2400" dirty="0">
                <a:solidFill>
                  <a:schemeClr val="tx1"/>
                </a:solidFill>
                <a:latin typeface="Times New Roman" panose="02020603050405020304" pitchFamily="18" charset="0"/>
                <a:cs typeface="Times New Roman" panose="02020603050405020304" pitchFamily="18" charset="0"/>
              </a:rPr>
            </a:br>
            <a:r>
              <a:rPr lang="en-IN" sz="2400" dirty="0">
                <a:latin typeface="Times New Roman" panose="02020603050405020304" pitchFamily="18" charset="0"/>
                <a:cs typeface="Times New Roman" panose="02020603050405020304" pitchFamily="18" charset="0"/>
              </a:rPr>
              <a:t>Available:</a:t>
            </a:r>
            <a:r>
              <a:rPr lang="en-IN" sz="2400" dirty="0">
                <a:latin typeface="Times New Roman" panose="02020603050405020304" pitchFamily="18" charset="0"/>
                <a:cs typeface="Times New Roman" panose="02020603050405020304" pitchFamily="18" charset="0"/>
                <a:hlinkClick r:id="rId2"/>
              </a:rPr>
              <a:t> </a:t>
            </a:r>
            <a:r>
              <a:rPr lang="en-IN" sz="2400" u="sng" dirty="0">
                <a:latin typeface="Times New Roman" panose="02020603050405020304" pitchFamily="18" charset="0"/>
                <a:cs typeface="Times New Roman" panose="02020603050405020304" pitchFamily="18" charset="0"/>
                <a:hlinkClick r:id="rId2"/>
              </a:rPr>
              <a:t>https://ieeexplore.ieee.org/document/8976623</a:t>
            </a:r>
            <a:br>
              <a:rPr lang="en-IN" sz="2400" u="sng" dirty="0">
                <a:latin typeface="Times New Roman" panose="02020603050405020304" pitchFamily="18" charset="0"/>
                <a:cs typeface="Times New Roman" panose="02020603050405020304" pitchFamily="18" charset="0"/>
              </a:rPr>
            </a:br>
            <a:endParaRPr lang="en-IN" sz="2400" dirty="0">
              <a:latin typeface="Times New Roman" panose="02020603050405020304" pitchFamily="18" charset="0"/>
              <a:cs typeface="Times New Roman" panose="02020603050405020304" pitchFamily="18" charset="0"/>
            </a:endParaRPr>
          </a:p>
          <a:p>
            <a:r>
              <a:rPr lang="en-IN" sz="2400" dirty="0">
                <a:solidFill>
                  <a:schemeClr val="tx1"/>
                </a:solidFill>
                <a:latin typeface="Times New Roman" panose="02020603050405020304" pitchFamily="18" charset="0"/>
                <a:cs typeface="Times New Roman" panose="02020603050405020304" pitchFamily="18" charset="0"/>
              </a:rPr>
              <a:t>[2] R. Bhoir, R. Thakur, P. Tambe, R. Borase, and S. Pawar, “Design and Implementation of Smart Compost System Using IOT,” in 2020 IEEE International Conference for Innovation in Technology (INOCON), Bengaluru, India, Nov. 6–8, 2020.</a:t>
            </a:r>
            <a:br>
              <a:rPr lang="en-IN" sz="2400" dirty="0">
                <a:solidFill>
                  <a:schemeClr val="tx1"/>
                </a:solidFill>
                <a:latin typeface="Times New Roman" panose="02020603050405020304" pitchFamily="18" charset="0"/>
                <a:cs typeface="Times New Roman" panose="02020603050405020304" pitchFamily="18" charset="0"/>
              </a:rPr>
            </a:br>
            <a:r>
              <a:rPr lang="en-IN" sz="2400" dirty="0">
                <a:latin typeface="Times New Roman" panose="02020603050405020304" pitchFamily="18" charset="0"/>
                <a:cs typeface="Times New Roman" panose="02020603050405020304" pitchFamily="18" charset="0"/>
              </a:rPr>
              <a:t>Available:</a:t>
            </a:r>
            <a:r>
              <a:rPr lang="en-IN" sz="2400" dirty="0">
                <a:latin typeface="Times New Roman" panose="02020603050405020304" pitchFamily="18" charset="0"/>
                <a:cs typeface="Times New Roman" panose="02020603050405020304" pitchFamily="18" charset="0"/>
                <a:hlinkClick r:id="rId3"/>
              </a:rPr>
              <a:t> </a:t>
            </a:r>
            <a:r>
              <a:rPr lang="en-IN" sz="2400" u="sng" dirty="0">
                <a:latin typeface="Times New Roman" panose="02020603050405020304" pitchFamily="18" charset="0"/>
                <a:cs typeface="Times New Roman" panose="02020603050405020304" pitchFamily="18" charset="0"/>
                <a:hlinkClick r:id="rId3"/>
              </a:rPr>
              <a:t>https://ieeexplore.ieee.org/document/9298219</a:t>
            </a:r>
            <a:br>
              <a:rPr lang="en-IN" sz="2400" u="sng" dirty="0">
                <a:latin typeface="Times New Roman" panose="02020603050405020304" pitchFamily="18" charset="0"/>
                <a:cs typeface="Times New Roman" panose="02020603050405020304" pitchFamily="18" charset="0"/>
              </a:rPr>
            </a:br>
            <a:endParaRPr lang="en-IN" sz="2400"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6094808C-3C18-6A15-0AA6-0B8555E5625A}"/>
              </a:ext>
            </a:extLst>
          </p:cNvPr>
          <p:cNvSpPr>
            <a:spLocks noGrp="1"/>
          </p:cNvSpPr>
          <p:nvPr>
            <p:ph type="dt" idx="10"/>
          </p:nvPr>
        </p:nvSpPr>
        <p:spPr>
          <a:xfrm>
            <a:off x="538684" y="6218238"/>
            <a:ext cx="3164099" cy="365125"/>
          </a:xfrm>
        </p:spPr>
        <p:txBody>
          <a:bodyPr/>
          <a:lstStyle/>
          <a:p>
            <a:r>
              <a:rPr lang="en-US" dirty="0"/>
              <a:t>03/12/2025</a:t>
            </a:r>
          </a:p>
        </p:txBody>
      </p:sp>
      <p:sp>
        <p:nvSpPr>
          <p:cNvPr id="5" name="Slide Number Placeholder 4">
            <a:extLst>
              <a:ext uri="{FF2B5EF4-FFF2-40B4-BE49-F238E27FC236}">
                <a16:creationId xmlns:a16="http://schemas.microsoft.com/office/drawing/2014/main" id="{08CF9D34-EC45-1386-A6DC-66B430B44AC2}"/>
              </a:ext>
            </a:extLst>
          </p:cNvPr>
          <p:cNvSpPr>
            <a:spLocks noGrp="1"/>
          </p:cNvSpPr>
          <p:nvPr>
            <p:ph type="sldNum" idx="12"/>
          </p:nvPr>
        </p:nvSpPr>
        <p:spPr/>
        <p:txBody>
          <a:bodyPr/>
          <a:lstStyle/>
          <a:p>
            <a:fld id="{00000000-1234-1234-1234-123412341234}" type="slidenum">
              <a:rPr lang="en-US" smtClean="0"/>
              <a:pPr/>
              <a:t>23</a:t>
            </a:fld>
            <a:endParaRPr lang="en-US"/>
          </a:p>
        </p:txBody>
      </p:sp>
    </p:spTree>
    <p:extLst>
      <p:ext uri="{BB962C8B-B14F-4D97-AF65-F5344CB8AC3E}">
        <p14:creationId xmlns:p14="http://schemas.microsoft.com/office/powerpoint/2010/main" val="155246044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144BFA-918A-CD5B-4E1B-8741B83E69E5}"/>
              </a:ext>
            </a:extLst>
          </p:cNvPr>
          <p:cNvSpPr>
            <a:spLocks noGrp="1"/>
          </p:cNvSpPr>
          <p:nvPr>
            <p:ph type="title"/>
          </p:nvPr>
        </p:nvSpPr>
        <p:spPr>
          <a:xfrm>
            <a:off x="312932" y="600870"/>
            <a:ext cx="12934559" cy="411162"/>
          </a:xfrm>
        </p:spPr>
        <p:txBody>
          <a:bodyPr/>
          <a:lstStyle/>
          <a:p>
            <a:r>
              <a:rPr lang="en-IN" b="1" dirty="0"/>
              <a:t>REFERENCES</a:t>
            </a:r>
            <a:endParaRPr lang="en-IN" dirty="0"/>
          </a:p>
        </p:txBody>
      </p:sp>
      <p:sp>
        <p:nvSpPr>
          <p:cNvPr id="3" name="Text Placeholder 2">
            <a:extLst>
              <a:ext uri="{FF2B5EF4-FFF2-40B4-BE49-F238E27FC236}">
                <a16:creationId xmlns:a16="http://schemas.microsoft.com/office/drawing/2014/main" id="{2C884B3F-E38D-C94D-6C8E-F9E5AB6ED008}"/>
              </a:ext>
            </a:extLst>
          </p:cNvPr>
          <p:cNvSpPr>
            <a:spLocks noGrp="1"/>
          </p:cNvSpPr>
          <p:nvPr>
            <p:ph type="body" idx="1"/>
          </p:nvPr>
        </p:nvSpPr>
        <p:spPr/>
        <p:txBody>
          <a:bodyPr>
            <a:normAutofit fontScale="92500" lnSpcReduction="20000"/>
          </a:bodyPr>
          <a:lstStyle/>
          <a:p>
            <a:endParaRPr lang="en-IN" dirty="0"/>
          </a:p>
          <a:p>
            <a:r>
              <a:rPr lang="en-IN" dirty="0">
                <a:solidFill>
                  <a:schemeClr val="tx1"/>
                </a:solidFill>
                <a:latin typeface="Times New Roman" panose="02020603050405020304" pitchFamily="18" charset="0"/>
                <a:cs typeface="Times New Roman" panose="02020603050405020304" pitchFamily="18" charset="0"/>
              </a:rPr>
              <a:t>[3] T. Sayara, R. Basheer, F. Hawamde, and A. Sánchez, “Recycling of Organic Wastes through Composting: Process Performance and Compost Application in Agriculture,” Agronomy, vol. 10, no. 11, article 1838, Nov. 2020.</a:t>
            </a:r>
            <a:br>
              <a:rPr lang="en-IN" dirty="0">
                <a:solidFill>
                  <a:schemeClr val="tx1"/>
                </a:solidFill>
                <a:latin typeface="Times New Roman" panose="02020603050405020304" pitchFamily="18" charset="0"/>
                <a:cs typeface="Times New Roman" panose="02020603050405020304" pitchFamily="18" charset="0"/>
              </a:rPr>
            </a:br>
            <a:r>
              <a:rPr lang="en-IN" dirty="0">
                <a:solidFill>
                  <a:schemeClr val="tx1"/>
                </a:solidFill>
                <a:latin typeface="Times New Roman" panose="02020603050405020304" pitchFamily="18" charset="0"/>
                <a:cs typeface="Times New Roman" panose="02020603050405020304" pitchFamily="18" charset="0"/>
              </a:rPr>
              <a:t>doi:10.3390/agronomy10111838 .</a:t>
            </a:r>
            <a:br>
              <a:rPr lang="en-IN" dirty="0">
                <a:solidFill>
                  <a:schemeClr val="tx1"/>
                </a:solidFill>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Available:</a:t>
            </a:r>
            <a:r>
              <a:rPr lang="en-IN" u="sng" dirty="0">
                <a:latin typeface="Times New Roman" panose="02020603050405020304" pitchFamily="18" charset="0"/>
                <a:cs typeface="Times New Roman" panose="02020603050405020304" pitchFamily="18" charset="0"/>
              </a:rPr>
              <a:t>https://sci-hub.se/10.3390/agronomy10111838</a:t>
            </a:r>
            <a:br>
              <a:rPr lang="en-IN" u="sng" dirty="0">
                <a:latin typeface="Times New Roman" panose="02020603050405020304" pitchFamily="18" charset="0"/>
                <a:cs typeface="Times New Roman" panose="02020603050405020304" pitchFamily="18" charset="0"/>
              </a:rPr>
            </a:br>
            <a:endParaRPr lang="en-IN" u="sng" dirty="0">
              <a:latin typeface="Times New Roman" panose="02020603050405020304" pitchFamily="18" charset="0"/>
              <a:cs typeface="Times New Roman" panose="02020603050405020304" pitchFamily="18" charset="0"/>
            </a:endParaRPr>
          </a:p>
          <a:p>
            <a:r>
              <a:rPr lang="en-IN" dirty="0">
                <a:solidFill>
                  <a:schemeClr val="tx1"/>
                </a:solidFill>
                <a:latin typeface="Times New Roman" panose="02020603050405020304" pitchFamily="18" charset="0"/>
                <a:cs typeface="Times New Roman" panose="02020603050405020304" pitchFamily="18" charset="0"/>
              </a:rPr>
              <a:t>[4] M. Goel, A. H. Goyal, P. Dhiman, V. Deep, P. Sharma, and V. K. Shukla, “Smart Garbage Segregator and IoT Based Waste Collection system,” in 2021 International Conference on Advance Computing and Innovative Technologies in Engineering (ICACITE), Gr. Noida, India, 2021.</a:t>
            </a:r>
            <a:br>
              <a:rPr lang="en-IN" dirty="0">
                <a:solidFill>
                  <a:schemeClr val="tx1"/>
                </a:solidFill>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Available:</a:t>
            </a:r>
            <a:r>
              <a:rPr lang="en-IN" dirty="0">
                <a:latin typeface="Times New Roman" panose="02020603050405020304" pitchFamily="18" charset="0"/>
                <a:cs typeface="Times New Roman" panose="02020603050405020304" pitchFamily="18" charset="0"/>
                <a:hlinkClick r:id="rId2"/>
              </a:rPr>
              <a:t> </a:t>
            </a:r>
            <a:r>
              <a:rPr lang="en-IN" u="sng" dirty="0">
                <a:latin typeface="Times New Roman" panose="02020603050405020304" pitchFamily="18" charset="0"/>
                <a:cs typeface="Times New Roman" panose="02020603050405020304" pitchFamily="18" charset="0"/>
                <a:hlinkClick r:id="rId2"/>
              </a:rPr>
              <a:t>https://ieeexplore.ieee.org/document/9404692</a:t>
            </a:r>
            <a:br>
              <a:rPr lang="en-IN" sz="3100" dirty="0">
                <a:latin typeface="Times New Roman" panose="02020603050405020304" pitchFamily="18" charset="0"/>
                <a:cs typeface="Times New Roman" panose="02020603050405020304" pitchFamily="18" charset="0"/>
              </a:rPr>
            </a:br>
            <a:br>
              <a:rPr lang="en-IN" dirty="0">
                <a:latin typeface="Times New Roman" panose="02020603050405020304" pitchFamily="18" charset="0"/>
                <a:cs typeface="Times New Roman" panose="02020603050405020304" pitchFamily="18" charset="0"/>
              </a:rPr>
            </a:br>
            <a:endParaRPr lang="en-IN" dirty="0">
              <a:latin typeface="Times New Roman" panose="02020603050405020304" pitchFamily="18" charset="0"/>
              <a:cs typeface="Times New Roman" panose="02020603050405020304" pitchFamily="18" charset="0"/>
            </a:endParaRPr>
          </a:p>
          <a:p>
            <a:endParaRPr lang="en-IN" dirty="0"/>
          </a:p>
        </p:txBody>
      </p:sp>
      <p:sp>
        <p:nvSpPr>
          <p:cNvPr id="4" name="Date Placeholder 3">
            <a:extLst>
              <a:ext uri="{FF2B5EF4-FFF2-40B4-BE49-F238E27FC236}">
                <a16:creationId xmlns:a16="http://schemas.microsoft.com/office/drawing/2014/main" id="{DB818B1C-1DAA-5FFE-E434-D966FA466DFA}"/>
              </a:ext>
            </a:extLst>
          </p:cNvPr>
          <p:cNvSpPr>
            <a:spLocks noGrp="1"/>
          </p:cNvSpPr>
          <p:nvPr>
            <p:ph type="dt" idx="10"/>
          </p:nvPr>
        </p:nvSpPr>
        <p:spPr/>
        <p:txBody>
          <a:bodyPr/>
          <a:lstStyle/>
          <a:p>
            <a:r>
              <a:rPr lang="en-US" dirty="0"/>
              <a:t>03/12/2025</a:t>
            </a:r>
          </a:p>
        </p:txBody>
      </p:sp>
      <p:sp>
        <p:nvSpPr>
          <p:cNvPr id="5" name="Slide Number Placeholder 4">
            <a:extLst>
              <a:ext uri="{FF2B5EF4-FFF2-40B4-BE49-F238E27FC236}">
                <a16:creationId xmlns:a16="http://schemas.microsoft.com/office/drawing/2014/main" id="{FAF45498-A9F4-3858-2F6B-183604A7C808}"/>
              </a:ext>
            </a:extLst>
          </p:cNvPr>
          <p:cNvSpPr>
            <a:spLocks noGrp="1"/>
          </p:cNvSpPr>
          <p:nvPr>
            <p:ph type="sldNum" idx="12"/>
          </p:nvPr>
        </p:nvSpPr>
        <p:spPr/>
        <p:txBody>
          <a:bodyPr/>
          <a:lstStyle/>
          <a:p>
            <a:fld id="{00000000-1234-1234-1234-123412341234}" type="slidenum">
              <a:rPr lang="en-US" smtClean="0"/>
              <a:pPr/>
              <a:t>24</a:t>
            </a:fld>
            <a:endParaRPr lang="en-US"/>
          </a:p>
        </p:txBody>
      </p:sp>
    </p:spTree>
    <p:extLst>
      <p:ext uri="{BB962C8B-B14F-4D97-AF65-F5344CB8AC3E}">
        <p14:creationId xmlns:p14="http://schemas.microsoft.com/office/powerpoint/2010/main" val="77113119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A8B654-72B3-CBB4-921D-BD7319886882}"/>
              </a:ext>
            </a:extLst>
          </p:cNvPr>
          <p:cNvSpPr>
            <a:spLocks noGrp="1"/>
          </p:cNvSpPr>
          <p:nvPr>
            <p:ph type="title"/>
          </p:nvPr>
        </p:nvSpPr>
        <p:spPr>
          <a:xfrm>
            <a:off x="208622" y="525465"/>
            <a:ext cx="12934559" cy="411162"/>
          </a:xfrm>
        </p:spPr>
        <p:txBody>
          <a:bodyPr/>
          <a:lstStyle/>
          <a:p>
            <a:r>
              <a:rPr lang="en-IN" b="1" dirty="0"/>
              <a:t>REFERENCES</a:t>
            </a:r>
            <a:endParaRPr lang="en-IN" dirty="0"/>
          </a:p>
        </p:txBody>
      </p:sp>
      <p:sp>
        <p:nvSpPr>
          <p:cNvPr id="3" name="Text Placeholder 2">
            <a:extLst>
              <a:ext uri="{FF2B5EF4-FFF2-40B4-BE49-F238E27FC236}">
                <a16:creationId xmlns:a16="http://schemas.microsoft.com/office/drawing/2014/main" id="{DDCC856B-2E22-5323-D364-8EE93BE1EB3B}"/>
              </a:ext>
            </a:extLst>
          </p:cNvPr>
          <p:cNvSpPr>
            <a:spLocks noGrp="1"/>
          </p:cNvSpPr>
          <p:nvPr>
            <p:ph type="body" idx="1"/>
          </p:nvPr>
        </p:nvSpPr>
        <p:spPr/>
        <p:txBody>
          <a:bodyPr>
            <a:normAutofit/>
          </a:bodyPr>
          <a:lstStyle/>
          <a:p>
            <a:r>
              <a:rPr lang="en-IN" sz="2400" dirty="0">
                <a:solidFill>
                  <a:schemeClr val="tx1"/>
                </a:solidFill>
                <a:latin typeface="Times New Roman" panose="02020603050405020304" pitchFamily="18" charset="0"/>
                <a:cs typeface="Times New Roman" panose="02020603050405020304" pitchFamily="18" charset="0"/>
              </a:rPr>
              <a:t>[5] S. Badotra, S. Tanwar, A. Sundas, and P. Dhiman, “Smart Waste Segregation System Using IoT,” in 2021 9th International Conference on Reliability, Infocom Technologies and Optimization (Trends and Future Directions) (ICRITO), 2021. </a:t>
            </a:r>
            <a:br>
              <a:rPr lang="en-IN" sz="2400" dirty="0">
                <a:latin typeface="Times New Roman" panose="02020603050405020304" pitchFamily="18" charset="0"/>
                <a:cs typeface="Times New Roman" panose="02020603050405020304" pitchFamily="18" charset="0"/>
              </a:rPr>
            </a:br>
            <a:r>
              <a:rPr lang="en-IN" sz="2400" dirty="0">
                <a:latin typeface="Times New Roman" panose="02020603050405020304" pitchFamily="18" charset="0"/>
                <a:cs typeface="Times New Roman" panose="02020603050405020304" pitchFamily="18" charset="0"/>
              </a:rPr>
              <a:t>Available:</a:t>
            </a:r>
            <a:r>
              <a:rPr lang="en-IN" sz="2400" dirty="0">
                <a:latin typeface="Times New Roman" panose="02020603050405020304" pitchFamily="18" charset="0"/>
                <a:cs typeface="Times New Roman" panose="02020603050405020304" pitchFamily="18" charset="0"/>
                <a:hlinkClick r:id="rId2"/>
              </a:rPr>
              <a:t> </a:t>
            </a:r>
            <a:r>
              <a:rPr lang="en-IN" sz="2400" u="sng" dirty="0">
                <a:latin typeface="Times New Roman" panose="02020603050405020304" pitchFamily="18" charset="0"/>
                <a:cs typeface="Times New Roman" panose="02020603050405020304" pitchFamily="18" charset="0"/>
                <a:hlinkClick r:id="rId2"/>
              </a:rPr>
              <a:t>https://ieeexplore.ieee.org/document/9596173</a:t>
            </a:r>
            <a:br>
              <a:rPr lang="en-IN" sz="2400" u="sng" dirty="0">
                <a:latin typeface="Times New Roman" panose="02020603050405020304" pitchFamily="18" charset="0"/>
                <a:cs typeface="Times New Roman" panose="02020603050405020304" pitchFamily="18" charset="0"/>
              </a:rPr>
            </a:br>
            <a:endParaRPr lang="en-IN" sz="2400" dirty="0">
              <a:latin typeface="Times New Roman" panose="02020603050405020304" pitchFamily="18" charset="0"/>
              <a:cs typeface="Times New Roman" panose="02020603050405020304" pitchFamily="18" charset="0"/>
            </a:endParaRPr>
          </a:p>
          <a:p>
            <a:r>
              <a:rPr lang="en-IN" sz="2400" dirty="0">
                <a:solidFill>
                  <a:schemeClr val="tx1"/>
                </a:solidFill>
                <a:latin typeface="Times New Roman" panose="02020603050405020304" pitchFamily="18" charset="0"/>
                <a:cs typeface="Times New Roman" panose="02020603050405020304" pitchFamily="18" charset="0"/>
              </a:rPr>
              <a:t>[6] M. Li, F. Li, J. Zhou, Q. Yuan, and N. Hu, “Fallen leaves are superior to tree pruning as bulking agents in aerobic composting disposing kitchen waste,” Bioresource Technol. (probable journal), vol. , no. , 2022.</a:t>
            </a:r>
            <a:br>
              <a:rPr lang="en-IN" sz="2400" dirty="0">
                <a:solidFill>
                  <a:schemeClr val="tx1"/>
                </a:solidFill>
                <a:latin typeface="Times New Roman" panose="02020603050405020304" pitchFamily="18" charset="0"/>
                <a:cs typeface="Times New Roman" panose="02020603050405020304" pitchFamily="18" charset="0"/>
              </a:rPr>
            </a:br>
            <a:r>
              <a:rPr lang="en-IN" sz="2400" dirty="0">
                <a:latin typeface="Times New Roman" panose="02020603050405020304" pitchFamily="18" charset="0"/>
                <a:cs typeface="Times New Roman" panose="02020603050405020304" pitchFamily="18" charset="0"/>
              </a:rPr>
              <a:t>Available:</a:t>
            </a:r>
            <a:r>
              <a:rPr lang="en-IN" sz="2400" u="sng" dirty="0">
                <a:latin typeface="Times New Roman" panose="02020603050405020304" pitchFamily="18" charset="0"/>
                <a:cs typeface="Times New Roman" panose="02020603050405020304" pitchFamily="18" charset="0"/>
                <a:hlinkClick r:id="rId3"/>
              </a:rPr>
              <a:t>https://www.researchgate.net/publication/356372138_Fallen_leaves_are_superior_to_tree_pruning_as_bulking_agents_in_aerobic_composting_disposing_kitchen_waste</a:t>
            </a:r>
            <a:endParaRPr lang="en-IN" sz="2400" dirty="0">
              <a:latin typeface="Times New Roman" panose="02020603050405020304" pitchFamily="18" charset="0"/>
              <a:cs typeface="Times New Roman" panose="02020603050405020304" pitchFamily="18" charset="0"/>
            </a:endParaRPr>
          </a:p>
          <a:p>
            <a:endParaRPr lang="en-IN" dirty="0"/>
          </a:p>
        </p:txBody>
      </p:sp>
      <p:sp>
        <p:nvSpPr>
          <p:cNvPr id="4" name="Date Placeholder 3">
            <a:extLst>
              <a:ext uri="{FF2B5EF4-FFF2-40B4-BE49-F238E27FC236}">
                <a16:creationId xmlns:a16="http://schemas.microsoft.com/office/drawing/2014/main" id="{238D4458-4C1A-5B01-36BF-104078C84574}"/>
              </a:ext>
            </a:extLst>
          </p:cNvPr>
          <p:cNvSpPr>
            <a:spLocks noGrp="1"/>
          </p:cNvSpPr>
          <p:nvPr>
            <p:ph type="dt" idx="10"/>
          </p:nvPr>
        </p:nvSpPr>
        <p:spPr/>
        <p:txBody>
          <a:bodyPr/>
          <a:lstStyle/>
          <a:p>
            <a:r>
              <a:rPr lang="en-US" dirty="0"/>
              <a:t>03/12/2025</a:t>
            </a:r>
          </a:p>
        </p:txBody>
      </p:sp>
      <p:sp>
        <p:nvSpPr>
          <p:cNvPr id="5" name="Slide Number Placeholder 4">
            <a:extLst>
              <a:ext uri="{FF2B5EF4-FFF2-40B4-BE49-F238E27FC236}">
                <a16:creationId xmlns:a16="http://schemas.microsoft.com/office/drawing/2014/main" id="{0641E703-71A1-6B59-220E-179610D7A7D0}"/>
              </a:ext>
            </a:extLst>
          </p:cNvPr>
          <p:cNvSpPr>
            <a:spLocks noGrp="1"/>
          </p:cNvSpPr>
          <p:nvPr>
            <p:ph type="sldNum" idx="12"/>
          </p:nvPr>
        </p:nvSpPr>
        <p:spPr/>
        <p:txBody>
          <a:bodyPr/>
          <a:lstStyle/>
          <a:p>
            <a:fld id="{00000000-1234-1234-1234-123412341234}" type="slidenum">
              <a:rPr lang="en-US" smtClean="0"/>
              <a:pPr/>
              <a:t>25</a:t>
            </a:fld>
            <a:endParaRPr lang="en-US"/>
          </a:p>
        </p:txBody>
      </p:sp>
    </p:spTree>
    <p:extLst>
      <p:ext uri="{BB962C8B-B14F-4D97-AF65-F5344CB8AC3E}">
        <p14:creationId xmlns:p14="http://schemas.microsoft.com/office/powerpoint/2010/main" val="34464502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708709-44E3-3C46-CF1C-881DBB05256D}"/>
              </a:ext>
            </a:extLst>
          </p:cNvPr>
          <p:cNvSpPr>
            <a:spLocks noGrp="1"/>
          </p:cNvSpPr>
          <p:nvPr>
            <p:ph type="title"/>
          </p:nvPr>
        </p:nvSpPr>
        <p:spPr>
          <a:xfrm>
            <a:off x="312932" y="395289"/>
            <a:ext cx="12934559" cy="411162"/>
          </a:xfrm>
        </p:spPr>
        <p:txBody>
          <a:bodyPr/>
          <a:lstStyle/>
          <a:p>
            <a:r>
              <a:rPr lang="en-IN" b="1" dirty="0"/>
              <a:t>REFERENCES</a:t>
            </a:r>
            <a:endParaRPr lang="en-IN" dirty="0"/>
          </a:p>
        </p:txBody>
      </p:sp>
      <p:sp>
        <p:nvSpPr>
          <p:cNvPr id="3" name="Text Placeholder 2">
            <a:extLst>
              <a:ext uri="{FF2B5EF4-FFF2-40B4-BE49-F238E27FC236}">
                <a16:creationId xmlns:a16="http://schemas.microsoft.com/office/drawing/2014/main" id="{958786D0-F4D4-F994-228A-749F8680FDA5}"/>
              </a:ext>
            </a:extLst>
          </p:cNvPr>
          <p:cNvSpPr>
            <a:spLocks noGrp="1"/>
          </p:cNvSpPr>
          <p:nvPr>
            <p:ph type="body" idx="1"/>
          </p:nvPr>
        </p:nvSpPr>
        <p:spPr/>
        <p:txBody>
          <a:bodyPr>
            <a:normAutofit/>
          </a:bodyPr>
          <a:lstStyle/>
          <a:p>
            <a:r>
              <a:rPr lang="en-IN" sz="2400" dirty="0">
                <a:solidFill>
                  <a:schemeClr val="tx1"/>
                </a:solidFill>
                <a:latin typeface="Times New Roman" panose="02020603050405020304" pitchFamily="18" charset="0"/>
                <a:cs typeface="Times New Roman" panose="02020603050405020304" pitchFamily="18" charset="0"/>
              </a:rPr>
              <a:t>[7] Z. Liu, X. Liu, H. Li, S. Li, R. Pan, and L. Ge, “Effect of different organic wastes on kitchen waste machine composting secondary fermentation,” in Proc. 2023 35th Chinese Control and Decision Conference (CCDC), 2023. </a:t>
            </a:r>
            <a:br>
              <a:rPr lang="en-IN" sz="2400" dirty="0">
                <a:latin typeface="Times New Roman" panose="02020603050405020304" pitchFamily="18" charset="0"/>
                <a:cs typeface="Times New Roman" panose="02020603050405020304" pitchFamily="18" charset="0"/>
              </a:rPr>
            </a:br>
            <a:r>
              <a:rPr lang="en-IN" sz="2400" dirty="0">
                <a:latin typeface="Times New Roman" panose="02020603050405020304" pitchFamily="18" charset="0"/>
                <a:cs typeface="Times New Roman" panose="02020603050405020304" pitchFamily="18" charset="0"/>
              </a:rPr>
              <a:t>doi:10.1109/ccdc58219.2023.10326656. </a:t>
            </a:r>
            <a:br>
              <a:rPr lang="en-IN" sz="2400" dirty="0">
                <a:latin typeface="Times New Roman" panose="02020603050405020304" pitchFamily="18" charset="0"/>
                <a:cs typeface="Times New Roman" panose="02020603050405020304" pitchFamily="18" charset="0"/>
              </a:rPr>
            </a:br>
            <a:r>
              <a:rPr lang="en-IN" sz="2400" dirty="0">
                <a:latin typeface="Times New Roman" panose="02020603050405020304" pitchFamily="18" charset="0"/>
                <a:cs typeface="Times New Roman" panose="02020603050405020304" pitchFamily="18" charset="0"/>
              </a:rPr>
              <a:t>Available : </a:t>
            </a:r>
            <a:r>
              <a:rPr lang="en-IN" sz="2400" u="sng" dirty="0">
                <a:latin typeface="Times New Roman" panose="02020603050405020304" pitchFamily="18" charset="0"/>
                <a:cs typeface="Times New Roman" panose="02020603050405020304" pitchFamily="18" charset="0"/>
                <a:hlinkClick r:id="rId2"/>
              </a:rPr>
              <a:t>https://ieeexplore.ieee.org/abstract/document/10326656</a:t>
            </a:r>
            <a:endParaRPr lang="en-IN" sz="2400" u="sng" dirty="0">
              <a:latin typeface="Times New Roman" panose="02020603050405020304" pitchFamily="18" charset="0"/>
              <a:cs typeface="Times New Roman" panose="02020603050405020304" pitchFamily="18" charset="0"/>
            </a:endParaRPr>
          </a:p>
          <a:p>
            <a:endParaRPr lang="en-IN" sz="2400" dirty="0">
              <a:latin typeface="Times New Roman" panose="02020603050405020304" pitchFamily="18" charset="0"/>
              <a:cs typeface="Times New Roman" panose="02020603050405020304" pitchFamily="18" charset="0"/>
            </a:endParaRPr>
          </a:p>
          <a:p>
            <a:r>
              <a:rPr lang="en-IN" sz="2400" dirty="0">
                <a:solidFill>
                  <a:schemeClr val="tx1"/>
                </a:solidFill>
                <a:latin typeface="Times New Roman" panose="02020603050405020304" pitchFamily="18" charset="0"/>
                <a:cs typeface="Times New Roman" panose="02020603050405020304" pitchFamily="18" charset="0"/>
              </a:rPr>
              <a:t>[8] R. Adhikary, V. Sudham, and S. Sualsingh, “Real-Time Soil Nutrient Monitoring Using NPK Sensors: Enhancing Precision Agriculture,” in 2024 2nd International Conference on Signal Processing, Communication, Power and Embedded System (SCOPES),2024.</a:t>
            </a:r>
            <a:br>
              <a:rPr lang="en-IN" sz="2400" dirty="0">
                <a:solidFill>
                  <a:schemeClr val="tx1"/>
                </a:solidFill>
                <a:latin typeface="Times New Roman" panose="02020603050405020304" pitchFamily="18" charset="0"/>
                <a:cs typeface="Times New Roman" panose="02020603050405020304" pitchFamily="18" charset="0"/>
              </a:rPr>
            </a:br>
            <a:r>
              <a:rPr lang="en-IN" sz="2400" dirty="0">
                <a:latin typeface="Times New Roman" panose="02020603050405020304" pitchFamily="18" charset="0"/>
                <a:cs typeface="Times New Roman" panose="02020603050405020304" pitchFamily="18" charset="0"/>
              </a:rPr>
              <a:t>Available:</a:t>
            </a:r>
            <a:r>
              <a:rPr lang="en-IN" sz="2400" u="sng" dirty="0">
                <a:latin typeface="Times New Roman" panose="02020603050405020304" pitchFamily="18" charset="0"/>
                <a:cs typeface="Times New Roman" panose="02020603050405020304" pitchFamily="18" charset="0"/>
                <a:hlinkClick r:id="rId3"/>
              </a:rPr>
              <a:t>https://ieeexplore.ieee.org/document/10991026</a:t>
            </a:r>
            <a:endParaRPr lang="en-IN" sz="2400" dirty="0">
              <a:latin typeface="Times New Roman" panose="02020603050405020304" pitchFamily="18" charset="0"/>
              <a:cs typeface="Times New Roman" panose="02020603050405020304" pitchFamily="18" charset="0"/>
            </a:endParaRPr>
          </a:p>
          <a:p>
            <a:endParaRPr lang="en-IN" dirty="0"/>
          </a:p>
        </p:txBody>
      </p:sp>
      <p:sp>
        <p:nvSpPr>
          <p:cNvPr id="4" name="Date Placeholder 3">
            <a:extLst>
              <a:ext uri="{FF2B5EF4-FFF2-40B4-BE49-F238E27FC236}">
                <a16:creationId xmlns:a16="http://schemas.microsoft.com/office/drawing/2014/main" id="{01719A7A-2D4D-CFA9-BAB2-FA77F76E19EF}"/>
              </a:ext>
            </a:extLst>
          </p:cNvPr>
          <p:cNvSpPr>
            <a:spLocks noGrp="1"/>
          </p:cNvSpPr>
          <p:nvPr>
            <p:ph type="dt" idx="10"/>
          </p:nvPr>
        </p:nvSpPr>
        <p:spPr/>
        <p:txBody>
          <a:bodyPr/>
          <a:lstStyle/>
          <a:p>
            <a:r>
              <a:rPr lang="en-US" sz="1400" dirty="0"/>
              <a:t>03/12/2025</a:t>
            </a:r>
          </a:p>
        </p:txBody>
      </p:sp>
      <p:sp>
        <p:nvSpPr>
          <p:cNvPr id="5" name="Slide Number Placeholder 4">
            <a:extLst>
              <a:ext uri="{FF2B5EF4-FFF2-40B4-BE49-F238E27FC236}">
                <a16:creationId xmlns:a16="http://schemas.microsoft.com/office/drawing/2014/main" id="{1ECEEE0A-9BC6-B5BE-ECC0-B25060E70D18}"/>
              </a:ext>
            </a:extLst>
          </p:cNvPr>
          <p:cNvSpPr>
            <a:spLocks noGrp="1"/>
          </p:cNvSpPr>
          <p:nvPr>
            <p:ph type="sldNum" idx="12"/>
          </p:nvPr>
        </p:nvSpPr>
        <p:spPr/>
        <p:txBody>
          <a:bodyPr/>
          <a:lstStyle/>
          <a:p>
            <a:fld id="{00000000-1234-1234-1234-123412341234}" type="slidenum">
              <a:rPr lang="en-US" smtClean="0"/>
              <a:pPr/>
              <a:t>26</a:t>
            </a:fld>
            <a:endParaRPr lang="en-US"/>
          </a:p>
        </p:txBody>
      </p:sp>
    </p:spTree>
    <p:extLst>
      <p:ext uri="{BB962C8B-B14F-4D97-AF65-F5344CB8AC3E}">
        <p14:creationId xmlns:p14="http://schemas.microsoft.com/office/powerpoint/2010/main" val="176311333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0A8AAE-5F3D-DC4F-1B8C-7648146DC843}"/>
              </a:ext>
            </a:extLst>
          </p:cNvPr>
          <p:cNvSpPr>
            <a:spLocks noGrp="1"/>
          </p:cNvSpPr>
          <p:nvPr>
            <p:ph type="title"/>
          </p:nvPr>
        </p:nvSpPr>
        <p:spPr>
          <a:xfrm>
            <a:off x="312932" y="525465"/>
            <a:ext cx="12934559" cy="411162"/>
          </a:xfrm>
        </p:spPr>
        <p:txBody>
          <a:bodyPr/>
          <a:lstStyle/>
          <a:p>
            <a:r>
              <a:rPr lang="en-IN" b="1" dirty="0">
                <a:latin typeface="Times New Roman" panose="02020603050405020304" pitchFamily="18" charset="0"/>
                <a:cs typeface="Times New Roman" panose="02020603050405020304" pitchFamily="18" charset="0"/>
              </a:rPr>
              <a:t>REFERENCES</a:t>
            </a:r>
            <a:endParaRPr lang="en-IN" dirty="0">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0369EE8A-1CCA-D090-DE38-E1D16C671A96}"/>
              </a:ext>
            </a:extLst>
          </p:cNvPr>
          <p:cNvSpPr>
            <a:spLocks noGrp="1"/>
          </p:cNvSpPr>
          <p:nvPr>
            <p:ph type="body" idx="1"/>
          </p:nvPr>
        </p:nvSpPr>
        <p:spPr/>
        <p:txBody>
          <a:bodyPr>
            <a:normAutofit/>
          </a:bodyPr>
          <a:lstStyle/>
          <a:p>
            <a:endParaRPr lang="en-IN" dirty="0"/>
          </a:p>
          <a:p>
            <a:r>
              <a:rPr lang="en-IN" sz="2400" dirty="0">
                <a:solidFill>
                  <a:schemeClr val="tx1"/>
                </a:solidFill>
                <a:latin typeface="Times New Roman" panose="02020603050405020304" pitchFamily="18" charset="0"/>
                <a:cs typeface="Times New Roman" panose="02020603050405020304" pitchFamily="18" charset="0"/>
              </a:rPr>
              <a:t>[9] S. Raghunath, S. S. N. Banu, P. Talluri, V. N. Reddy, and L. Chouhan, “Sensor Integrated Smart Composting Bin for Household Applications,” in 2025 International Conference on Emerging Trends in Industry 4.0 Technologies (ICETI4T), 2025.</a:t>
            </a:r>
            <a:br>
              <a:rPr lang="en-IN" sz="2400" dirty="0">
                <a:latin typeface="Times New Roman" panose="02020603050405020304" pitchFamily="18" charset="0"/>
                <a:cs typeface="Times New Roman" panose="02020603050405020304" pitchFamily="18" charset="0"/>
              </a:rPr>
            </a:br>
            <a:r>
              <a:rPr lang="en-IN" sz="2400" dirty="0">
                <a:latin typeface="Times New Roman" panose="02020603050405020304" pitchFamily="18" charset="0"/>
                <a:cs typeface="Times New Roman" panose="02020603050405020304" pitchFamily="18" charset="0"/>
              </a:rPr>
              <a:t>Available:</a:t>
            </a:r>
            <a:r>
              <a:rPr lang="en-IN" sz="2400" dirty="0">
                <a:latin typeface="Times New Roman" panose="02020603050405020304" pitchFamily="18" charset="0"/>
                <a:cs typeface="Times New Roman" panose="02020603050405020304" pitchFamily="18" charset="0"/>
                <a:hlinkClick r:id="rId2"/>
              </a:rPr>
              <a:t> </a:t>
            </a:r>
            <a:r>
              <a:rPr lang="en-IN" sz="2400" u="sng" dirty="0">
                <a:latin typeface="Times New Roman" panose="02020603050405020304" pitchFamily="18" charset="0"/>
                <a:cs typeface="Times New Roman" panose="02020603050405020304" pitchFamily="18" charset="0"/>
                <a:hlinkClick r:id="rId2"/>
              </a:rPr>
              <a:t>https://xplorestaging.ieee.org/document/11132135</a:t>
            </a:r>
            <a:endParaRPr lang="en-IN" sz="2400" dirty="0">
              <a:latin typeface="Times New Roman" panose="02020603050405020304" pitchFamily="18" charset="0"/>
              <a:cs typeface="Times New Roman" panose="02020603050405020304" pitchFamily="18" charset="0"/>
            </a:endParaRPr>
          </a:p>
          <a:p>
            <a:endParaRPr lang="en-IN" sz="2400" dirty="0">
              <a:latin typeface="Times New Roman" panose="02020603050405020304" pitchFamily="18" charset="0"/>
              <a:cs typeface="Times New Roman" panose="02020603050405020304" pitchFamily="18" charset="0"/>
            </a:endParaRPr>
          </a:p>
          <a:p>
            <a:r>
              <a:rPr lang="en-IN" sz="2400" dirty="0">
                <a:solidFill>
                  <a:schemeClr val="tx1"/>
                </a:solidFill>
                <a:latin typeface="Times New Roman" panose="02020603050405020304" pitchFamily="18" charset="0"/>
                <a:cs typeface="Times New Roman" panose="02020603050405020304" pitchFamily="18" charset="0"/>
              </a:rPr>
              <a:t>[10] G. Rajamuneeswaran, P. Hridhya, B. Sakthivel, and N. G. Bai, “Smart Compost Guardian: An IOT-Based Real-Time Compost Monitoring and Alert System,” IJERT, vol. 13,no.5,2025.</a:t>
            </a:r>
            <a:br>
              <a:rPr lang="en-IN" sz="2400" dirty="0">
                <a:solidFill>
                  <a:schemeClr val="tx1"/>
                </a:solidFill>
                <a:latin typeface="Times New Roman" panose="02020603050405020304" pitchFamily="18" charset="0"/>
                <a:cs typeface="Times New Roman" panose="02020603050405020304" pitchFamily="18" charset="0"/>
              </a:rPr>
            </a:br>
            <a:r>
              <a:rPr lang="en-IN" sz="2400" dirty="0">
                <a:latin typeface="Times New Roman" panose="02020603050405020304" pitchFamily="18" charset="0"/>
                <a:cs typeface="Times New Roman" panose="02020603050405020304" pitchFamily="18" charset="0"/>
              </a:rPr>
              <a:t>Available:</a:t>
            </a:r>
            <a:r>
              <a:rPr lang="en-IN" sz="2400" u="sng" dirty="0">
                <a:latin typeface="Times New Roman" panose="02020603050405020304" pitchFamily="18" charset="0"/>
                <a:cs typeface="Times New Roman" panose="02020603050405020304" pitchFamily="18" charset="0"/>
                <a:hlinkClick r:id="rId3"/>
              </a:rPr>
              <a:t>https://www.ijert.org/smart-compost-guardian-an-iot-based-real-time-compost-monitoring-and-alert-system</a:t>
            </a:r>
            <a:endParaRPr lang="en-IN" sz="2400" dirty="0">
              <a:latin typeface="Times New Roman" panose="02020603050405020304" pitchFamily="18" charset="0"/>
              <a:cs typeface="Times New Roman" panose="02020603050405020304" pitchFamily="18" charset="0"/>
            </a:endParaRPr>
          </a:p>
          <a:p>
            <a:endParaRPr lang="en-IN" dirty="0"/>
          </a:p>
        </p:txBody>
      </p:sp>
      <p:sp>
        <p:nvSpPr>
          <p:cNvPr id="4" name="Date Placeholder 3">
            <a:extLst>
              <a:ext uri="{FF2B5EF4-FFF2-40B4-BE49-F238E27FC236}">
                <a16:creationId xmlns:a16="http://schemas.microsoft.com/office/drawing/2014/main" id="{B163FA73-9294-4DE0-9F6C-0EA580FA6FF9}"/>
              </a:ext>
            </a:extLst>
          </p:cNvPr>
          <p:cNvSpPr>
            <a:spLocks noGrp="1"/>
          </p:cNvSpPr>
          <p:nvPr>
            <p:ph type="dt" idx="10"/>
          </p:nvPr>
        </p:nvSpPr>
        <p:spPr/>
        <p:txBody>
          <a:bodyPr/>
          <a:lstStyle/>
          <a:p>
            <a:r>
              <a:rPr lang="en-US" dirty="0"/>
              <a:t>03/12/2025</a:t>
            </a:r>
          </a:p>
        </p:txBody>
      </p:sp>
      <p:sp>
        <p:nvSpPr>
          <p:cNvPr id="5" name="Slide Number Placeholder 4">
            <a:extLst>
              <a:ext uri="{FF2B5EF4-FFF2-40B4-BE49-F238E27FC236}">
                <a16:creationId xmlns:a16="http://schemas.microsoft.com/office/drawing/2014/main" id="{1362959A-D3D1-6FF4-4C1A-E6E127BB50A8}"/>
              </a:ext>
            </a:extLst>
          </p:cNvPr>
          <p:cNvSpPr>
            <a:spLocks noGrp="1"/>
          </p:cNvSpPr>
          <p:nvPr>
            <p:ph type="sldNum" idx="12"/>
          </p:nvPr>
        </p:nvSpPr>
        <p:spPr/>
        <p:txBody>
          <a:bodyPr/>
          <a:lstStyle/>
          <a:p>
            <a:fld id="{00000000-1234-1234-1234-123412341234}" type="slidenum">
              <a:rPr lang="en-US" smtClean="0"/>
              <a:pPr/>
              <a:t>27</a:t>
            </a:fld>
            <a:endParaRPr lang="en-US"/>
          </a:p>
        </p:txBody>
      </p:sp>
    </p:spTree>
    <p:extLst>
      <p:ext uri="{BB962C8B-B14F-4D97-AF65-F5344CB8AC3E}">
        <p14:creationId xmlns:p14="http://schemas.microsoft.com/office/powerpoint/2010/main" val="170120444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3356977" y="2668048"/>
            <a:ext cx="5799551" cy="1565753"/>
          </a:xfrm>
        </p:spPr>
        <p:txBody>
          <a:bodyPr>
            <a:normAutofit/>
          </a:bodyPr>
          <a:lstStyle/>
          <a:p>
            <a:pPr marL="0" indent="0" algn="ctr">
              <a:buNone/>
            </a:pPr>
            <a:r>
              <a:rPr lang="en-US" sz="6400" b="1" dirty="0">
                <a:latin typeface="Times New Roman" panose="02020603050405020304" pitchFamily="18" charset="0"/>
                <a:cs typeface="Times New Roman" panose="02020603050405020304" pitchFamily="18" charset="0"/>
              </a:rPr>
              <a:t>TH</a:t>
            </a:r>
            <a:r>
              <a:rPr lang="en-US" sz="6400" b="1" dirty="0">
                <a:latin typeface="Times New Roman" panose="02020603050405020304" pitchFamily="18" charset="0"/>
                <a:ea typeface="Open Sans" panose="020B0606030504020204" pitchFamily="34" charset="0"/>
                <a:cs typeface="Times New Roman" panose="02020603050405020304" pitchFamily="18" charset="0"/>
              </a:rPr>
              <a:t>ANK</a:t>
            </a:r>
            <a:r>
              <a:rPr lang="en-US" sz="6400" b="1" dirty="0">
                <a:latin typeface="Times New Roman" panose="02020603050405020304" pitchFamily="18" charset="0"/>
                <a:cs typeface="Times New Roman" panose="02020603050405020304" pitchFamily="18" charset="0"/>
              </a:rPr>
              <a:t> YOU</a:t>
            </a:r>
            <a:endParaRPr lang="en-GB" sz="6400" b="1" dirty="0">
              <a:latin typeface="Times New Roman" panose="02020603050405020304" pitchFamily="18" charset="0"/>
              <a:cs typeface="Times New Roman" panose="02020603050405020304" pitchFamily="18" charset="0"/>
            </a:endParaRPr>
          </a:p>
        </p:txBody>
      </p:sp>
      <p:sp>
        <p:nvSpPr>
          <p:cNvPr id="10" name="Date Placeholder 9"/>
          <p:cNvSpPr>
            <a:spLocks noGrp="1"/>
          </p:cNvSpPr>
          <p:nvPr>
            <p:ph type="dt" idx="10"/>
          </p:nvPr>
        </p:nvSpPr>
        <p:spPr/>
        <p:txBody>
          <a:bodyPr/>
          <a:lstStyle/>
          <a:p>
            <a:r>
              <a:rPr lang="en-US" dirty="0"/>
              <a:t>03/12/2025</a:t>
            </a:r>
          </a:p>
        </p:txBody>
      </p:sp>
      <p:sp>
        <p:nvSpPr>
          <p:cNvPr id="9" name="Slide Number Placeholder 8"/>
          <p:cNvSpPr>
            <a:spLocks noGrp="1"/>
          </p:cNvSpPr>
          <p:nvPr>
            <p:ph type="sldNum" idx="12"/>
          </p:nvPr>
        </p:nvSpPr>
        <p:spPr/>
        <p:txBody>
          <a:bodyPr/>
          <a:lstStyle/>
          <a:p>
            <a:fld id="{00000000-1234-1234-1234-123412341234}" type="slidenum">
              <a:rPr lang="en-US" smtClean="0"/>
              <a:pPr/>
              <a:t>28</a:t>
            </a:fld>
            <a:endParaRPr lang="en-US"/>
          </a:p>
        </p:txBody>
      </p:sp>
    </p:spTree>
    <p:extLst>
      <p:ext uri="{BB962C8B-B14F-4D97-AF65-F5344CB8AC3E}">
        <p14:creationId xmlns:p14="http://schemas.microsoft.com/office/powerpoint/2010/main" val="1925129427"/>
      </p:ext>
    </p:extLst>
  </p:cSld>
  <p:clrMapOvr>
    <a:masterClrMapping/>
  </p:clrMapOvr>
  <p:transition spd="slow">
    <p:wipe/>
  </p:transition>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16512</TotalTime>
  <Words>2598</Words>
  <Application>Microsoft Office PowerPoint</Application>
  <PresentationFormat>Custom</PresentationFormat>
  <Paragraphs>308</Paragraphs>
  <Slides>28</Slides>
  <Notes>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28</vt:i4>
      </vt:variant>
    </vt:vector>
  </HeadingPairs>
  <TitlesOfParts>
    <vt:vector size="34" baseType="lpstr">
      <vt:lpstr>Calibri</vt:lpstr>
      <vt:lpstr>Arial</vt:lpstr>
      <vt:lpstr>Roboto</vt:lpstr>
      <vt:lpstr>Open Sans</vt:lpstr>
      <vt:lpstr>Times New Roman</vt:lpstr>
      <vt:lpstr>Office Theme</vt:lpstr>
      <vt:lpstr>                        Shri Madhwa Vadiraja Institute of Technology                             and Management, Bantakal                           AUTOMATIC COMPOST BIN                      PRESENTED BY:                                                Pratiksha :4MW23EC038                                                        Nishmitha:4MW23EC039                                                        Prerana    :4MW23EC051  UNDER THE GUIDANCE OF - Mr. Ganesh Shetty UNDER THE EVALUATION OF - Mr. Sachin Prabhu Date :03/12/2025                  </vt:lpstr>
      <vt:lpstr>OUTLINE</vt:lpstr>
      <vt:lpstr>ABSTRACT</vt:lpstr>
      <vt:lpstr>INTRODUCTION</vt:lpstr>
      <vt:lpstr>LITERATURE REVIEW</vt:lpstr>
      <vt:lpstr>LITERATURE REVIEW</vt:lpstr>
      <vt:lpstr>LITERATURE REVIEW</vt:lpstr>
      <vt:lpstr>LITERATURE REVIEW</vt:lpstr>
      <vt:lpstr>LITERATURE REVIEW</vt:lpstr>
      <vt:lpstr>LITERATURE REVIEW</vt:lpstr>
      <vt:lpstr>LITERATURE REVIEW</vt:lpstr>
      <vt:lpstr>LITERATURE REVIEW</vt:lpstr>
      <vt:lpstr>LITERATURE REVIEW</vt:lpstr>
      <vt:lpstr>LITERATURE REVIEW</vt:lpstr>
      <vt:lpstr>PROBLEM STATEMENT </vt:lpstr>
      <vt:lpstr>OBJECTIVES</vt:lpstr>
      <vt:lpstr>PROPOSED METHODOLOGY </vt:lpstr>
      <vt:lpstr>PROPOSED METHODOLOGY </vt:lpstr>
      <vt:lpstr>THE EXPECTED OUTCOME</vt:lpstr>
      <vt:lpstr>OUTCOMES</vt:lpstr>
      <vt:lpstr>BUDGET ANALYSIS REPORT / RESOURCES</vt:lpstr>
      <vt:lpstr>CONCLUSION/FUTURE SCOPE</vt:lpstr>
      <vt:lpstr>REFERENCES</vt:lpstr>
      <vt:lpstr>REFERENCES</vt:lpstr>
      <vt:lpstr>REFERENCES</vt:lpstr>
      <vt:lpstr>REFERENCES</vt:lpstr>
      <vt:lpstr>REFERENCES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Regional Ecosystem for Technical Excellence (RETE)  Super 30   29 May 2023</dc:title>
  <dc:creator>user</dc:creator>
  <cp:lastModifiedBy>Nishmitha ..</cp:lastModifiedBy>
  <cp:revision>516</cp:revision>
  <dcterms:created xsi:type="dcterms:W3CDTF">2020-10-21T17:39:34Z</dcterms:created>
  <dcterms:modified xsi:type="dcterms:W3CDTF">2025-12-03T02:14:00Z</dcterms:modified>
</cp:coreProperties>
</file>